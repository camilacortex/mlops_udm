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61520" cy="6858000"/>
  <p:notesSz cx="6858000" cy="1216152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D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028090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4206240"/>
            <a:ext cx="3840480" cy="3840480"/>
          </a:xfrm>
          <a:prstGeom prst="ellipse">
            <a:avLst/>
          </a:prstGeom>
          <a:solidFill>
            <a:srgbClr val="02C39A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429768"/>
            <a:ext cx="1197864" cy="1197864"/>
          </a:xfrm>
          <a:prstGeom prst="roundRect">
            <a:avLst>
              <a:gd name="adj" fmla="val 1068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0000"/>
              </a:srgbClr>
            </a:outerShdw>
          </a:effectLst>
        </p:spPr>
      </p:sp>
      <p:pic>
        <p:nvPicPr>
          <p:cNvPr id="5" name="Image 0" descr="ude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02920"/>
            <a:ext cx="1051560" cy="10515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25146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DE MLOPS  ·  VERSIONADO Y RELEASES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94360" y="2880360"/>
            <a:ext cx="107899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54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Semantic Versioning:</a:t>
            </a:r>
            <a:endParaRPr lang="en-US" sz="4800" dirty="0"/>
          </a:p>
          <a:p>
            <a:pPr indent="0" marL="0">
              <a:lnSpc>
                <a:spcPts val="54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¿rompiste algo o no?</a:t>
            </a:r>
            <a:endParaRPr lang="en-US" sz="48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50749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4F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casos reales. Tu equipo decide: MAJOR, MINOR o PATCH. Las respuestas vienen en la siguiente presentacion.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62636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 de Medellín  ·  Especialización en Analítica e Inteligencia Artificial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12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GANCHO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"v1.0.1: arreglando cositas"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 rot="-120000">
            <a:off x="594360" y="1737360"/>
            <a:ext cx="5212080" cy="4206240"/>
          </a:xfrm>
          <a:prstGeom prst="roundRect">
            <a:avLst>
              <a:gd name="adj" fmla="val 3043"/>
            </a:avLst>
          </a:prstGeom>
          <a:solidFill>
            <a:srgbClr val="EFF7F6"/>
          </a:solidFill>
          <a:ln w="15875">
            <a:solidFill>
              <a:srgbClr val="CFE3E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 rot="-120000">
            <a:off x="868680" y="196596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DICE EL COMMIT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 rot="-120000">
            <a:off x="868680" y="2468880"/>
            <a:ext cx="4663440" cy="1005840"/>
          </a:xfrm>
          <a:prstGeom prst="roundRect">
            <a:avLst>
              <a:gd name="adj" fmla="val 7273"/>
            </a:avLst>
          </a:prstGeom>
          <a:solidFill>
            <a:srgbClr val="1B2B2E"/>
          </a:solidFill>
          <a:ln/>
        </p:spPr>
      </p:sp>
      <p:sp>
        <p:nvSpPr>
          <p:cNvPr id="7" name="Text 5"/>
          <p:cNvSpPr txBox="1"/>
          <p:nvPr/>
        </p:nvSpPr>
        <p:spPr>
          <a:xfrm rot="-120000">
            <a:off x="1051560" y="2697480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commit -m "fix"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 rot="-120000">
            <a:off x="868680" y="370332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version: 1.0.0 -&gt; 1.0.1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 rot="-120000">
            <a:off x="868680" y="4297680"/>
            <a:ext cx="4663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"Solo fue un fix, no pasa nada"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 rot="120000">
            <a:off x="6309360" y="1737360"/>
            <a:ext cx="5257800" cy="4206240"/>
          </a:xfrm>
          <a:prstGeom prst="roundRect">
            <a:avLst>
              <a:gd name="adj" fmla="val 3043"/>
            </a:avLst>
          </a:prstGeom>
          <a:solidFill>
            <a:srgbClr val="FDECEE"/>
          </a:solidFill>
          <a:ln w="19050">
            <a:solidFill>
              <a:srgbClr val="D7263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 rot="120000">
            <a:off x="6583680" y="196596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D7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EN VERDAD PASÓ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 rot="120000">
            <a:off x="6583680" y="2468880"/>
            <a:ext cx="4709160" cy="1417320"/>
          </a:xfrm>
          <a:prstGeom prst="roundRect">
            <a:avLst>
              <a:gd name="adj" fmla="val 5161"/>
            </a:avLst>
          </a:prstGeom>
          <a:solidFill>
            <a:srgbClr val="1B2B2E"/>
          </a:solidFill>
          <a:ln/>
        </p:spPr>
      </p:sp>
      <p:sp>
        <p:nvSpPr>
          <p:cNvPr id="13" name="Text 11"/>
          <p:cNvSpPr txBox="1"/>
          <p:nvPr/>
        </p:nvSpPr>
        <p:spPr>
          <a:xfrm rot="120000">
            <a:off x="6766560" y="2606040"/>
            <a:ext cx="43434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726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def predecir(datos, umbral=0.5):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726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def predecir(datos, umbral=0.8):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 rot="120000">
            <a:off x="6583680" y="4114800"/>
            <a:ext cx="4709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Cambiaste el comportamiento por defecto de la función.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 rot="120000">
            <a:off x="6583680" y="4709160"/>
            <a:ext cx="4709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el que la usaba sin pasar 'umbral' ahora obtiene resultados distintos. Eso rompe cosas.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594360" y="61722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número de versión no es decorativo: es una promesa a quien usa tu código.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CONCEPTO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Tres números, una promesa: MAJOR.MINOR.PATCH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Versioning (semver) es una convención: el número de versión le dice a quien usa tu librería, sin leer una línea de código, qué tan peligroso es actualizar.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548640" y="2423160"/>
            <a:ext cx="3520440" cy="3566160"/>
          </a:xfrm>
          <a:prstGeom prst="roundRect">
            <a:avLst>
              <a:gd name="adj" fmla="val 3636"/>
            </a:avLst>
          </a:prstGeom>
          <a:solidFill>
            <a:srgbClr val="0B3D4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2606040"/>
            <a:ext cx="31546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800" b="1" dirty="0">
                <a:solidFill>
                  <a:srgbClr val="D726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68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79476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4343400"/>
            <a:ext cx="288036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4F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Cambios que rompen compatibilidad. Actualizar puede tronar tu código.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297680" y="2423160"/>
            <a:ext cx="3520440" cy="3566160"/>
          </a:xfrm>
          <a:prstGeom prst="roundRect">
            <a:avLst>
              <a:gd name="adj" fmla="val 3636"/>
            </a:avLst>
          </a:prstGeom>
          <a:solidFill>
            <a:srgbClr val="0B3D4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480560" y="2606040"/>
            <a:ext cx="31546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8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6800" dirty="0"/>
          </a:p>
        </p:txBody>
      </p:sp>
      <p:sp>
        <p:nvSpPr>
          <p:cNvPr id="11" name="Text 9"/>
          <p:cNvSpPr txBox="1"/>
          <p:nvPr/>
        </p:nvSpPr>
        <p:spPr>
          <a:xfrm>
            <a:off x="4480560" y="379476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MINOR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4617720" y="4343400"/>
            <a:ext cx="288036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4F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Funcionalidad nueva, compatible con lo anterior. Debería ser seguro actualizar.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046720" y="2423160"/>
            <a:ext cx="3520440" cy="3566160"/>
          </a:xfrm>
          <a:prstGeom prst="roundRect">
            <a:avLst>
              <a:gd name="adj" fmla="val 3636"/>
            </a:avLst>
          </a:prstGeom>
          <a:solidFill>
            <a:srgbClr val="0B3D4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229600" y="2606040"/>
            <a:ext cx="31546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8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68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0" y="379476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8366760" y="4343400"/>
            <a:ext cx="288036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4F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Correcciones de bugs, sin cambiar la interfaz. Siempre seguro actualizar.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61722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real: pandas pasó de 1.5.3 a 2.0.0 (MAJOR) cuando cambió el manejo interno de índices y rompió código existente.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REGLAS DE ORO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Una sola pregunta decide todo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i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¿Alguien que use tu código tal como está hoy, se rompe si actualiza?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7772400" cy="1325880"/>
          </a:xfrm>
          <a:prstGeom prst="roundRect">
            <a:avLst>
              <a:gd name="adj" fmla="val 8276"/>
            </a:avLst>
          </a:prstGeom>
          <a:solidFill>
            <a:srgbClr val="EFF7F6"/>
          </a:solidFill>
          <a:ln w="22225">
            <a:solidFill>
              <a:srgbClr val="02C39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2491740"/>
            <a:ext cx="640080" cy="64008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24917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1600200" y="2286000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cambia nada observable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600200" y="2770632"/>
            <a:ext cx="4480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Corregiste un bug, mejoraste performance interna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355080" y="2464308"/>
            <a:ext cx="1234440" cy="694944"/>
          </a:xfrm>
          <a:prstGeom prst="roundRect">
            <a:avLst>
              <a:gd name="adj" fmla="val 10526"/>
            </a:avLst>
          </a:prstGeom>
          <a:solidFill>
            <a:srgbClr val="02C39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355080" y="2464308"/>
            <a:ext cx="123444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PATCH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3611880"/>
            <a:ext cx="8961120" cy="1325880"/>
          </a:xfrm>
          <a:prstGeom prst="roundRect">
            <a:avLst>
              <a:gd name="adj" fmla="val 8276"/>
            </a:avLst>
          </a:prstGeom>
          <a:solidFill>
            <a:srgbClr val="EFF7F6"/>
          </a:solidFill>
          <a:ln w="22225">
            <a:solidFill>
              <a:srgbClr val="02809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" y="395478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77240" y="39547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1600200" y="3749040"/>
            <a:ext cx="5669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 agrega algo nuevo, sin tocar lo viejo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600200" y="4233672"/>
            <a:ext cx="5669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Nuevo parámetro opcional, nueva función, nuevo endpoint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543800" y="3927348"/>
            <a:ext cx="1234440" cy="694944"/>
          </a:xfrm>
          <a:prstGeom prst="roundRect">
            <a:avLst>
              <a:gd name="adj" fmla="val 10526"/>
            </a:avLst>
          </a:prstGeom>
          <a:solidFill>
            <a:srgbClr val="028090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543800" y="3927348"/>
            <a:ext cx="123444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MINOR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48640" y="5074920"/>
            <a:ext cx="10149840" cy="1325880"/>
          </a:xfrm>
          <a:prstGeom prst="roundRect">
            <a:avLst>
              <a:gd name="adj" fmla="val 8276"/>
            </a:avLst>
          </a:prstGeom>
          <a:solidFill>
            <a:srgbClr val="EFF7F6"/>
          </a:solidFill>
          <a:ln w="22225">
            <a:solidFill>
              <a:srgbClr val="D7263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5417820"/>
            <a:ext cx="640080" cy="640080"/>
          </a:xfrm>
          <a:prstGeom prst="ellipse">
            <a:avLst/>
          </a:prstGeom>
          <a:solidFill>
            <a:srgbClr val="D7263D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77240" y="54178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1600200" y="521208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 cambia o elimina algo que ya existía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1600200" y="5696712"/>
            <a:ext cx="6858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Quitaste una función, cambiaste un default, cambiaste un tipo de retorno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8732520" y="5390388"/>
            <a:ext cx="1234440" cy="694944"/>
          </a:xfrm>
          <a:prstGeom prst="roundRect">
            <a:avLst>
              <a:gd name="adj" fmla="val 10526"/>
            </a:avLst>
          </a:prstGeom>
          <a:solidFill>
            <a:srgbClr val="D7263D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732520" y="5390388"/>
            <a:ext cx="123444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MAJOR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12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3D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EJERCICIO DE EQUIPO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juego: adivina la versión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777240" cy="777240"/>
          </a:xfrm>
          <a:prstGeom prst="roundRect">
            <a:avLst>
              <a:gd name="adj" fmla="val 49412"/>
            </a:avLst>
          </a:prstGeom>
          <a:solidFill>
            <a:srgbClr val="02809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92024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1691640" y="1901952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Formen equipos de 2-3 personas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691640" y="2304288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4F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sala de Zoom es un equipo.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" y="2971800"/>
            <a:ext cx="777240" cy="777240"/>
          </a:xfrm>
          <a:prstGeom prst="roundRect">
            <a:avLst>
              <a:gd name="adj" fmla="val 49412"/>
            </a:avLst>
          </a:prstGeom>
          <a:solidFill>
            <a:srgbClr val="02809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297180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1691640" y="2953512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Revisen los 6 casos, uno por uno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1691640" y="3355848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4F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caso describe un cambio real en un proyecto.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4023360"/>
            <a:ext cx="777240" cy="777240"/>
          </a:xfrm>
          <a:prstGeom prst="roundRect">
            <a:avLst>
              <a:gd name="adj" fmla="val 49412"/>
            </a:avLst>
          </a:prstGeom>
          <a:solidFill>
            <a:srgbClr val="02809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402336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1691640" y="4005072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Voten: MAJOR, MINOR o PATCH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1691640" y="4407408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4F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Discutan brevemente si no están de acuerdo entre ustedes.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40080" y="5074920"/>
            <a:ext cx="777240" cy="777240"/>
          </a:xfrm>
          <a:prstGeom prst="roundRect">
            <a:avLst>
              <a:gd name="adj" fmla="val 49412"/>
            </a:avLst>
          </a:prstGeom>
          <a:solidFill>
            <a:srgbClr val="02809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" y="507492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18" name="Text 16"/>
          <p:cNvSpPr txBox="1"/>
          <p:nvPr/>
        </p:nvSpPr>
        <p:spPr>
          <a:xfrm>
            <a:off x="1691640" y="5056632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Anoten su respuesta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1691640" y="5458968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4F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necesitarán para comparar con la siguiente presentación.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40080" y="6080760"/>
            <a:ext cx="10881360" cy="594360"/>
          </a:xfrm>
          <a:prstGeom prst="roundRect">
            <a:avLst>
              <a:gd name="adj" fmla="val 15385"/>
            </a:avLst>
          </a:prstGeom>
          <a:solidFill>
            <a:srgbClr val="02C39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0080" y="6080760"/>
            <a:ext cx="10881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3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Tiempo sugerido: 10-12 minutos para los 6 casos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12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1 DE 6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Elimina una función "vieja" marcada como deprecated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11064240" cy="1600200"/>
          </a:xfrm>
          <a:prstGeom prst="roundRect">
            <a:avLst>
              <a:gd name="adj" fmla="val 6857"/>
            </a:avLst>
          </a:prstGeom>
          <a:solidFill>
            <a:srgbClr val="1B2B2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2103120"/>
            <a:ext cx="105156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Llevaba 2 versiones marcada @deprecated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def calcular_metricas_viejas(df):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    ...</a:t>
            </a:r>
            <a:endParaRPr lang="en-US" sz="1550" dirty="0"/>
          </a:p>
          <a:p>
            <a:pPr indent="0" marL="0">
              <a:buNone/>
            </a:pP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En esta versión, se elimina por completo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65760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Nadie debería estar usándola ya... pero, ¿y si alguien no actualizó su código?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4348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¿MAJOR, MINOR o PATCH?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914400" y="5166360"/>
            <a:ext cx="3200400" cy="1051560"/>
          </a:xfrm>
          <a:prstGeom prst="roundRect">
            <a:avLst>
              <a:gd name="adj" fmla="val 10435"/>
            </a:avLst>
          </a:prstGeom>
          <a:solidFill>
            <a:srgbClr val="EFF7F6"/>
          </a:solidFill>
          <a:ln w="25400">
            <a:solidFill>
              <a:srgbClr val="D7263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4400" y="5166360"/>
            <a:ext cx="32004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726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MAJOR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4480560" y="5166360"/>
            <a:ext cx="3200400" cy="1051560"/>
          </a:xfrm>
          <a:prstGeom prst="roundRect">
            <a:avLst>
              <a:gd name="adj" fmla="val 10435"/>
            </a:avLst>
          </a:prstGeom>
          <a:solidFill>
            <a:srgbClr val="EFF7F6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480560" y="5166360"/>
            <a:ext cx="32004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MINOR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8046720" y="5166360"/>
            <a:ext cx="3200400" cy="1051560"/>
          </a:xfrm>
          <a:prstGeom prst="roundRect">
            <a:avLst>
              <a:gd name="adj" fmla="val 10435"/>
            </a:avLst>
          </a:prstGeom>
          <a:solidFill>
            <a:srgbClr val="EFF7F6"/>
          </a:solidFill>
          <a:ln w="25400">
            <a:solidFill>
              <a:srgbClr val="02C39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046720" y="5166360"/>
            <a:ext cx="32004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PATCH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12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2 DE 6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Agrega un parámetro opcional nuevo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11064240" cy="1600200"/>
          </a:xfrm>
          <a:prstGeom prst="roundRect">
            <a:avLst>
              <a:gd name="adj" fmla="val 6857"/>
            </a:avLst>
          </a:prstGeom>
          <a:solidFill>
            <a:srgbClr val="1B2B2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2103120"/>
            <a:ext cx="105156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def predecir(datos, umbral=0.5):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    def predecir(datos, umbral=0.5, verbose=False):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...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65760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Quien no pase 'verbose' sigue obteniendo exactamente el mismo resultado de siempre.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4348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¿MAJOR, MINOR o PATCH?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914400" y="5166360"/>
            <a:ext cx="3200400" cy="1051560"/>
          </a:xfrm>
          <a:prstGeom prst="roundRect">
            <a:avLst>
              <a:gd name="adj" fmla="val 10435"/>
            </a:avLst>
          </a:prstGeom>
          <a:solidFill>
            <a:srgbClr val="EFF7F6"/>
          </a:solidFill>
          <a:ln w="25400">
            <a:solidFill>
              <a:srgbClr val="D7263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4400" y="5166360"/>
            <a:ext cx="32004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726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MAJOR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4480560" y="5166360"/>
            <a:ext cx="3200400" cy="1051560"/>
          </a:xfrm>
          <a:prstGeom prst="roundRect">
            <a:avLst>
              <a:gd name="adj" fmla="val 10435"/>
            </a:avLst>
          </a:prstGeom>
          <a:solidFill>
            <a:srgbClr val="EFF7F6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480560" y="5166360"/>
            <a:ext cx="32004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MINOR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8046720" y="5166360"/>
            <a:ext cx="3200400" cy="1051560"/>
          </a:xfrm>
          <a:prstGeom prst="roundRect">
            <a:avLst>
              <a:gd name="adj" fmla="val 10435"/>
            </a:avLst>
          </a:prstGeom>
          <a:solidFill>
            <a:srgbClr val="EFF7F6"/>
          </a:solidFill>
          <a:ln w="25400">
            <a:solidFill>
              <a:srgbClr val="02C39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046720" y="5166360"/>
            <a:ext cx="32004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PATCH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12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3 DE 6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Corrige un error de tipeo en un mensaje de log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11064240" cy="1600200"/>
          </a:xfrm>
          <a:prstGeom prst="roundRect">
            <a:avLst>
              <a:gd name="adj" fmla="val 6857"/>
            </a:avLst>
          </a:prstGeom>
          <a:solidFill>
            <a:srgbClr val="1B2B2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2103120"/>
            <a:ext cx="105156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logger.info("Modeo entrenado correctamente")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logger.info("Modelo entrenado correctamente")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65760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cambia ninguna interfaz, ningún parámetro, ningún resultado.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4348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¿MAJOR, MINOR o PATCH?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914400" y="5166360"/>
            <a:ext cx="3200400" cy="1051560"/>
          </a:xfrm>
          <a:prstGeom prst="roundRect">
            <a:avLst>
              <a:gd name="adj" fmla="val 10435"/>
            </a:avLst>
          </a:prstGeom>
          <a:solidFill>
            <a:srgbClr val="EFF7F6"/>
          </a:solidFill>
          <a:ln w="25400">
            <a:solidFill>
              <a:srgbClr val="D7263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4400" y="5166360"/>
            <a:ext cx="32004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726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MAJOR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4480560" y="5166360"/>
            <a:ext cx="3200400" cy="1051560"/>
          </a:xfrm>
          <a:prstGeom prst="roundRect">
            <a:avLst>
              <a:gd name="adj" fmla="val 10435"/>
            </a:avLst>
          </a:prstGeom>
          <a:solidFill>
            <a:srgbClr val="EFF7F6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480560" y="5166360"/>
            <a:ext cx="32004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MINOR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8046720" y="5166360"/>
            <a:ext cx="3200400" cy="1051560"/>
          </a:xfrm>
          <a:prstGeom prst="roundRect">
            <a:avLst>
              <a:gd name="adj" fmla="val 10435"/>
            </a:avLst>
          </a:prstGeom>
          <a:solidFill>
            <a:srgbClr val="EFF7F6"/>
          </a:solidFill>
          <a:ln w="25400">
            <a:solidFill>
              <a:srgbClr val="02C39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046720" y="5166360"/>
            <a:ext cx="32004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PATCH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12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4 DE 6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Cambia el valor por defecto de un parámetro existente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11064240" cy="1600200"/>
          </a:xfrm>
          <a:prstGeom prst="roundRect">
            <a:avLst>
              <a:gd name="adj" fmla="val 6857"/>
            </a:avLst>
          </a:prstGeom>
          <a:solidFill>
            <a:srgbClr val="1B2B2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2103120"/>
            <a:ext cx="105156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def train_test_split(X, y, test_size=0.2):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    def train_test_split(X, y, test_size=0.3):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...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65760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nombre del parámetro no cambió... pero el comportamiento por defecto sí.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4348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¿MAJOR, MINOR o PATCH?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914400" y="5166360"/>
            <a:ext cx="3200400" cy="1051560"/>
          </a:xfrm>
          <a:prstGeom prst="roundRect">
            <a:avLst>
              <a:gd name="adj" fmla="val 10435"/>
            </a:avLst>
          </a:prstGeom>
          <a:solidFill>
            <a:srgbClr val="EFF7F6"/>
          </a:solidFill>
          <a:ln w="25400">
            <a:solidFill>
              <a:srgbClr val="D7263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4400" y="5166360"/>
            <a:ext cx="32004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726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MAJOR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4480560" y="5166360"/>
            <a:ext cx="3200400" cy="1051560"/>
          </a:xfrm>
          <a:prstGeom prst="roundRect">
            <a:avLst>
              <a:gd name="adj" fmla="val 10435"/>
            </a:avLst>
          </a:prstGeom>
          <a:solidFill>
            <a:srgbClr val="EFF7F6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480560" y="5166360"/>
            <a:ext cx="32004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MINOR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8046720" y="5166360"/>
            <a:ext cx="3200400" cy="1051560"/>
          </a:xfrm>
          <a:prstGeom prst="roundRect">
            <a:avLst>
              <a:gd name="adj" fmla="val 10435"/>
            </a:avLst>
          </a:prstGeom>
          <a:solidFill>
            <a:srgbClr val="EFF7F6"/>
          </a:solidFill>
          <a:ln w="25400">
            <a:solidFill>
              <a:srgbClr val="02C39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046720" y="5166360"/>
            <a:ext cx="32004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PATCH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12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5 DE 6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Reescribe el algoritmo interno de una función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11064240" cy="1600200"/>
          </a:xfrm>
          <a:prstGeom prst="roundRect">
            <a:avLst>
              <a:gd name="adj" fmla="val 6857"/>
            </a:avLst>
          </a:prstGeom>
          <a:solidFill>
            <a:srgbClr val="1B2B2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2103120"/>
            <a:ext cx="105156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Misma firma, mismo resultado, el doble de rápido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def calcular_distancias(puntos):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    # implementacion O(n^2)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    # implementacion vectorizada, O(n log n)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65760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Misma entrada, misma salida. Solo cambia lo que pasa "por dentro".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4348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¿MAJOR, MINOR o PATCH?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914400" y="5166360"/>
            <a:ext cx="3200400" cy="1051560"/>
          </a:xfrm>
          <a:prstGeom prst="roundRect">
            <a:avLst>
              <a:gd name="adj" fmla="val 10435"/>
            </a:avLst>
          </a:prstGeom>
          <a:solidFill>
            <a:srgbClr val="EFF7F6"/>
          </a:solidFill>
          <a:ln w="25400">
            <a:solidFill>
              <a:srgbClr val="D7263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4400" y="5166360"/>
            <a:ext cx="32004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726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MAJOR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4480560" y="5166360"/>
            <a:ext cx="3200400" cy="1051560"/>
          </a:xfrm>
          <a:prstGeom prst="roundRect">
            <a:avLst>
              <a:gd name="adj" fmla="val 10435"/>
            </a:avLst>
          </a:prstGeom>
          <a:solidFill>
            <a:srgbClr val="EFF7F6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480560" y="5166360"/>
            <a:ext cx="32004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MINOR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8046720" y="5166360"/>
            <a:ext cx="3200400" cy="1051560"/>
          </a:xfrm>
          <a:prstGeom prst="roundRect">
            <a:avLst>
              <a:gd name="adj" fmla="val 10435"/>
            </a:avLst>
          </a:prstGeom>
          <a:solidFill>
            <a:srgbClr val="EFF7F6"/>
          </a:solidFill>
          <a:ln w="25400">
            <a:solidFill>
              <a:srgbClr val="02C39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046720" y="5166360"/>
            <a:ext cx="32004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PATCH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6 DE 6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Agrega un endpoint nuevo a la API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11064240" cy="1600200"/>
          </a:xfrm>
          <a:prstGeom prst="roundRect">
            <a:avLst>
              <a:gd name="adj" fmla="val 6857"/>
            </a:avLst>
          </a:prstGeom>
          <a:solidFill>
            <a:srgbClr val="1B2B2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2103120"/>
            <a:ext cx="105156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POST /v1/predict         (sigue funcionando igual)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POST /v2/predict         (nuevo, formato de respuesta distinto)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65760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Nadie que use /v1/predict se entera de que existe /v2/predict.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4348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¿MAJOR, MINOR o PATCH?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914400" y="5166360"/>
            <a:ext cx="3200400" cy="1051560"/>
          </a:xfrm>
          <a:prstGeom prst="roundRect">
            <a:avLst>
              <a:gd name="adj" fmla="val 10435"/>
            </a:avLst>
          </a:prstGeom>
          <a:solidFill>
            <a:srgbClr val="EFF7F6"/>
          </a:solidFill>
          <a:ln w="25400">
            <a:solidFill>
              <a:srgbClr val="D7263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4400" y="5166360"/>
            <a:ext cx="32004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726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MAJOR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4480560" y="5166360"/>
            <a:ext cx="3200400" cy="1051560"/>
          </a:xfrm>
          <a:prstGeom prst="roundRect">
            <a:avLst>
              <a:gd name="adj" fmla="val 10435"/>
            </a:avLst>
          </a:prstGeom>
          <a:solidFill>
            <a:srgbClr val="EFF7F6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480560" y="5166360"/>
            <a:ext cx="32004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MINOR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8046720" y="5166360"/>
            <a:ext cx="3200400" cy="1051560"/>
          </a:xfrm>
          <a:prstGeom prst="roundRect">
            <a:avLst>
              <a:gd name="adj" fmla="val 10435"/>
            </a:avLst>
          </a:prstGeom>
          <a:solidFill>
            <a:srgbClr val="EFF7F6"/>
          </a:solidFill>
          <a:ln w="25400">
            <a:solidFill>
              <a:srgbClr val="02C39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046720" y="5166360"/>
            <a:ext cx="32004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PATCH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3D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286000"/>
            <a:ext cx="5486400" cy="5486400"/>
          </a:xfrm>
          <a:prstGeom prst="ellipse">
            <a:avLst/>
          </a:prstGeom>
          <a:solidFill>
            <a:srgbClr val="028090">
              <a:alpha val="45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16459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SEGUIR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Comparen sus 6 respuestas en equipo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210312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4F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terminen de votar los 6 casos, avisen. La siguiente presentación trae las respuestas explicadas, una por una.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94360" y="3291840"/>
            <a:ext cx="10515600" cy="2194560"/>
          </a:xfrm>
          <a:prstGeom prst="roundRect">
            <a:avLst>
              <a:gd name="adj" fmla="val 5833"/>
            </a:avLst>
          </a:prstGeom>
          <a:solidFill>
            <a:srgbClr val="028090">
              <a:alpha val="85000"/>
            </a:srgbClr>
          </a:solidFill>
          <a:ln w="19050">
            <a:solidFill>
              <a:srgbClr val="02C39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4400" y="3566160"/>
            <a:ext cx="98755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Pista final: si tienen duda entre dos opciones, elijan siempre la más "grave". Es mejor anunciar un MAJOR de más, que romper a alguien sin avisar.</a:t>
            </a:r>
            <a:endParaRPr lang="en-US" sz="165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63093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 de Medellín  ·  Especialización en Analítica e Inteligencia Artificial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2026-09-08T00:36:34Z</dcterms:created>
  <dcterms:modified xsi:type="dcterms:W3CDTF">2026-09-08T00:36:34Z</dcterms:modified>
</cp:coreProperties>
</file>