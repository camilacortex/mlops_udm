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42"/>
        </a:solidFill>
      </p:bgPr>
    </p:bg>
    <p:spTree>
      <p:nvGrpSpPr>
        <p:cNvPr id="1" name=""/>
        <p:cNvGrpSpPr/>
        <p:nvPr/>
      </p:nvGrpSpPr>
      <p:grpSpPr>
        <a:xfrm>
          <a:off x="0" y="0"/>
          <a:ext cx="0" cy="0"/>
          <a:chOff x="0" y="0"/>
          <a:chExt cx="0" cy="0"/>
        </a:xfrm>
      </p:grpSpPr>
      <p:sp>
        <p:nvSpPr>
          <p:cNvPr id="2" name="Shape 0"/>
          <p:cNvSpPr/>
          <p:nvPr/>
        </p:nvSpPr>
        <p:spPr>
          <a:xfrm>
            <a:off x="8778240" y="-2011680"/>
            <a:ext cx="5943600" cy="5943600"/>
          </a:xfrm>
          <a:prstGeom prst="ellipse">
            <a:avLst/>
          </a:prstGeom>
          <a:solidFill>
            <a:srgbClr val="02C39A">
              <a:alpha val="45000"/>
            </a:srgbClr>
          </a:solidFill>
          <a:ln/>
        </p:spPr>
      </p:sp>
      <p:sp>
        <p:nvSpPr>
          <p:cNvPr id="3" name="Shape 1"/>
          <p:cNvSpPr/>
          <p:nvPr/>
        </p:nvSpPr>
        <p:spPr>
          <a:xfrm>
            <a:off x="10241280" y="4206240"/>
            <a:ext cx="3840480" cy="3840480"/>
          </a:xfrm>
          <a:prstGeom prst="ellipse">
            <a:avLst/>
          </a:prstGeom>
          <a:solidFill>
            <a:srgbClr val="028090">
              <a:alpha val="40000"/>
            </a:srgbClr>
          </a:solidFill>
          <a:ln/>
        </p:spPr>
      </p:sp>
      <p:sp>
        <p:nvSpPr>
          <p:cNvPr id="4" name="Shape 2"/>
          <p:cNvSpPr/>
          <p:nvPr/>
        </p:nvSpPr>
        <p:spPr>
          <a:xfrm>
            <a:off x="566928" y="429768"/>
            <a:ext cx="1197864" cy="1197864"/>
          </a:xfrm>
          <a:prstGeom prst="roundRect">
            <a:avLst>
              <a:gd name="adj" fmla="val 10687"/>
            </a:avLst>
          </a:prstGeom>
          <a:solidFill>
            <a:srgbClr val="FFFFFF"/>
          </a:solidFill>
          <a:ln/>
          <a:effectLst>
            <a:outerShdw sx="100000" sy="100000" kx="0" ky="0" algn="bl" rotWithShape="0" blurRad="101600" dist="38100" dir="5400000">
              <a:srgbClr val="000000">
                <a:alpha val="30000"/>
              </a:srgbClr>
            </a:outerShdw>
          </a:effectLst>
        </p:spPr>
      </p:sp>
      <p:pic>
        <p:nvPicPr>
          <p:cNvPr id="5" name="Image 0" descr="udem_logo.png">    </p:cNvPr>
          <p:cNvPicPr>
            <a:picLocks noChangeAspect="1"/>
          </p:cNvPicPr>
          <p:nvPr/>
        </p:nvPicPr>
        <p:blipFill>
          <a:blip r:embed="rId1"/>
          <a:stretch>
            <a:fillRect/>
          </a:stretch>
        </p:blipFill>
        <p:spPr>
          <a:xfrm>
            <a:off x="640080" y="502920"/>
            <a:ext cx="1051560" cy="1051560"/>
          </a:xfrm>
          <a:prstGeom prst="rect">
            <a:avLst/>
          </a:prstGeom>
        </p:spPr>
      </p:pic>
      <p:sp>
        <p:nvSpPr>
          <p:cNvPr id="6" name="Text 3"/>
          <p:cNvSpPr txBox="1"/>
          <p:nvPr/>
        </p:nvSpPr>
        <p:spPr>
          <a:xfrm>
            <a:off x="640080" y="2514600"/>
            <a:ext cx="9144000" cy="365760"/>
          </a:xfrm>
          <a:prstGeom prst="rect">
            <a:avLst/>
          </a:prstGeom>
          <a:noFill/>
          <a:ln/>
        </p:spPr>
        <p:txBody>
          <a:bodyPr wrap="square" rtlCol="0" anchor="ctr"/>
          <a:lstStyle/>
          <a:p>
            <a:pPr indent="0" marL="0">
              <a:buNone/>
            </a:pPr>
            <a:r>
              <a:rPr lang="en-US" sz="1400" b="1" spc="300" kern="0" dirty="0">
                <a:solidFill>
                  <a:srgbClr val="02C39A"/>
                </a:solidFill>
                <a:latin typeface="Calibri" pitchFamily="34" charset="0"/>
                <a:ea typeface="Calibri" pitchFamily="34" charset="-122"/>
                <a:cs typeface="Calibri" pitchFamily="34" charset="-120"/>
              </a:rPr>
              <a:t>CURSO DE MLOPS  ·  VERSIONADO Y RELEASES</a:t>
            </a:r>
            <a:endParaRPr lang="en-US" sz="1400" dirty="0"/>
          </a:p>
        </p:txBody>
      </p:sp>
      <p:sp>
        <p:nvSpPr>
          <p:cNvPr id="7" name="Text 4"/>
          <p:cNvSpPr txBox="1"/>
          <p:nvPr/>
        </p:nvSpPr>
        <p:spPr>
          <a:xfrm>
            <a:off x="594360" y="2880360"/>
            <a:ext cx="10789920" cy="2103120"/>
          </a:xfrm>
          <a:prstGeom prst="rect">
            <a:avLst/>
          </a:prstGeom>
          <a:noFill/>
          <a:ln/>
        </p:spPr>
        <p:txBody>
          <a:bodyPr wrap="square" rtlCol="0" anchor="ctr"/>
          <a:lstStyle/>
          <a:p>
            <a:pPr indent="0" marL="0">
              <a:lnSpc>
                <a:spcPts val="5400"/>
              </a:lnSpc>
              <a:buNone/>
            </a:pPr>
            <a:r>
              <a:rPr lang="en-US" sz="4800" b="1" dirty="0">
                <a:solidFill>
                  <a:srgbClr val="FFFFFF"/>
                </a:solidFill>
                <a:latin typeface="Cambria" pitchFamily="34" charset="0"/>
                <a:ea typeface="Cambria" pitchFamily="34" charset="-122"/>
                <a:cs typeface="Cambria" pitchFamily="34" charset="-120"/>
              </a:rPr>
              <a:t>Semantic Versioning:</a:t>
            </a:r>
            <a:endParaRPr lang="en-US" sz="4800" dirty="0"/>
          </a:p>
          <a:p>
            <a:pPr indent="0" marL="0">
              <a:lnSpc>
                <a:spcPts val="5400"/>
              </a:lnSpc>
              <a:buNone/>
            </a:pPr>
            <a:r>
              <a:rPr lang="en-US" sz="4800" b="1" dirty="0">
                <a:solidFill>
                  <a:srgbClr val="FFFFFF"/>
                </a:solidFill>
                <a:latin typeface="Cambria" pitchFamily="34" charset="0"/>
                <a:ea typeface="Cambria" pitchFamily="34" charset="-122"/>
                <a:cs typeface="Cambria" pitchFamily="34" charset="-120"/>
              </a:rPr>
              <a:t>las respuestas</a:t>
            </a:r>
            <a:endParaRPr lang="en-US" sz="4800" dirty="0"/>
          </a:p>
        </p:txBody>
      </p:sp>
      <p:sp>
        <p:nvSpPr>
          <p:cNvPr id="8" name="Text 5"/>
          <p:cNvSpPr txBox="1"/>
          <p:nvPr/>
        </p:nvSpPr>
        <p:spPr>
          <a:xfrm>
            <a:off x="640080" y="5074920"/>
            <a:ext cx="10058400" cy="640080"/>
          </a:xfrm>
          <a:prstGeom prst="rect">
            <a:avLst/>
          </a:prstGeom>
          <a:noFill/>
          <a:ln/>
        </p:spPr>
        <p:txBody>
          <a:bodyPr wrap="square" rtlCol="0" anchor="ctr"/>
          <a:lstStyle/>
          <a:p>
            <a:pPr indent="0" marL="0">
              <a:buNone/>
            </a:pPr>
            <a:r>
              <a:rPr lang="en-US" sz="1600" i="1" dirty="0">
                <a:solidFill>
                  <a:srgbClr val="F4FBFA"/>
                </a:solidFill>
                <a:latin typeface="Calibri" pitchFamily="34" charset="0"/>
                <a:ea typeface="Calibri" pitchFamily="34" charset="-122"/>
                <a:cs typeface="Calibri" pitchFamily="34" charset="-120"/>
              </a:rPr>
              <a:t>¿Que tanto acerto tu equipo? Revisemos los 6 casos, uno por uno.</a:t>
            </a:r>
            <a:endParaRPr lang="en-US" sz="1600" dirty="0"/>
          </a:p>
        </p:txBody>
      </p:sp>
      <p:sp>
        <p:nvSpPr>
          <p:cNvPr id="9" name="Text 6"/>
          <p:cNvSpPr txBox="1"/>
          <p:nvPr/>
        </p:nvSpPr>
        <p:spPr>
          <a:xfrm>
            <a:off x="640080" y="6263640"/>
            <a:ext cx="10058400" cy="365760"/>
          </a:xfrm>
          <a:prstGeom prst="rect">
            <a:avLst/>
          </a:prstGeom>
          <a:noFill/>
          <a:ln/>
        </p:spPr>
        <p:txBody>
          <a:bodyPr wrap="square" rtlCol="0" anchor="ctr"/>
          <a:lstStyle/>
          <a:p>
            <a:pPr indent="0" marL="0">
              <a:buNone/>
            </a:pPr>
            <a:r>
              <a:rPr lang="en-US" sz="1200" dirty="0">
                <a:solidFill>
                  <a:srgbClr val="5C7A7D"/>
                </a:solidFill>
                <a:latin typeface="Calibri" pitchFamily="34" charset="0"/>
                <a:ea typeface="Calibri" pitchFamily="34" charset="-122"/>
                <a:cs typeface="Calibri" pitchFamily="34" charset="-120"/>
              </a:rPr>
              <a:t>Universidad de Medellín  ·  Especialización en Analítica e Inteligencia Artificial</a:t>
            </a:r>
            <a:endParaRPr lang="en-US" sz="1200" dirty="0"/>
          </a:p>
        </p:txBody>
      </p:sp>
      <p:sp>
        <p:nvSpPr>
          <p:cNvPr id="10" name="Text 7"/>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01 / 10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RECORDATORIO RAPIDO</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200" b="1" dirty="0">
                <a:solidFill>
                  <a:srgbClr val="1B2B2E"/>
                </a:solidFill>
                <a:latin typeface="Cambria" pitchFamily="34" charset="0"/>
                <a:ea typeface="Cambria" pitchFamily="34" charset="-122"/>
                <a:cs typeface="Cambria" pitchFamily="34" charset="-120"/>
              </a:rPr>
              <a:t>Una sola pregunta decide todo</a:t>
            </a:r>
            <a:endParaRPr lang="en-US" sz="3200" dirty="0"/>
          </a:p>
        </p:txBody>
      </p:sp>
      <p:sp>
        <p:nvSpPr>
          <p:cNvPr id="4" name="Text 2"/>
          <p:cNvSpPr txBox="1"/>
          <p:nvPr/>
        </p:nvSpPr>
        <p:spPr>
          <a:xfrm>
            <a:off x="548640" y="1417320"/>
            <a:ext cx="10789920" cy="548640"/>
          </a:xfrm>
          <a:prstGeom prst="rect">
            <a:avLst/>
          </a:prstGeom>
          <a:noFill/>
          <a:ln/>
        </p:spPr>
        <p:txBody>
          <a:bodyPr wrap="square" rtlCol="0" anchor="ctr"/>
          <a:lstStyle/>
          <a:p>
            <a:pPr indent="0" marL="0">
              <a:buNone/>
            </a:pPr>
            <a:r>
              <a:rPr lang="en-US" sz="1700" b="1" i="1" dirty="0">
                <a:solidFill>
                  <a:srgbClr val="1B2B2E"/>
                </a:solidFill>
                <a:latin typeface="Calibri" pitchFamily="34" charset="0"/>
                <a:ea typeface="Calibri" pitchFamily="34" charset="-122"/>
                <a:cs typeface="Calibri" pitchFamily="34" charset="-120"/>
              </a:rPr>
              <a:t>¿Alguien que use tu codigo tal como esta hoy, se rompe si actualiza?</a:t>
            </a:r>
            <a:endParaRPr lang="en-US" sz="1700" dirty="0"/>
          </a:p>
        </p:txBody>
      </p:sp>
      <p:sp>
        <p:nvSpPr>
          <p:cNvPr id="5" name="Shape 3"/>
          <p:cNvSpPr/>
          <p:nvPr/>
        </p:nvSpPr>
        <p:spPr>
          <a:xfrm>
            <a:off x="548640" y="2286000"/>
            <a:ext cx="3520440" cy="3566160"/>
          </a:xfrm>
          <a:prstGeom prst="roundRect">
            <a:avLst>
              <a:gd name="adj" fmla="val 3636"/>
            </a:avLst>
          </a:prstGeom>
          <a:solidFill>
            <a:srgbClr val="0B3D42"/>
          </a:solidFill>
          <a:ln/>
        </p:spPr>
      </p:sp>
      <p:sp>
        <p:nvSpPr>
          <p:cNvPr id="6" name="Text 4"/>
          <p:cNvSpPr txBox="1"/>
          <p:nvPr/>
        </p:nvSpPr>
        <p:spPr>
          <a:xfrm>
            <a:off x="731520" y="2606040"/>
            <a:ext cx="3154680" cy="822960"/>
          </a:xfrm>
          <a:prstGeom prst="rect">
            <a:avLst/>
          </a:prstGeom>
          <a:noFill/>
          <a:ln/>
        </p:spPr>
        <p:txBody>
          <a:bodyPr wrap="square" rtlCol="0" anchor="ctr"/>
          <a:lstStyle/>
          <a:p>
            <a:pPr algn="ctr" indent="0" marL="0">
              <a:buNone/>
            </a:pPr>
            <a:r>
              <a:rPr lang="en-US" sz="3000" b="1" dirty="0">
                <a:solidFill>
                  <a:srgbClr val="02C39A"/>
                </a:solidFill>
                <a:latin typeface="Cambria" pitchFamily="34" charset="0"/>
                <a:ea typeface="Cambria" pitchFamily="34" charset="-122"/>
                <a:cs typeface="Cambria" pitchFamily="34" charset="-120"/>
              </a:rPr>
              <a:t>PATCH</a:t>
            </a:r>
            <a:endParaRPr lang="en-US" sz="3000" dirty="0"/>
          </a:p>
        </p:txBody>
      </p:sp>
      <p:sp>
        <p:nvSpPr>
          <p:cNvPr id="7" name="Text 5"/>
          <p:cNvSpPr txBox="1"/>
          <p:nvPr/>
        </p:nvSpPr>
        <p:spPr>
          <a:xfrm>
            <a:off x="868680" y="3520440"/>
            <a:ext cx="2880360" cy="2103120"/>
          </a:xfrm>
          <a:prstGeom prst="rect">
            <a:avLst/>
          </a:prstGeom>
          <a:noFill/>
          <a:ln/>
        </p:spPr>
        <p:txBody>
          <a:bodyPr wrap="square" rtlCol="0" anchor="ctr"/>
          <a:lstStyle/>
          <a:p>
            <a:pPr algn="ctr" indent="0" marL="0">
              <a:buNone/>
            </a:pPr>
            <a:r>
              <a:rPr lang="en-US" sz="1450" dirty="0">
                <a:solidFill>
                  <a:srgbClr val="F4FBFA"/>
                </a:solidFill>
                <a:latin typeface="Calibri" pitchFamily="34" charset="0"/>
                <a:ea typeface="Calibri" pitchFamily="34" charset="-122"/>
                <a:cs typeface="Calibri" pitchFamily="34" charset="-120"/>
              </a:rPr>
              <a:t>No cambia nada observable. Bugfix, performance interna, typos.</a:t>
            </a:r>
            <a:endParaRPr lang="en-US" sz="1450" dirty="0"/>
          </a:p>
        </p:txBody>
      </p:sp>
      <p:sp>
        <p:nvSpPr>
          <p:cNvPr id="8" name="Shape 6"/>
          <p:cNvSpPr/>
          <p:nvPr/>
        </p:nvSpPr>
        <p:spPr>
          <a:xfrm>
            <a:off x="4297680" y="2286000"/>
            <a:ext cx="3520440" cy="3566160"/>
          </a:xfrm>
          <a:prstGeom prst="roundRect">
            <a:avLst>
              <a:gd name="adj" fmla="val 3636"/>
            </a:avLst>
          </a:prstGeom>
          <a:solidFill>
            <a:srgbClr val="0B3D42"/>
          </a:solidFill>
          <a:ln/>
        </p:spPr>
      </p:sp>
      <p:sp>
        <p:nvSpPr>
          <p:cNvPr id="9" name="Text 7"/>
          <p:cNvSpPr txBox="1"/>
          <p:nvPr/>
        </p:nvSpPr>
        <p:spPr>
          <a:xfrm>
            <a:off x="4480560" y="2606040"/>
            <a:ext cx="3154680" cy="822960"/>
          </a:xfrm>
          <a:prstGeom prst="rect">
            <a:avLst/>
          </a:prstGeom>
          <a:noFill/>
          <a:ln/>
        </p:spPr>
        <p:txBody>
          <a:bodyPr wrap="square" rtlCol="0" anchor="ctr"/>
          <a:lstStyle/>
          <a:p>
            <a:pPr algn="ctr" indent="0" marL="0">
              <a:buNone/>
            </a:pPr>
            <a:r>
              <a:rPr lang="en-US" sz="3000" b="1" dirty="0">
                <a:solidFill>
                  <a:srgbClr val="028090"/>
                </a:solidFill>
                <a:latin typeface="Cambria" pitchFamily="34" charset="0"/>
                <a:ea typeface="Cambria" pitchFamily="34" charset="-122"/>
                <a:cs typeface="Cambria" pitchFamily="34" charset="-120"/>
              </a:rPr>
              <a:t>MINOR</a:t>
            </a:r>
            <a:endParaRPr lang="en-US" sz="3000" dirty="0"/>
          </a:p>
        </p:txBody>
      </p:sp>
      <p:sp>
        <p:nvSpPr>
          <p:cNvPr id="10" name="Text 8"/>
          <p:cNvSpPr txBox="1"/>
          <p:nvPr/>
        </p:nvSpPr>
        <p:spPr>
          <a:xfrm>
            <a:off x="4617720" y="3520440"/>
            <a:ext cx="2880360" cy="2103120"/>
          </a:xfrm>
          <a:prstGeom prst="rect">
            <a:avLst/>
          </a:prstGeom>
          <a:noFill/>
          <a:ln/>
        </p:spPr>
        <p:txBody>
          <a:bodyPr wrap="square" rtlCol="0" anchor="ctr"/>
          <a:lstStyle/>
          <a:p>
            <a:pPr algn="ctr" indent="0" marL="0">
              <a:buNone/>
            </a:pPr>
            <a:r>
              <a:rPr lang="en-US" sz="1450" dirty="0">
                <a:solidFill>
                  <a:srgbClr val="F4FBFA"/>
                </a:solidFill>
                <a:latin typeface="Calibri" pitchFamily="34" charset="0"/>
                <a:ea typeface="Calibri" pitchFamily="34" charset="-122"/>
                <a:cs typeface="Calibri" pitchFamily="34" charset="-120"/>
              </a:rPr>
              <a:t>Agrega algo nuevo sin tocar lo que ya existia.</a:t>
            </a:r>
            <a:endParaRPr lang="en-US" sz="1450" dirty="0"/>
          </a:p>
        </p:txBody>
      </p:sp>
      <p:sp>
        <p:nvSpPr>
          <p:cNvPr id="11" name="Shape 9"/>
          <p:cNvSpPr/>
          <p:nvPr/>
        </p:nvSpPr>
        <p:spPr>
          <a:xfrm>
            <a:off x="8046720" y="2286000"/>
            <a:ext cx="3520440" cy="3566160"/>
          </a:xfrm>
          <a:prstGeom prst="roundRect">
            <a:avLst>
              <a:gd name="adj" fmla="val 3636"/>
            </a:avLst>
          </a:prstGeom>
          <a:solidFill>
            <a:srgbClr val="0B3D42"/>
          </a:solidFill>
          <a:ln/>
        </p:spPr>
      </p:sp>
      <p:sp>
        <p:nvSpPr>
          <p:cNvPr id="12" name="Text 10"/>
          <p:cNvSpPr txBox="1"/>
          <p:nvPr/>
        </p:nvSpPr>
        <p:spPr>
          <a:xfrm>
            <a:off x="8229600" y="2606040"/>
            <a:ext cx="3154680" cy="822960"/>
          </a:xfrm>
          <a:prstGeom prst="rect">
            <a:avLst/>
          </a:prstGeom>
          <a:noFill/>
          <a:ln/>
        </p:spPr>
        <p:txBody>
          <a:bodyPr wrap="square" rtlCol="0" anchor="ctr"/>
          <a:lstStyle/>
          <a:p>
            <a:pPr algn="ctr" indent="0" marL="0">
              <a:buNone/>
            </a:pPr>
            <a:r>
              <a:rPr lang="en-US" sz="3000" b="1" dirty="0">
                <a:solidFill>
                  <a:srgbClr val="D7263D"/>
                </a:solidFill>
                <a:latin typeface="Cambria" pitchFamily="34" charset="0"/>
                <a:ea typeface="Cambria" pitchFamily="34" charset="-122"/>
                <a:cs typeface="Cambria" pitchFamily="34" charset="-120"/>
              </a:rPr>
              <a:t>MAJOR</a:t>
            </a:r>
            <a:endParaRPr lang="en-US" sz="3000" dirty="0"/>
          </a:p>
        </p:txBody>
      </p:sp>
      <p:sp>
        <p:nvSpPr>
          <p:cNvPr id="13" name="Text 11"/>
          <p:cNvSpPr txBox="1"/>
          <p:nvPr/>
        </p:nvSpPr>
        <p:spPr>
          <a:xfrm>
            <a:off x="8366760" y="3520440"/>
            <a:ext cx="2880360" cy="2103120"/>
          </a:xfrm>
          <a:prstGeom prst="rect">
            <a:avLst/>
          </a:prstGeom>
          <a:noFill/>
          <a:ln/>
        </p:spPr>
        <p:txBody>
          <a:bodyPr wrap="square" rtlCol="0" anchor="ctr"/>
          <a:lstStyle/>
          <a:p>
            <a:pPr algn="ctr" indent="0" marL="0">
              <a:buNone/>
            </a:pPr>
            <a:r>
              <a:rPr lang="en-US" sz="1450" dirty="0">
                <a:solidFill>
                  <a:srgbClr val="F4FBFA"/>
                </a:solidFill>
                <a:latin typeface="Calibri" pitchFamily="34" charset="0"/>
                <a:ea typeface="Calibri" pitchFamily="34" charset="-122"/>
                <a:cs typeface="Calibri" pitchFamily="34" charset="-120"/>
              </a:rPr>
              <a:t>Cambia o elimina algo que ya existia. Puede romper a alguien.</a:t>
            </a:r>
            <a:endParaRPr lang="en-US" sz="1450" dirty="0"/>
          </a:p>
        </p:txBody>
      </p:sp>
      <p:sp>
        <p:nvSpPr>
          <p:cNvPr id="14" name="Text 12"/>
          <p:cNvSpPr txBox="1"/>
          <p:nvPr/>
        </p:nvSpPr>
        <p:spPr>
          <a:xfrm>
            <a:off x="548640" y="6080760"/>
            <a:ext cx="10972800" cy="457200"/>
          </a:xfrm>
          <a:prstGeom prst="rect">
            <a:avLst/>
          </a:prstGeom>
          <a:noFill/>
          <a:ln/>
        </p:spPr>
        <p:txBody>
          <a:bodyPr wrap="square" rtlCol="0" anchor="ctr"/>
          <a:lstStyle/>
          <a:p>
            <a:pPr algn="ctr" indent="0" marL="0">
              <a:buNone/>
            </a:pPr>
            <a:r>
              <a:rPr lang="en-US" sz="1400" i="1" dirty="0">
                <a:solidFill>
                  <a:srgbClr val="5C7A7D"/>
                </a:solidFill>
                <a:latin typeface="Calibri" pitchFamily="34" charset="0"/>
                <a:ea typeface="Calibri" pitchFamily="34" charset="-122"/>
                <a:cs typeface="Calibri" pitchFamily="34" charset="-120"/>
              </a:rPr>
              <a:t>Con esa pregunta en mente, vamos a los 6 casos.</a:t>
            </a:r>
            <a:endParaRPr lang="en-US" sz="1400" dirty="0"/>
          </a:p>
        </p:txBody>
      </p:sp>
      <p:sp>
        <p:nvSpPr>
          <p:cNvPr id="15" name="Text 13"/>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02 / 10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CASO 1 DE 6</a:t>
            </a:r>
            <a:endParaRPr lang="en-US" sz="1200" dirty="0"/>
          </a:p>
        </p:txBody>
      </p:sp>
      <p:sp>
        <p:nvSpPr>
          <p:cNvPr id="3" name="Text 1"/>
          <p:cNvSpPr txBox="1"/>
          <p:nvPr/>
        </p:nvSpPr>
        <p:spPr>
          <a:xfrm>
            <a:off x="548640" y="411480"/>
            <a:ext cx="7863840" cy="914400"/>
          </a:xfrm>
          <a:prstGeom prst="rect">
            <a:avLst/>
          </a:prstGeom>
          <a:noFill/>
          <a:ln/>
        </p:spPr>
        <p:txBody>
          <a:bodyPr wrap="square" rtlCol="0" anchor="ctr"/>
          <a:lstStyle/>
          <a:p>
            <a:pPr algn="l" indent="0" marL="0">
              <a:buNone/>
            </a:pPr>
            <a:r>
              <a:rPr lang="en-US" sz="2400" b="1" dirty="0">
                <a:solidFill>
                  <a:srgbClr val="1B2B2E"/>
                </a:solidFill>
                <a:latin typeface="Cambria" pitchFamily="34" charset="0"/>
                <a:ea typeface="Cambria" pitchFamily="34" charset="-122"/>
                <a:cs typeface="Cambria" pitchFamily="34" charset="-120"/>
              </a:rPr>
              <a:t>Elimina una funcion "vieja" marcada como deprecated</a:t>
            </a:r>
            <a:endParaRPr lang="en-US" sz="2400" dirty="0"/>
          </a:p>
        </p:txBody>
      </p:sp>
      <p:sp>
        <p:nvSpPr>
          <p:cNvPr id="4" name="Shape 2"/>
          <p:cNvSpPr/>
          <p:nvPr/>
        </p:nvSpPr>
        <p:spPr>
          <a:xfrm>
            <a:off x="8778240" y="438912"/>
            <a:ext cx="2834640" cy="868680"/>
          </a:xfrm>
          <a:prstGeom prst="roundRect">
            <a:avLst>
              <a:gd name="adj" fmla="val 12632"/>
            </a:avLst>
          </a:prstGeom>
          <a:solidFill>
            <a:srgbClr val="D7263D"/>
          </a:solidFill>
          <a:ln/>
        </p:spPr>
      </p:sp>
      <p:sp>
        <p:nvSpPr>
          <p:cNvPr id="5" name="Text 3"/>
          <p:cNvSpPr txBox="1"/>
          <p:nvPr/>
        </p:nvSpPr>
        <p:spPr>
          <a:xfrm>
            <a:off x="8778240" y="438912"/>
            <a:ext cx="2834640" cy="8686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MAJOR</a:t>
            </a:r>
            <a:endParaRPr lang="en-US" sz="2400" dirty="0"/>
          </a:p>
        </p:txBody>
      </p:sp>
      <p:sp>
        <p:nvSpPr>
          <p:cNvPr id="6" name="Shape 4"/>
          <p:cNvSpPr/>
          <p:nvPr/>
        </p:nvSpPr>
        <p:spPr>
          <a:xfrm>
            <a:off x="548640" y="1508760"/>
            <a:ext cx="11064240" cy="1417320"/>
          </a:xfrm>
          <a:prstGeom prst="roundRect">
            <a:avLst>
              <a:gd name="adj" fmla="val 7742"/>
            </a:avLst>
          </a:prstGeom>
          <a:solidFill>
            <a:srgbClr val="1B2B2E"/>
          </a:solidFill>
          <a:ln/>
        </p:spPr>
      </p:sp>
      <p:sp>
        <p:nvSpPr>
          <p:cNvPr id="7" name="Text 5"/>
          <p:cNvSpPr txBox="1"/>
          <p:nvPr/>
        </p:nvSpPr>
        <p:spPr>
          <a:xfrm>
            <a:off x="822960" y="1645920"/>
            <a:ext cx="10515600" cy="1143000"/>
          </a:xfrm>
          <a:prstGeom prst="rect">
            <a:avLst/>
          </a:prstGeom>
          <a:noFill/>
          <a:ln/>
        </p:spPr>
        <p:txBody>
          <a:bodyPr wrap="square" rtlCol="0" anchor="ctr"/>
          <a:lstStyle/>
          <a:p>
            <a:pPr indent="0" marL="0">
              <a:buNone/>
            </a:pPr>
            <a:r>
              <a:rPr lang="en-US" sz="1450" dirty="0">
                <a:solidFill>
                  <a:srgbClr val="D7263D"/>
                </a:solidFill>
                <a:latin typeface="Consolas" pitchFamily="34" charset="0"/>
                <a:ea typeface="Consolas" pitchFamily="34" charset="-122"/>
                <a:cs typeface="Consolas" pitchFamily="34" charset="-120"/>
              </a:rPr>
              <a:t># Llevaba 2 versiones marcada @deprecated</a:t>
            </a:r>
            <a:endParaRPr lang="en-US" sz="1450" dirty="0"/>
          </a:p>
          <a:p>
            <a:pPr indent="0" marL="0">
              <a:buNone/>
            </a:pPr>
            <a:r>
              <a:rPr lang="en-US" sz="1450" dirty="0">
                <a:solidFill>
                  <a:srgbClr val="D7263D"/>
                </a:solidFill>
                <a:latin typeface="Consolas" pitchFamily="34" charset="0"/>
                <a:ea typeface="Consolas" pitchFamily="34" charset="-122"/>
                <a:cs typeface="Consolas" pitchFamily="34" charset="-120"/>
              </a:rPr>
              <a:t>- def calcular_metricas_viejas(df):</a:t>
            </a:r>
            <a:endParaRPr lang="en-US" sz="1450" dirty="0"/>
          </a:p>
          <a:p>
            <a:pPr indent="0" marL="0">
              <a:buNone/>
            </a:pPr>
            <a:r>
              <a:rPr lang="en-US" sz="1450" dirty="0">
                <a:solidFill>
                  <a:srgbClr val="D7263D"/>
                </a:solidFill>
                <a:latin typeface="Consolas" pitchFamily="34" charset="0"/>
                <a:ea typeface="Consolas" pitchFamily="34" charset="-122"/>
                <a:cs typeface="Consolas" pitchFamily="34" charset="-120"/>
              </a:rPr>
              <a:t>-     ...</a:t>
            </a:r>
            <a:endParaRPr lang="en-US" sz="1450" dirty="0"/>
          </a:p>
          <a:p>
            <a:pPr indent="0" marL="0">
              <a:buNone/>
            </a:pPr>
            <a:endParaRPr lang="en-US" sz="1450" dirty="0"/>
          </a:p>
          <a:p>
            <a:pPr indent="0" marL="0">
              <a:buNone/>
            </a:pPr>
            <a:r>
              <a:rPr lang="en-US" sz="1450" dirty="0">
                <a:solidFill>
                  <a:srgbClr val="D7263D"/>
                </a:solidFill>
                <a:latin typeface="Consolas" pitchFamily="34" charset="0"/>
                <a:ea typeface="Consolas" pitchFamily="34" charset="-122"/>
                <a:cs typeface="Consolas" pitchFamily="34" charset="-120"/>
              </a:rPr>
              <a:t># En esta version, se elimina por completo</a:t>
            </a:r>
            <a:endParaRPr lang="en-US" sz="1450" dirty="0"/>
          </a:p>
        </p:txBody>
      </p:sp>
      <p:sp>
        <p:nvSpPr>
          <p:cNvPr id="8" name="Shape 6"/>
          <p:cNvSpPr/>
          <p:nvPr/>
        </p:nvSpPr>
        <p:spPr>
          <a:xfrm>
            <a:off x="548640" y="3154680"/>
            <a:ext cx="11064240" cy="1417320"/>
          </a:xfrm>
          <a:prstGeom prst="roundRect">
            <a:avLst>
              <a:gd name="adj" fmla="val 7742"/>
            </a:avLst>
          </a:prstGeom>
          <a:solidFill>
            <a:srgbClr val="EFF7F6"/>
          </a:solidFill>
          <a:ln w="19050">
            <a:solidFill>
              <a:srgbClr val="D7263D"/>
            </a:solidFill>
            <a:prstDash val="solid"/>
          </a:ln>
        </p:spPr>
      </p:sp>
      <p:sp>
        <p:nvSpPr>
          <p:cNvPr id="9" name="Text 7"/>
          <p:cNvSpPr txBox="1"/>
          <p:nvPr/>
        </p:nvSpPr>
        <p:spPr>
          <a:xfrm>
            <a:off x="822960" y="3291840"/>
            <a:ext cx="10515600" cy="320040"/>
          </a:xfrm>
          <a:prstGeom prst="rect">
            <a:avLst/>
          </a:prstGeom>
          <a:noFill/>
          <a:ln/>
        </p:spPr>
        <p:txBody>
          <a:bodyPr wrap="square" rtlCol="0" anchor="ctr"/>
          <a:lstStyle/>
          <a:p>
            <a:pPr indent="0" marL="0">
              <a:buNone/>
            </a:pPr>
            <a:r>
              <a:rPr lang="en-US" sz="1200" b="1" spc="150" kern="0" dirty="0">
                <a:solidFill>
                  <a:srgbClr val="D7263D"/>
                </a:solidFill>
                <a:latin typeface="Calibri" pitchFamily="34" charset="0"/>
                <a:ea typeface="Calibri" pitchFamily="34" charset="-122"/>
                <a:cs typeface="Calibri" pitchFamily="34" charset="-120"/>
              </a:rPr>
              <a:t>¿POR QUE?</a:t>
            </a:r>
            <a:endParaRPr lang="en-US" sz="1200" dirty="0"/>
          </a:p>
        </p:txBody>
      </p:sp>
      <p:sp>
        <p:nvSpPr>
          <p:cNvPr id="10" name="Text 8"/>
          <p:cNvSpPr txBox="1"/>
          <p:nvPr/>
        </p:nvSpPr>
        <p:spPr>
          <a:xfrm>
            <a:off x="822960" y="3611880"/>
            <a:ext cx="10515600" cy="868680"/>
          </a:xfrm>
          <a:prstGeom prst="rect">
            <a:avLst/>
          </a:prstGeom>
          <a:noFill/>
          <a:ln/>
        </p:spPr>
        <p:txBody>
          <a:bodyPr wrap="square" rtlCol="0" anchor="ctr"/>
          <a:lstStyle/>
          <a:p>
            <a:pPr indent="0" marL="0">
              <a:buNone/>
            </a:pPr>
            <a:r>
              <a:rPr lang="en-US" sz="1500" dirty="0">
                <a:solidFill>
                  <a:srgbClr val="1B2B2E"/>
                </a:solidFill>
                <a:latin typeface="Calibri" pitchFamily="34" charset="0"/>
                <a:ea typeface="Calibri" pitchFamily="34" charset="-122"/>
                <a:cs typeface="Calibri" pitchFamily="34" charset="-120"/>
              </a:rPr>
              <a:t>Estar deprecated es una advertencia, no una eliminacion. Quien no haya migrado todavia, se rompe apenas actualice. Eliminar codigo publico siempre es un cambio incompatible, sin importar cuanto tiempo llevaba avisado.</a:t>
            </a:r>
            <a:endParaRPr lang="en-US" sz="1500" dirty="0"/>
          </a:p>
        </p:txBody>
      </p:sp>
      <p:sp>
        <p:nvSpPr>
          <p:cNvPr id="11" name="Shape 9"/>
          <p:cNvSpPr/>
          <p:nvPr/>
        </p:nvSpPr>
        <p:spPr>
          <a:xfrm>
            <a:off x="548640" y="4800600"/>
            <a:ext cx="11064240" cy="1417320"/>
          </a:xfrm>
          <a:prstGeom prst="roundRect">
            <a:avLst>
              <a:gd name="adj" fmla="val 7742"/>
            </a:avLst>
          </a:prstGeom>
          <a:solidFill>
            <a:srgbClr val="0B3D42"/>
          </a:solidFill>
          <a:ln/>
        </p:spPr>
      </p:sp>
      <p:sp>
        <p:nvSpPr>
          <p:cNvPr id="12" name="Text 10"/>
          <p:cNvSpPr txBox="1"/>
          <p:nvPr/>
        </p:nvSpPr>
        <p:spPr>
          <a:xfrm>
            <a:off x="822960" y="4937760"/>
            <a:ext cx="1051560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SI TU EQUIPO VOTO DISTINTO...</a:t>
            </a:r>
            <a:endParaRPr lang="en-US" sz="1150" dirty="0"/>
          </a:p>
        </p:txBody>
      </p:sp>
      <p:sp>
        <p:nvSpPr>
          <p:cNvPr id="13" name="Text 11"/>
          <p:cNvSpPr txBox="1"/>
          <p:nvPr/>
        </p:nvSpPr>
        <p:spPr>
          <a:xfrm>
            <a:off x="822960" y="5257800"/>
            <a:ext cx="10515600" cy="868680"/>
          </a:xfrm>
          <a:prstGeom prst="rect">
            <a:avLst/>
          </a:prstGeom>
          <a:noFill/>
          <a:ln/>
        </p:spPr>
        <p:txBody>
          <a:bodyPr wrap="square" rtlCol="0" anchor="ctr"/>
          <a:lstStyle/>
          <a:p>
            <a:pPr indent="0" marL="0">
              <a:buNone/>
            </a:pPr>
            <a:r>
              <a:rPr lang="en-US" sz="1450" i="1" dirty="0">
                <a:solidFill>
                  <a:srgbClr val="F4FBFA"/>
                </a:solidFill>
                <a:latin typeface="Calibri" pitchFamily="34" charset="0"/>
                <a:ea typeface="Calibri" pitchFamily="34" charset="-122"/>
                <a:cs typeface="Calibri" pitchFamily="34" charset="-120"/>
              </a:rPr>
              <a:t>"¡Pero si llevaba 2 versiones avisando que la iban a quitar!" — Sí, y aun asi rompio produccion de alguien el viernes a las 5pm.</a:t>
            </a:r>
            <a:endParaRPr lang="en-US" sz="1450" dirty="0"/>
          </a:p>
        </p:txBody>
      </p:sp>
      <p:sp>
        <p:nvSpPr>
          <p:cNvPr id="14" name="Text 12"/>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03 / 10</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CASO 2 DE 6</a:t>
            </a:r>
            <a:endParaRPr lang="en-US" sz="1200" dirty="0"/>
          </a:p>
        </p:txBody>
      </p:sp>
      <p:sp>
        <p:nvSpPr>
          <p:cNvPr id="3" name="Text 1"/>
          <p:cNvSpPr txBox="1"/>
          <p:nvPr/>
        </p:nvSpPr>
        <p:spPr>
          <a:xfrm>
            <a:off x="548640" y="411480"/>
            <a:ext cx="7863840" cy="914400"/>
          </a:xfrm>
          <a:prstGeom prst="rect">
            <a:avLst/>
          </a:prstGeom>
          <a:noFill/>
          <a:ln/>
        </p:spPr>
        <p:txBody>
          <a:bodyPr wrap="square" rtlCol="0" anchor="ctr"/>
          <a:lstStyle/>
          <a:p>
            <a:pPr algn="l" indent="0" marL="0">
              <a:buNone/>
            </a:pPr>
            <a:r>
              <a:rPr lang="en-US" sz="2400" b="1" dirty="0">
                <a:solidFill>
                  <a:srgbClr val="1B2B2E"/>
                </a:solidFill>
                <a:latin typeface="Cambria" pitchFamily="34" charset="0"/>
                <a:ea typeface="Cambria" pitchFamily="34" charset="-122"/>
                <a:cs typeface="Cambria" pitchFamily="34" charset="-120"/>
              </a:rPr>
              <a:t>Agrega un parametro opcional nuevo</a:t>
            </a:r>
            <a:endParaRPr lang="en-US" sz="2400" dirty="0"/>
          </a:p>
        </p:txBody>
      </p:sp>
      <p:sp>
        <p:nvSpPr>
          <p:cNvPr id="4" name="Shape 2"/>
          <p:cNvSpPr/>
          <p:nvPr/>
        </p:nvSpPr>
        <p:spPr>
          <a:xfrm>
            <a:off x="8778240" y="438912"/>
            <a:ext cx="2834640" cy="868680"/>
          </a:xfrm>
          <a:prstGeom prst="roundRect">
            <a:avLst>
              <a:gd name="adj" fmla="val 12632"/>
            </a:avLst>
          </a:prstGeom>
          <a:solidFill>
            <a:srgbClr val="028090"/>
          </a:solidFill>
          <a:ln/>
        </p:spPr>
      </p:sp>
      <p:sp>
        <p:nvSpPr>
          <p:cNvPr id="5" name="Text 3"/>
          <p:cNvSpPr txBox="1"/>
          <p:nvPr/>
        </p:nvSpPr>
        <p:spPr>
          <a:xfrm>
            <a:off x="8778240" y="438912"/>
            <a:ext cx="2834640" cy="8686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MINOR</a:t>
            </a:r>
            <a:endParaRPr lang="en-US" sz="2400" dirty="0"/>
          </a:p>
        </p:txBody>
      </p:sp>
      <p:sp>
        <p:nvSpPr>
          <p:cNvPr id="6" name="Shape 4"/>
          <p:cNvSpPr/>
          <p:nvPr/>
        </p:nvSpPr>
        <p:spPr>
          <a:xfrm>
            <a:off x="548640" y="1508760"/>
            <a:ext cx="11064240" cy="1417320"/>
          </a:xfrm>
          <a:prstGeom prst="roundRect">
            <a:avLst>
              <a:gd name="adj" fmla="val 7742"/>
            </a:avLst>
          </a:prstGeom>
          <a:solidFill>
            <a:srgbClr val="1B2B2E"/>
          </a:solidFill>
          <a:ln/>
        </p:spPr>
      </p:sp>
      <p:sp>
        <p:nvSpPr>
          <p:cNvPr id="7" name="Text 5"/>
          <p:cNvSpPr txBox="1"/>
          <p:nvPr/>
        </p:nvSpPr>
        <p:spPr>
          <a:xfrm>
            <a:off x="822960" y="1645920"/>
            <a:ext cx="10515600" cy="1143000"/>
          </a:xfrm>
          <a:prstGeom prst="rect">
            <a:avLst/>
          </a:prstGeom>
          <a:noFill/>
          <a:ln/>
        </p:spPr>
        <p:txBody>
          <a:bodyPr wrap="square" rtlCol="0" anchor="ctr"/>
          <a:lstStyle/>
          <a:p>
            <a:pPr indent="0" marL="0">
              <a:buNone/>
            </a:pPr>
            <a:r>
              <a:rPr lang="en-US" sz="1450" dirty="0">
                <a:solidFill>
                  <a:srgbClr val="028090"/>
                </a:solidFill>
                <a:latin typeface="Consolas" pitchFamily="34" charset="0"/>
                <a:ea typeface="Consolas" pitchFamily="34" charset="-122"/>
                <a:cs typeface="Consolas" pitchFamily="34" charset="-120"/>
              </a:rPr>
              <a:t>  def predecir(datos, umbral=0.5):</a:t>
            </a:r>
            <a:endParaRPr lang="en-US" sz="1450" dirty="0"/>
          </a:p>
          <a:p>
            <a:pPr indent="0" marL="0">
              <a:buNone/>
            </a:pPr>
            <a:r>
              <a:rPr lang="en-US" sz="1450" dirty="0">
                <a:solidFill>
                  <a:srgbClr val="028090"/>
                </a:solidFill>
                <a:latin typeface="Consolas" pitchFamily="34" charset="0"/>
                <a:ea typeface="Consolas" pitchFamily="34" charset="-122"/>
                <a:cs typeface="Consolas" pitchFamily="34" charset="-120"/>
              </a:rPr>
              <a:t>+     def predecir(datos, umbral=0.5, verbose=False):</a:t>
            </a:r>
            <a:endParaRPr lang="en-US" sz="1450" dirty="0"/>
          </a:p>
          <a:p>
            <a:pPr indent="0" marL="0">
              <a:buNone/>
            </a:pPr>
            <a:r>
              <a:rPr lang="en-US" sz="1450" dirty="0">
                <a:solidFill>
                  <a:srgbClr val="028090"/>
                </a:solidFill>
                <a:latin typeface="Consolas" pitchFamily="34" charset="0"/>
                <a:ea typeface="Consolas" pitchFamily="34" charset="-122"/>
                <a:cs typeface="Consolas" pitchFamily="34" charset="-120"/>
              </a:rPr>
              <a:t>          ...</a:t>
            </a:r>
            <a:endParaRPr lang="en-US" sz="1450" dirty="0"/>
          </a:p>
        </p:txBody>
      </p:sp>
      <p:sp>
        <p:nvSpPr>
          <p:cNvPr id="8" name="Shape 6"/>
          <p:cNvSpPr/>
          <p:nvPr/>
        </p:nvSpPr>
        <p:spPr>
          <a:xfrm>
            <a:off x="548640" y="3154680"/>
            <a:ext cx="11064240" cy="1417320"/>
          </a:xfrm>
          <a:prstGeom prst="roundRect">
            <a:avLst>
              <a:gd name="adj" fmla="val 7742"/>
            </a:avLst>
          </a:prstGeom>
          <a:solidFill>
            <a:srgbClr val="EFF7F6"/>
          </a:solidFill>
          <a:ln w="19050">
            <a:solidFill>
              <a:srgbClr val="028090"/>
            </a:solidFill>
            <a:prstDash val="solid"/>
          </a:ln>
        </p:spPr>
      </p:sp>
      <p:sp>
        <p:nvSpPr>
          <p:cNvPr id="9" name="Text 7"/>
          <p:cNvSpPr txBox="1"/>
          <p:nvPr/>
        </p:nvSpPr>
        <p:spPr>
          <a:xfrm>
            <a:off x="822960" y="3291840"/>
            <a:ext cx="10515600" cy="320040"/>
          </a:xfrm>
          <a:prstGeom prst="rect">
            <a:avLst/>
          </a:prstGeom>
          <a:noFill/>
          <a:ln/>
        </p:spPr>
        <p:txBody>
          <a:bodyPr wrap="square" rtlCol="0" anchor="ctr"/>
          <a:lstStyle/>
          <a:p>
            <a:pPr indent="0" marL="0">
              <a:buNone/>
            </a:pPr>
            <a:r>
              <a:rPr lang="en-US" sz="1200" b="1" spc="150" kern="0" dirty="0">
                <a:solidFill>
                  <a:srgbClr val="028090"/>
                </a:solidFill>
                <a:latin typeface="Calibri" pitchFamily="34" charset="0"/>
                <a:ea typeface="Calibri" pitchFamily="34" charset="-122"/>
                <a:cs typeface="Calibri" pitchFamily="34" charset="-120"/>
              </a:rPr>
              <a:t>¿POR QUE?</a:t>
            </a:r>
            <a:endParaRPr lang="en-US" sz="1200" dirty="0"/>
          </a:p>
        </p:txBody>
      </p:sp>
      <p:sp>
        <p:nvSpPr>
          <p:cNvPr id="10" name="Text 8"/>
          <p:cNvSpPr txBox="1"/>
          <p:nvPr/>
        </p:nvSpPr>
        <p:spPr>
          <a:xfrm>
            <a:off x="822960" y="3611880"/>
            <a:ext cx="10515600" cy="868680"/>
          </a:xfrm>
          <a:prstGeom prst="rect">
            <a:avLst/>
          </a:prstGeom>
          <a:noFill/>
          <a:ln/>
        </p:spPr>
        <p:txBody>
          <a:bodyPr wrap="square" rtlCol="0" anchor="ctr"/>
          <a:lstStyle/>
          <a:p>
            <a:pPr indent="0" marL="0">
              <a:buNone/>
            </a:pPr>
            <a:r>
              <a:rPr lang="en-US" sz="1500" dirty="0">
                <a:solidFill>
                  <a:srgbClr val="1B2B2E"/>
                </a:solidFill>
                <a:latin typeface="Calibri" pitchFamily="34" charset="0"/>
                <a:ea typeface="Calibri" pitchFamily="34" charset="-122"/>
                <a:cs typeface="Calibri" pitchFamily="34" charset="-120"/>
              </a:rPr>
              <a:t>Todo el codigo que ya llamaba a predecir(datos) sigue funcionando exactamente igual, porque 'verbose' tiene un valor por defecto. Se agrego capacidad nueva sin quitar ni cambiar nada existente.</a:t>
            </a:r>
            <a:endParaRPr lang="en-US" sz="1500" dirty="0"/>
          </a:p>
        </p:txBody>
      </p:sp>
      <p:sp>
        <p:nvSpPr>
          <p:cNvPr id="11" name="Shape 9"/>
          <p:cNvSpPr/>
          <p:nvPr/>
        </p:nvSpPr>
        <p:spPr>
          <a:xfrm>
            <a:off x="548640" y="4800600"/>
            <a:ext cx="11064240" cy="1417320"/>
          </a:xfrm>
          <a:prstGeom prst="roundRect">
            <a:avLst>
              <a:gd name="adj" fmla="val 7742"/>
            </a:avLst>
          </a:prstGeom>
          <a:solidFill>
            <a:srgbClr val="0B3D42"/>
          </a:solidFill>
          <a:ln/>
        </p:spPr>
      </p:sp>
      <p:sp>
        <p:nvSpPr>
          <p:cNvPr id="12" name="Text 10"/>
          <p:cNvSpPr txBox="1"/>
          <p:nvPr/>
        </p:nvSpPr>
        <p:spPr>
          <a:xfrm>
            <a:off x="822960" y="4937760"/>
            <a:ext cx="1051560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SI TU EQUIPO VOTO DISTINTO...</a:t>
            </a:r>
            <a:endParaRPr lang="en-US" sz="1150" dirty="0"/>
          </a:p>
        </p:txBody>
      </p:sp>
      <p:sp>
        <p:nvSpPr>
          <p:cNvPr id="13" name="Text 11"/>
          <p:cNvSpPr txBox="1"/>
          <p:nvPr/>
        </p:nvSpPr>
        <p:spPr>
          <a:xfrm>
            <a:off x="822960" y="5257800"/>
            <a:ext cx="10515600" cy="868680"/>
          </a:xfrm>
          <a:prstGeom prst="rect">
            <a:avLst/>
          </a:prstGeom>
          <a:noFill/>
          <a:ln/>
        </p:spPr>
        <p:txBody>
          <a:bodyPr wrap="square" rtlCol="0" anchor="ctr"/>
          <a:lstStyle/>
          <a:p>
            <a:pPr indent="0" marL="0">
              <a:buNone/>
            </a:pPr>
            <a:r>
              <a:rPr lang="en-US" sz="1450" i="1" dirty="0">
                <a:solidFill>
                  <a:srgbClr val="F4FBFA"/>
                </a:solidFill>
                <a:latin typeface="Calibri" pitchFamily="34" charset="0"/>
                <a:ea typeface="Calibri" pitchFamily="34" charset="-122"/>
                <a:cs typeface="Calibri" pitchFamily="34" charset="-120"/>
              </a:rPr>
              <a:t>El equipo que dijo PATCH: cerca, pero agregar una funcionalidad nueva (aunque sea opcional) siempre es MINOR, no PATCH.</a:t>
            </a:r>
            <a:endParaRPr lang="en-US" sz="1450" dirty="0"/>
          </a:p>
        </p:txBody>
      </p:sp>
      <p:sp>
        <p:nvSpPr>
          <p:cNvPr id="14" name="Text 12"/>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04 / 10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CASO 3 DE 6</a:t>
            </a:r>
            <a:endParaRPr lang="en-US" sz="1200" dirty="0"/>
          </a:p>
        </p:txBody>
      </p:sp>
      <p:sp>
        <p:nvSpPr>
          <p:cNvPr id="3" name="Text 1"/>
          <p:cNvSpPr txBox="1"/>
          <p:nvPr/>
        </p:nvSpPr>
        <p:spPr>
          <a:xfrm>
            <a:off x="548640" y="411480"/>
            <a:ext cx="7863840" cy="914400"/>
          </a:xfrm>
          <a:prstGeom prst="rect">
            <a:avLst/>
          </a:prstGeom>
          <a:noFill/>
          <a:ln/>
        </p:spPr>
        <p:txBody>
          <a:bodyPr wrap="square" rtlCol="0" anchor="ctr"/>
          <a:lstStyle/>
          <a:p>
            <a:pPr algn="l" indent="0" marL="0">
              <a:buNone/>
            </a:pPr>
            <a:r>
              <a:rPr lang="en-US" sz="2400" b="1" dirty="0">
                <a:solidFill>
                  <a:srgbClr val="1B2B2E"/>
                </a:solidFill>
                <a:latin typeface="Cambria" pitchFamily="34" charset="0"/>
                <a:ea typeface="Cambria" pitchFamily="34" charset="-122"/>
                <a:cs typeface="Cambria" pitchFamily="34" charset="-120"/>
              </a:rPr>
              <a:t>Corrige un error de tipeo en un mensaje de log</a:t>
            </a:r>
            <a:endParaRPr lang="en-US" sz="2400" dirty="0"/>
          </a:p>
        </p:txBody>
      </p:sp>
      <p:sp>
        <p:nvSpPr>
          <p:cNvPr id="4" name="Shape 2"/>
          <p:cNvSpPr/>
          <p:nvPr/>
        </p:nvSpPr>
        <p:spPr>
          <a:xfrm>
            <a:off x="8778240" y="438912"/>
            <a:ext cx="2834640" cy="868680"/>
          </a:xfrm>
          <a:prstGeom prst="roundRect">
            <a:avLst>
              <a:gd name="adj" fmla="val 12632"/>
            </a:avLst>
          </a:prstGeom>
          <a:solidFill>
            <a:srgbClr val="02C39A"/>
          </a:solidFill>
          <a:ln/>
        </p:spPr>
      </p:sp>
      <p:sp>
        <p:nvSpPr>
          <p:cNvPr id="5" name="Text 3"/>
          <p:cNvSpPr txBox="1"/>
          <p:nvPr/>
        </p:nvSpPr>
        <p:spPr>
          <a:xfrm>
            <a:off x="8778240" y="438912"/>
            <a:ext cx="2834640" cy="8686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PATCH</a:t>
            </a:r>
            <a:endParaRPr lang="en-US" sz="2400" dirty="0"/>
          </a:p>
        </p:txBody>
      </p:sp>
      <p:sp>
        <p:nvSpPr>
          <p:cNvPr id="6" name="Shape 4"/>
          <p:cNvSpPr/>
          <p:nvPr/>
        </p:nvSpPr>
        <p:spPr>
          <a:xfrm>
            <a:off x="548640" y="1508760"/>
            <a:ext cx="11064240" cy="1417320"/>
          </a:xfrm>
          <a:prstGeom prst="roundRect">
            <a:avLst>
              <a:gd name="adj" fmla="val 7742"/>
            </a:avLst>
          </a:prstGeom>
          <a:solidFill>
            <a:srgbClr val="1B2B2E"/>
          </a:solidFill>
          <a:ln/>
        </p:spPr>
      </p:sp>
      <p:sp>
        <p:nvSpPr>
          <p:cNvPr id="7" name="Text 5"/>
          <p:cNvSpPr txBox="1"/>
          <p:nvPr/>
        </p:nvSpPr>
        <p:spPr>
          <a:xfrm>
            <a:off x="822960" y="1645920"/>
            <a:ext cx="10515600" cy="1143000"/>
          </a:xfrm>
          <a:prstGeom prst="rect">
            <a:avLst/>
          </a:prstGeom>
          <a:noFill/>
          <a:ln/>
        </p:spPr>
        <p:txBody>
          <a:bodyPr wrap="square" rtlCol="0" anchor="ctr"/>
          <a:lstStyle/>
          <a:p>
            <a:pPr indent="0" marL="0">
              <a:buNone/>
            </a:pPr>
            <a:r>
              <a:rPr lang="en-US" sz="1450" dirty="0">
                <a:solidFill>
                  <a:srgbClr val="02C39A"/>
                </a:solidFill>
                <a:latin typeface="Consolas" pitchFamily="34" charset="0"/>
                <a:ea typeface="Consolas" pitchFamily="34" charset="-122"/>
                <a:cs typeface="Consolas" pitchFamily="34" charset="-120"/>
              </a:rPr>
              <a:t>- logger.info("Modeo entrenado correctamente")</a:t>
            </a:r>
            <a:endParaRPr lang="en-US" sz="1450" dirty="0"/>
          </a:p>
          <a:p>
            <a:pPr indent="0" marL="0">
              <a:buNone/>
            </a:pPr>
            <a:r>
              <a:rPr lang="en-US" sz="1450" dirty="0">
                <a:solidFill>
                  <a:srgbClr val="02C39A"/>
                </a:solidFill>
                <a:latin typeface="Consolas" pitchFamily="34" charset="0"/>
                <a:ea typeface="Consolas" pitchFamily="34" charset="-122"/>
                <a:cs typeface="Consolas" pitchFamily="34" charset="-120"/>
              </a:rPr>
              <a:t>+ logger.info("Modelo entrenado correctamente")</a:t>
            </a:r>
            <a:endParaRPr lang="en-US" sz="1450" dirty="0"/>
          </a:p>
        </p:txBody>
      </p:sp>
      <p:sp>
        <p:nvSpPr>
          <p:cNvPr id="8" name="Shape 6"/>
          <p:cNvSpPr/>
          <p:nvPr/>
        </p:nvSpPr>
        <p:spPr>
          <a:xfrm>
            <a:off x="548640" y="3154680"/>
            <a:ext cx="11064240" cy="1417320"/>
          </a:xfrm>
          <a:prstGeom prst="roundRect">
            <a:avLst>
              <a:gd name="adj" fmla="val 7742"/>
            </a:avLst>
          </a:prstGeom>
          <a:solidFill>
            <a:srgbClr val="EFF7F6"/>
          </a:solidFill>
          <a:ln w="19050">
            <a:solidFill>
              <a:srgbClr val="02C39A"/>
            </a:solidFill>
            <a:prstDash val="solid"/>
          </a:ln>
        </p:spPr>
      </p:sp>
      <p:sp>
        <p:nvSpPr>
          <p:cNvPr id="9" name="Text 7"/>
          <p:cNvSpPr txBox="1"/>
          <p:nvPr/>
        </p:nvSpPr>
        <p:spPr>
          <a:xfrm>
            <a:off x="822960" y="3291840"/>
            <a:ext cx="10515600" cy="320040"/>
          </a:xfrm>
          <a:prstGeom prst="rect">
            <a:avLst/>
          </a:prstGeom>
          <a:noFill/>
          <a:ln/>
        </p:spPr>
        <p:txBody>
          <a:bodyPr wrap="square" rtlCol="0" anchor="ctr"/>
          <a:lstStyle/>
          <a:p>
            <a:pPr indent="0" marL="0">
              <a:buNone/>
            </a:pPr>
            <a:r>
              <a:rPr lang="en-US" sz="1200" b="1" spc="150" kern="0" dirty="0">
                <a:solidFill>
                  <a:srgbClr val="02C39A"/>
                </a:solidFill>
                <a:latin typeface="Calibri" pitchFamily="34" charset="0"/>
                <a:ea typeface="Calibri" pitchFamily="34" charset="-122"/>
                <a:cs typeface="Calibri" pitchFamily="34" charset="-120"/>
              </a:rPr>
              <a:t>¿POR QUE?</a:t>
            </a:r>
            <a:endParaRPr lang="en-US" sz="1200" dirty="0"/>
          </a:p>
        </p:txBody>
      </p:sp>
      <p:sp>
        <p:nvSpPr>
          <p:cNvPr id="10" name="Text 8"/>
          <p:cNvSpPr txBox="1"/>
          <p:nvPr/>
        </p:nvSpPr>
        <p:spPr>
          <a:xfrm>
            <a:off x="822960" y="3611880"/>
            <a:ext cx="10515600" cy="868680"/>
          </a:xfrm>
          <a:prstGeom prst="rect">
            <a:avLst/>
          </a:prstGeom>
          <a:noFill/>
          <a:ln/>
        </p:spPr>
        <p:txBody>
          <a:bodyPr wrap="square" rtlCol="0" anchor="ctr"/>
          <a:lstStyle/>
          <a:p>
            <a:pPr indent="0" marL="0">
              <a:buNone/>
            </a:pPr>
            <a:r>
              <a:rPr lang="en-US" sz="1500" dirty="0">
                <a:solidFill>
                  <a:srgbClr val="1B2B2E"/>
                </a:solidFill>
                <a:latin typeface="Calibri" pitchFamily="34" charset="0"/>
                <a:ea typeface="Calibri" pitchFamily="34" charset="-122"/>
                <a:cs typeface="Calibri" pitchFamily="34" charset="-120"/>
              </a:rPr>
              <a:t>No cambia ninguna funcion, ningun parametro, ningun resultado. Es una correccion pura, invisible para cualquier integracion. El caso mas claro de los seis.</a:t>
            </a:r>
            <a:endParaRPr lang="en-US" sz="1500" dirty="0"/>
          </a:p>
        </p:txBody>
      </p:sp>
      <p:sp>
        <p:nvSpPr>
          <p:cNvPr id="11" name="Shape 9"/>
          <p:cNvSpPr/>
          <p:nvPr/>
        </p:nvSpPr>
        <p:spPr>
          <a:xfrm>
            <a:off x="548640" y="4800600"/>
            <a:ext cx="11064240" cy="1417320"/>
          </a:xfrm>
          <a:prstGeom prst="roundRect">
            <a:avLst>
              <a:gd name="adj" fmla="val 7742"/>
            </a:avLst>
          </a:prstGeom>
          <a:solidFill>
            <a:srgbClr val="0B3D42"/>
          </a:solidFill>
          <a:ln/>
        </p:spPr>
      </p:sp>
      <p:sp>
        <p:nvSpPr>
          <p:cNvPr id="12" name="Text 10"/>
          <p:cNvSpPr txBox="1"/>
          <p:nvPr/>
        </p:nvSpPr>
        <p:spPr>
          <a:xfrm>
            <a:off x="822960" y="4937760"/>
            <a:ext cx="1051560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SI TU EQUIPO VOTO DISTINTO...</a:t>
            </a:r>
            <a:endParaRPr lang="en-US" sz="1150" dirty="0"/>
          </a:p>
        </p:txBody>
      </p:sp>
      <p:sp>
        <p:nvSpPr>
          <p:cNvPr id="13" name="Text 11"/>
          <p:cNvSpPr txBox="1"/>
          <p:nvPr/>
        </p:nvSpPr>
        <p:spPr>
          <a:xfrm>
            <a:off x="822960" y="5257800"/>
            <a:ext cx="10515600" cy="868680"/>
          </a:xfrm>
          <a:prstGeom prst="rect">
            <a:avLst/>
          </a:prstGeom>
          <a:noFill/>
          <a:ln/>
        </p:spPr>
        <p:txBody>
          <a:bodyPr wrap="square" rtlCol="0" anchor="ctr"/>
          <a:lstStyle/>
          <a:p>
            <a:pPr indent="0" marL="0">
              <a:buNone/>
            </a:pPr>
            <a:r>
              <a:rPr lang="en-US" sz="1450" i="1" dirty="0">
                <a:solidFill>
                  <a:srgbClr val="F4FBFA"/>
                </a:solidFill>
                <a:latin typeface="Calibri" pitchFamily="34" charset="0"/>
                <a:ea typeface="Calibri" pitchFamily="34" charset="-122"/>
                <a:cs typeface="Calibri" pitchFamily="34" charset="-120"/>
              </a:rPr>
              <a:t>El equipo que dudo entre MINOR y PATCH: si nadie puede "romperse" por el cambio, casi siempre es PATCH.</a:t>
            </a:r>
            <a:endParaRPr lang="en-US" sz="1450" dirty="0"/>
          </a:p>
        </p:txBody>
      </p:sp>
      <p:sp>
        <p:nvSpPr>
          <p:cNvPr id="14" name="Text 12"/>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05 / 10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CASO 4 DE 6</a:t>
            </a:r>
            <a:endParaRPr lang="en-US" sz="1200" dirty="0"/>
          </a:p>
        </p:txBody>
      </p:sp>
      <p:sp>
        <p:nvSpPr>
          <p:cNvPr id="3" name="Text 1"/>
          <p:cNvSpPr txBox="1"/>
          <p:nvPr/>
        </p:nvSpPr>
        <p:spPr>
          <a:xfrm>
            <a:off x="548640" y="411480"/>
            <a:ext cx="7863840" cy="914400"/>
          </a:xfrm>
          <a:prstGeom prst="rect">
            <a:avLst/>
          </a:prstGeom>
          <a:noFill/>
          <a:ln/>
        </p:spPr>
        <p:txBody>
          <a:bodyPr wrap="square" rtlCol="0" anchor="ctr"/>
          <a:lstStyle/>
          <a:p>
            <a:pPr algn="l" indent="0" marL="0">
              <a:buNone/>
            </a:pPr>
            <a:r>
              <a:rPr lang="en-US" sz="2400" b="1" dirty="0">
                <a:solidFill>
                  <a:srgbClr val="1B2B2E"/>
                </a:solidFill>
                <a:latin typeface="Cambria" pitchFamily="34" charset="0"/>
                <a:ea typeface="Cambria" pitchFamily="34" charset="-122"/>
                <a:cs typeface="Cambria" pitchFamily="34" charset="-120"/>
              </a:rPr>
              <a:t>Cambia el valor por defecto de un parametro existente</a:t>
            </a:r>
            <a:endParaRPr lang="en-US" sz="2400" dirty="0"/>
          </a:p>
        </p:txBody>
      </p:sp>
      <p:sp>
        <p:nvSpPr>
          <p:cNvPr id="4" name="Shape 2"/>
          <p:cNvSpPr/>
          <p:nvPr/>
        </p:nvSpPr>
        <p:spPr>
          <a:xfrm>
            <a:off x="8778240" y="438912"/>
            <a:ext cx="2834640" cy="868680"/>
          </a:xfrm>
          <a:prstGeom prst="roundRect">
            <a:avLst>
              <a:gd name="adj" fmla="val 12632"/>
            </a:avLst>
          </a:prstGeom>
          <a:solidFill>
            <a:srgbClr val="D7263D"/>
          </a:solidFill>
          <a:ln/>
        </p:spPr>
      </p:sp>
      <p:sp>
        <p:nvSpPr>
          <p:cNvPr id="5" name="Text 3"/>
          <p:cNvSpPr txBox="1"/>
          <p:nvPr/>
        </p:nvSpPr>
        <p:spPr>
          <a:xfrm>
            <a:off x="8778240" y="438912"/>
            <a:ext cx="2834640" cy="8686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MAJOR</a:t>
            </a:r>
            <a:endParaRPr lang="en-US" sz="2400" dirty="0"/>
          </a:p>
        </p:txBody>
      </p:sp>
      <p:sp>
        <p:nvSpPr>
          <p:cNvPr id="6" name="Shape 4"/>
          <p:cNvSpPr/>
          <p:nvPr/>
        </p:nvSpPr>
        <p:spPr>
          <a:xfrm>
            <a:off x="548640" y="1508760"/>
            <a:ext cx="11064240" cy="1417320"/>
          </a:xfrm>
          <a:prstGeom prst="roundRect">
            <a:avLst>
              <a:gd name="adj" fmla="val 7742"/>
            </a:avLst>
          </a:prstGeom>
          <a:solidFill>
            <a:srgbClr val="1B2B2E"/>
          </a:solidFill>
          <a:ln/>
        </p:spPr>
      </p:sp>
      <p:sp>
        <p:nvSpPr>
          <p:cNvPr id="7" name="Text 5"/>
          <p:cNvSpPr txBox="1"/>
          <p:nvPr/>
        </p:nvSpPr>
        <p:spPr>
          <a:xfrm>
            <a:off x="822960" y="1645920"/>
            <a:ext cx="10515600" cy="1143000"/>
          </a:xfrm>
          <a:prstGeom prst="rect">
            <a:avLst/>
          </a:prstGeom>
          <a:noFill/>
          <a:ln/>
        </p:spPr>
        <p:txBody>
          <a:bodyPr wrap="square" rtlCol="0" anchor="ctr"/>
          <a:lstStyle/>
          <a:p>
            <a:pPr indent="0" marL="0">
              <a:buNone/>
            </a:pPr>
            <a:r>
              <a:rPr lang="en-US" sz="1450" dirty="0">
                <a:solidFill>
                  <a:srgbClr val="D7263D"/>
                </a:solidFill>
                <a:latin typeface="Consolas" pitchFamily="34" charset="0"/>
                <a:ea typeface="Consolas" pitchFamily="34" charset="-122"/>
                <a:cs typeface="Consolas" pitchFamily="34" charset="-120"/>
              </a:rPr>
              <a:t>  def train_test_split(X, y, test_size=0.2):</a:t>
            </a:r>
            <a:endParaRPr lang="en-US" sz="1450" dirty="0"/>
          </a:p>
          <a:p>
            <a:pPr indent="0" marL="0">
              <a:buNone/>
            </a:pPr>
            <a:r>
              <a:rPr lang="en-US" sz="1450" dirty="0">
                <a:solidFill>
                  <a:srgbClr val="D7263D"/>
                </a:solidFill>
                <a:latin typeface="Consolas" pitchFamily="34" charset="0"/>
                <a:ea typeface="Consolas" pitchFamily="34" charset="-122"/>
                <a:cs typeface="Consolas" pitchFamily="34" charset="-120"/>
              </a:rPr>
              <a:t>+     def train_test_split(X, y, test_size=0.3):</a:t>
            </a:r>
            <a:endParaRPr lang="en-US" sz="1450" dirty="0"/>
          </a:p>
          <a:p>
            <a:pPr indent="0" marL="0">
              <a:buNone/>
            </a:pPr>
            <a:r>
              <a:rPr lang="en-US" sz="1450" dirty="0">
                <a:solidFill>
                  <a:srgbClr val="D7263D"/>
                </a:solidFill>
                <a:latin typeface="Consolas" pitchFamily="34" charset="0"/>
                <a:ea typeface="Consolas" pitchFamily="34" charset="-122"/>
                <a:cs typeface="Consolas" pitchFamily="34" charset="-120"/>
              </a:rPr>
              <a:t>          ...</a:t>
            </a:r>
            <a:endParaRPr lang="en-US" sz="1450" dirty="0"/>
          </a:p>
        </p:txBody>
      </p:sp>
      <p:sp>
        <p:nvSpPr>
          <p:cNvPr id="8" name="Shape 6"/>
          <p:cNvSpPr/>
          <p:nvPr/>
        </p:nvSpPr>
        <p:spPr>
          <a:xfrm>
            <a:off x="548640" y="3154680"/>
            <a:ext cx="11064240" cy="1417320"/>
          </a:xfrm>
          <a:prstGeom prst="roundRect">
            <a:avLst>
              <a:gd name="adj" fmla="val 7742"/>
            </a:avLst>
          </a:prstGeom>
          <a:solidFill>
            <a:srgbClr val="EFF7F6"/>
          </a:solidFill>
          <a:ln w="19050">
            <a:solidFill>
              <a:srgbClr val="D7263D"/>
            </a:solidFill>
            <a:prstDash val="solid"/>
          </a:ln>
        </p:spPr>
      </p:sp>
      <p:sp>
        <p:nvSpPr>
          <p:cNvPr id="9" name="Text 7"/>
          <p:cNvSpPr txBox="1"/>
          <p:nvPr/>
        </p:nvSpPr>
        <p:spPr>
          <a:xfrm>
            <a:off x="822960" y="3291840"/>
            <a:ext cx="10515600" cy="320040"/>
          </a:xfrm>
          <a:prstGeom prst="rect">
            <a:avLst/>
          </a:prstGeom>
          <a:noFill/>
          <a:ln/>
        </p:spPr>
        <p:txBody>
          <a:bodyPr wrap="square" rtlCol="0" anchor="ctr"/>
          <a:lstStyle/>
          <a:p>
            <a:pPr indent="0" marL="0">
              <a:buNone/>
            </a:pPr>
            <a:r>
              <a:rPr lang="en-US" sz="1200" b="1" spc="150" kern="0" dirty="0">
                <a:solidFill>
                  <a:srgbClr val="D7263D"/>
                </a:solidFill>
                <a:latin typeface="Calibri" pitchFamily="34" charset="0"/>
                <a:ea typeface="Calibri" pitchFamily="34" charset="-122"/>
                <a:cs typeface="Calibri" pitchFamily="34" charset="-120"/>
              </a:rPr>
              <a:t>¿POR QUE?</a:t>
            </a:r>
            <a:endParaRPr lang="en-US" sz="1200" dirty="0"/>
          </a:p>
        </p:txBody>
      </p:sp>
      <p:sp>
        <p:nvSpPr>
          <p:cNvPr id="10" name="Text 8"/>
          <p:cNvSpPr txBox="1"/>
          <p:nvPr/>
        </p:nvSpPr>
        <p:spPr>
          <a:xfrm>
            <a:off x="822960" y="3611880"/>
            <a:ext cx="10515600" cy="868680"/>
          </a:xfrm>
          <a:prstGeom prst="rect">
            <a:avLst/>
          </a:prstGeom>
          <a:noFill/>
          <a:ln/>
        </p:spPr>
        <p:txBody>
          <a:bodyPr wrap="square" rtlCol="0" anchor="ctr"/>
          <a:lstStyle/>
          <a:p>
            <a:pPr indent="0" marL="0">
              <a:buNone/>
            </a:pPr>
            <a:r>
              <a:rPr lang="en-US" sz="1500" dirty="0">
                <a:solidFill>
                  <a:srgbClr val="1B2B2E"/>
                </a:solidFill>
                <a:latin typeface="Calibri" pitchFamily="34" charset="0"/>
                <a:ea typeface="Calibri" pitchFamily="34" charset="-122"/>
                <a:cs typeface="Calibri" pitchFamily="34" charset="-120"/>
              </a:rPr>
              <a:t>El nombre del parametro sigue igual, pero el comportamiento cambio para todo el que no lo especifica explicitamente. Eso es un cambio silencioso e inesperado: la definicion tipica de un breaking change.</a:t>
            </a:r>
            <a:endParaRPr lang="en-US" sz="1500" dirty="0"/>
          </a:p>
        </p:txBody>
      </p:sp>
      <p:sp>
        <p:nvSpPr>
          <p:cNvPr id="11" name="Shape 9"/>
          <p:cNvSpPr/>
          <p:nvPr/>
        </p:nvSpPr>
        <p:spPr>
          <a:xfrm>
            <a:off x="548640" y="4800600"/>
            <a:ext cx="11064240" cy="1417320"/>
          </a:xfrm>
          <a:prstGeom prst="roundRect">
            <a:avLst>
              <a:gd name="adj" fmla="val 7742"/>
            </a:avLst>
          </a:prstGeom>
          <a:solidFill>
            <a:srgbClr val="0B3D42"/>
          </a:solidFill>
          <a:ln/>
        </p:spPr>
      </p:sp>
      <p:sp>
        <p:nvSpPr>
          <p:cNvPr id="12" name="Text 10"/>
          <p:cNvSpPr txBox="1"/>
          <p:nvPr/>
        </p:nvSpPr>
        <p:spPr>
          <a:xfrm>
            <a:off x="822960" y="4937760"/>
            <a:ext cx="1051560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SI TU EQUIPO VOTO DISTINTO...</a:t>
            </a:r>
            <a:endParaRPr lang="en-US" sz="1150" dirty="0"/>
          </a:p>
        </p:txBody>
      </p:sp>
      <p:sp>
        <p:nvSpPr>
          <p:cNvPr id="13" name="Text 11"/>
          <p:cNvSpPr txBox="1"/>
          <p:nvPr/>
        </p:nvSpPr>
        <p:spPr>
          <a:xfrm>
            <a:off x="822960" y="5257800"/>
            <a:ext cx="10515600" cy="868680"/>
          </a:xfrm>
          <a:prstGeom prst="rect">
            <a:avLst/>
          </a:prstGeom>
          <a:noFill/>
          <a:ln/>
        </p:spPr>
        <p:txBody>
          <a:bodyPr wrap="square" rtlCol="0" anchor="ctr"/>
          <a:lstStyle/>
          <a:p>
            <a:pPr indent="0" marL="0">
              <a:buNone/>
            </a:pPr>
            <a:r>
              <a:rPr lang="en-US" sz="1450" i="1" dirty="0">
                <a:solidFill>
                  <a:srgbClr val="F4FBFA"/>
                </a:solidFill>
                <a:latin typeface="Calibri" pitchFamily="34" charset="0"/>
                <a:ea typeface="Calibri" pitchFamily="34" charset="-122"/>
                <a:cs typeface="Calibri" pitchFamily="34" charset="-120"/>
              </a:rPr>
              <a:t>"Es solo un default..." — Y por eso mismo es el mas peligroso: nadie lo pidio, y a todos les cambio el resultado.</a:t>
            </a:r>
            <a:endParaRPr lang="en-US" sz="1450" dirty="0"/>
          </a:p>
        </p:txBody>
      </p:sp>
      <p:sp>
        <p:nvSpPr>
          <p:cNvPr id="14" name="Text 12"/>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06 / 10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CASO 5 DE 6</a:t>
            </a:r>
            <a:endParaRPr lang="en-US" sz="1200" dirty="0"/>
          </a:p>
        </p:txBody>
      </p:sp>
      <p:sp>
        <p:nvSpPr>
          <p:cNvPr id="3" name="Text 1"/>
          <p:cNvSpPr txBox="1"/>
          <p:nvPr/>
        </p:nvSpPr>
        <p:spPr>
          <a:xfrm>
            <a:off x="548640" y="411480"/>
            <a:ext cx="7863840" cy="914400"/>
          </a:xfrm>
          <a:prstGeom prst="rect">
            <a:avLst/>
          </a:prstGeom>
          <a:noFill/>
          <a:ln/>
        </p:spPr>
        <p:txBody>
          <a:bodyPr wrap="square" rtlCol="0" anchor="ctr"/>
          <a:lstStyle/>
          <a:p>
            <a:pPr algn="l" indent="0" marL="0">
              <a:buNone/>
            </a:pPr>
            <a:r>
              <a:rPr lang="en-US" sz="2400" b="1" dirty="0">
                <a:solidFill>
                  <a:srgbClr val="1B2B2E"/>
                </a:solidFill>
                <a:latin typeface="Cambria" pitchFamily="34" charset="0"/>
                <a:ea typeface="Cambria" pitchFamily="34" charset="-122"/>
                <a:cs typeface="Cambria" pitchFamily="34" charset="-120"/>
              </a:rPr>
              <a:t>Reescribe el algoritmo interno de una funcion</a:t>
            </a:r>
            <a:endParaRPr lang="en-US" sz="2400" dirty="0"/>
          </a:p>
        </p:txBody>
      </p:sp>
      <p:sp>
        <p:nvSpPr>
          <p:cNvPr id="4" name="Shape 2"/>
          <p:cNvSpPr/>
          <p:nvPr/>
        </p:nvSpPr>
        <p:spPr>
          <a:xfrm>
            <a:off x="8778240" y="438912"/>
            <a:ext cx="2834640" cy="868680"/>
          </a:xfrm>
          <a:prstGeom prst="roundRect">
            <a:avLst>
              <a:gd name="adj" fmla="val 12632"/>
            </a:avLst>
          </a:prstGeom>
          <a:solidFill>
            <a:srgbClr val="02C39A"/>
          </a:solidFill>
          <a:ln/>
        </p:spPr>
      </p:sp>
      <p:sp>
        <p:nvSpPr>
          <p:cNvPr id="5" name="Text 3"/>
          <p:cNvSpPr txBox="1"/>
          <p:nvPr/>
        </p:nvSpPr>
        <p:spPr>
          <a:xfrm>
            <a:off x="8778240" y="438912"/>
            <a:ext cx="2834640" cy="8686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PATCH</a:t>
            </a:r>
            <a:endParaRPr lang="en-US" sz="2400" dirty="0"/>
          </a:p>
        </p:txBody>
      </p:sp>
      <p:sp>
        <p:nvSpPr>
          <p:cNvPr id="6" name="Shape 4"/>
          <p:cNvSpPr/>
          <p:nvPr/>
        </p:nvSpPr>
        <p:spPr>
          <a:xfrm>
            <a:off x="548640" y="1508760"/>
            <a:ext cx="11064240" cy="1417320"/>
          </a:xfrm>
          <a:prstGeom prst="roundRect">
            <a:avLst>
              <a:gd name="adj" fmla="val 7742"/>
            </a:avLst>
          </a:prstGeom>
          <a:solidFill>
            <a:srgbClr val="1B2B2E"/>
          </a:solidFill>
          <a:ln/>
        </p:spPr>
      </p:sp>
      <p:sp>
        <p:nvSpPr>
          <p:cNvPr id="7" name="Text 5"/>
          <p:cNvSpPr txBox="1"/>
          <p:nvPr/>
        </p:nvSpPr>
        <p:spPr>
          <a:xfrm>
            <a:off x="822960" y="1645920"/>
            <a:ext cx="10515600" cy="1143000"/>
          </a:xfrm>
          <a:prstGeom prst="rect">
            <a:avLst/>
          </a:prstGeom>
          <a:noFill/>
          <a:ln/>
        </p:spPr>
        <p:txBody>
          <a:bodyPr wrap="square" rtlCol="0" anchor="ctr"/>
          <a:lstStyle/>
          <a:p>
            <a:pPr indent="0" marL="0">
              <a:buNone/>
            </a:pPr>
            <a:r>
              <a:rPr lang="en-US" sz="1450" dirty="0">
                <a:solidFill>
                  <a:srgbClr val="02C39A"/>
                </a:solidFill>
                <a:latin typeface="Consolas" pitchFamily="34" charset="0"/>
                <a:ea typeface="Consolas" pitchFamily="34" charset="-122"/>
                <a:cs typeface="Consolas" pitchFamily="34" charset="-120"/>
              </a:rPr>
              <a:t># Misma firma, mismo resultado, el doble de rapido</a:t>
            </a:r>
            <a:endParaRPr lang="en-US" sz="1450" dirty="0"/>
          </a:p>
          <a:p>
            <a:pPr indent="0" marL="0">
              <a:buNone/>
            </a:pPr>
            <a:r>
              <a:rPr lang="en-US" sz="1450" dirty="0">
                <a:solidFill>
                  <a:srgbClr val="02C39A"/>
                </a:solidFill>
                <a:latin typeface="Consolas" pitchFamily="34" charset="0"/>
                <a:ea typeface="Consolas" pitchFamily="34" charset="-122"/>
                <a:cs typeface="Consolas" pitchFamily="34" charset="-120"/>
              </a:rPr>
              <a:t>  def calcular_distancias(puntos):</a:t>
            </a:r>
            <a:endParaRPr lang="en-US" sz="1450" dirty="0"/>
          </a:p>
          <a:p>
            <a:pPr indent="0" marL="0">
              <a:buNone/>
            </a:pPr>
            <a:r>
              <a:rPr lang="en-US" sz="1450" dirty="0">
                <a:solidFill>
                  <a:srgbClr val="02C39A"/>
                </a:solidFill>
                <a:latin typeface="Consolas" pitchFamily="34" charset="0"/>
                <a:ea typeface="Consolas" pitchFamily="34" charset="-122"/>
                <a:cs typeface="Consolas" pitchFamily="34" charset="-120"/>
              </a:rPr>
              <a:t>-     # implementacion O(n^2)</a:t>
            </a:r>
            <a:endParaRPr lang="en-US" sz="1450" dirty="0"/>
          </a:p>
          <a:p>
            <a:pPr indent="0" marL="0">
              <a:buNone/>
            </a:pPr>
            <a:r>
              <a:rPr lang="en-US" sz="1450" dirty="0">
                <a:solidFill>
                  <a:srgbClr val="02C39A"/>
                </a:solidFill>
                <a:latin typeface="Consolas" pitchFamily="34" charset="0"/>
                <a:ea typeface="Consolas" pitchFamily="34" charset="-122"/>
                <a:cs typeface="Consolas" pitchFamily="34" charset="-120"/>
              </a:rPr>
              <a:t>+     # implementacion vectorizada, O(n log n)</a:t>
            </a:r>
            <a:endParaRPr lang="en-US" sz="1450" dirty="0"/>
          </a:p>
        </p:txBody>
      </p:sp>
      <p:sp>
        <p:nvSpPr>
          <p:cNvPr id="8" name="Shape 6"/>
          <p:cNvSpPr/>
          <p:nvPr/>
        </p:nvSpPr>
        <p:spPr>
          <a:xfrm>
            <a:off x="548640" y="3154680"/>
            <a:ext cx="11064240" cy="1417320"/>
          </a:xfrm>
          <a:prstGeom prst="roundRect">
            <a:avLst>
              <a:gd name="adj" fmla="val 7742"/>
            </a:avLst>
          </a:prstGeom>
          <a:solidFill>
            <a:srgbClr val="EFF7F6"/>
          </a:solidFill>
          <a:ln w="19050">
            <a:solidFill>
              <a:srgbClr val="02C39A"/>
            </a:solidFill>
            <a:prstDash val="solid"/>
          </a:ln>
        </p:spPr>
      </p:sp>
      <p:sp>
        <p:nvSpPr>
          <p:cNvPr id="9" name="Text 7"/>
          <p:cNvSpPr txBox="1"/>
          <p:nvPr/>
        </p:nvSpPr>
        <p:spPr>
          <a:xfrm>
            <a:off x="822960" y="3291840"/>
            <a:ext cx="10515600" cy="320040"/>
          </a:xfrm>
          <a:prstGeom prst="rect">
            <a:avLst/>
          </a:prstGeom>
          <a:noFill/>
          <a:ln/>
        </p:spPr>
        <p:txBody>
          <a:bodyPr wrap="square" rtlCol="0" anchor="ctr"/>
          <a:lstStyle/>
          <a:p>
            <a:pPr indent="0" marL="0">
              <a:buNone/>
            </a:pPr>
            <a:r>
              <a:rPr lang="en-US" sz="1200" b="1" spc="150" kern="0" dirty="0">
                <a:solidFill>
                  <a:srgbClr val="02C39A"/>
                </a:solidFill>
                <a:latin typeface="Calibri" pitchFamily="34" charset="0"/>
                <a:ea typeface="Calibri" pitchFamily="34" charset="-122"/>
                <a:cs typeface="Calibri" pitchFamily="34" charset="-120"/>
              </a:rPr>
              <a:t>¿POR QUE?</a:t>
            </a:r>
            <a:endParaRPr lang="en-US" sz="1200" dirty="0"/>
          </a:p>
        </p:txBody>
      </p:sp>
      <p:sp>
        <p:nvSpPr>
          <p:cNvPr id="10" name="Text 8"/>
          <p:cNvSpPr txBox="1"/>
          <p:nvPr/>
        </p:nvSpPr>
        <p:spPr>
          <a:xfrm>
            <a:off x="822960" y="3611880"/>
            <a:ext cx="10515600" cy="868680"/>
          </a:xfrm>
          <a:prstGeom prst="rect">
            <a:avLst/>
          </a:prstGeom>
          <a:noFill/>
          <a:ln/>
        </p:spPr>
        <p:txBody>
          <a:bodyPr wrap="square" rtlCol="0" anchor="ctr"/>
          <a:lstStyle/>
          <a:p>
            <a:pPr indent="0" marL="0">
              <a:buNone/>
            </a:pPr>
            <a:r>
              <a:rPr lang="en-US" sz="1500" dirty="0">
                <a:solidFill>
                  <a:srgbClr val="1B2B2E"/>
                </a:solidFill>
                <a:latin typeface="Calibri" pitchFamily="34" charset="0"/>
                <a:ea typeface="Calibri" pitchFamily="34" charset="-122"/>
                <a:cs typeface="Calibri" pitchFamily="34" charset="-120"/>
              </a:rPr>
              <a:t>Misma entrada, misma salida, misma firma. Lo unico que cambio fue lo que pasa "por dentro" de la funcion, y eso no es observable desde afuera. Una mejora interna transparente es PATCH, aunque haya sido mucho trabajo.</a:t>
            </a:r>
            <a:endParaRPr lang="en-US" sz="1500" dirty="0"/>
          </a:p>
        </p:txBody>
      </p:sp>
      <p:sp>
        <p:nvSpPr>
          <p:cNvPr id="11" name="Shape 9"/>
          <p:cNvSpPr/>
          <p:nvPr/>
        </p:nvSpPr>
        <p:spPr>
          <a:xfrm>
            <a:off x="548640" y="4800600"/>
            <a:ext cx="11064240" cy="1417320"/>
          </a:xfrm>
          <a:prstGeom prst="roundRect">
            <a:avLst>
              <a:gd name="adj" fmla="val 7742"/>
            </a:avLst>
          </a:prstGeom>
          <a:solidFill>
            <a:srgbClr val="0B3D42"/>
          </a:solidFill>
          <a:ln/>
        </p:spPr>
      </p:sp>
      <p:sp>
        <p:nvSpPr>
          <p:cNvPr id="12" name="Text 10"/>
          <p:cNvSpPr txBox="1"/>
          <p:nvPr/>
        </p:nvSpPr>
        <p:spPr>
          <a:xfrm>
            <a:off x="822960" y="4937760"/>
            <a:ext cx="1051560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SI TU EQUIPO VOTO DISTINTO...</a:t>
            </a:r>
            <a:endParaRPr lang="en-US" sz="1150" dirty="0"/>
          </a:p>
        </p:txBody>
      </p:sp>
      <p:sp>
        <p:nvSpPr>
          <p:cNvPr id="13" name="Text 11"/>
          <p:cNvSpPr txBox="1"/>
          <p:nvPr/>
        </p:nvSpPr>
        <p:spPr>
          <a:xfrm>
            <a:off x="822960" y="5257800"/>
            <a:ext cx="10515600" cy="868680"/>
          </a:xfrm>
          <a:prstGeom prst="rect">
            <a:avLst/>
          </a:prstGeom>
          <a:noFill/>
          <a:ln/>
        </p:spPr>
        <p:txBody>
          <a:bodyPr wrap="square" rtlCol="0" anchor="ctr"/>
          <a:lstStyle/>
          <a:p>
            <a:pPr indent="0" marL="0">
              <a:buNone/>
            </a:pPr>
            <a:r>
              <a:rPr lang="en-US" sz="1450" i="1" dirty="0">
                <a:solidFill>
                  <a:srgbClr val="F4FBFA"/>
                </a:solidFill>
                <a:latin typeface="Calibri" pitchFamily="34" charset="0"/>
                <a:ea typeface="Calibri" pitchFamily="34" charset="-122"/>
                <a:cs typeface="Calibri" pitchFamily="34" charset="-120"/>
              </a:rPr>
              <a:t>El equipo que dijo MINOR porque "se sintio como una mejora grande": el tamano del esfuerzo no define la version, el impacto observable si.</a:t>
            </a:r>
            <a:endParaRPr lang="en-US" sz="1450" dirty="0"/>
          </a:p>
        </p:txBody>
      </p:sp>
      <p:sp>
        <p:nvSpPr>
          <p:cNvPr id="14" name="Text 12"/>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07 / 10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CASO 6 DE 6</a:t>
            </a:r>
            <a:endParaRPr lang="en-US" sz="1200" dirty="0"/>
          </a:p>
        </p:txBody>
      </p:sp>
      <p:sp>
        <p:nvSpPr>
          <p:cNvPr id="3" name="Text 1"/>
          <p:cNvSpPr txBox="1"/>
          <p:nvPr/>
        </p:nvSpPr>
        <p:spPr>
          <a:xfrm>
            <a:off x="548640" y="411480"/>
            <a:ext cx="7863840" cy="914400"/>
          </a:xfrm>
          <a:prstGeom prst="rect">
            <a:avLst/>
          </a:prstGeom>
          <a:noFill/>
          <a:ln/>
        </p:spPr>
        <p:txBody>
          <a:bodyPr wrap="square" rtlCol="0" anchor="ctr"/>
          <a:lstStyle/>
          <a:p>
            <a:pPr algn="l" indent="0" marL="0">
              <a:buNone/>
            </a:pPr>
            <a:r>
              <a:rPr lang="en-US" sz="2400" b="1" dirty="0">
                <a:solidFill>
                  <a:srgbClr val="1B2B2E"/>
                </a:solidFill>
                <a:latin typeface="Cambria" pitchFamily="34" charset="0"/>
                <a:ea typeface="Cambria" pitchFamily="34" charset="-122"/>
                <a:cs typeface="Cambria" pitchFamily="34" charset="-120"/>
              </a:rPr>
              <a:t>Agrega un endpoint nuevo a la API</a:t>
            </a:r>
            <a:endParaRPr lang="en-US" sz="2400" dirty="0"/>
          </a:p>
        </p:txBody>
      </p:sp>
      <p:sp>
        <p:nvSpPr>
          <p:cNvPr id="4" name="Shape 2"/>
          <p:cNvSpPr/>
          <p:nvPr/>
        </p:nvSpPr>
        <p:spPr>
          <a:xfrm>
            <a:off x="8778240" y="438912"/>
            <a:ext cx="2834640" cy="868680"/>
          </a:xfrm>
          <a:prstGeom prst="roundRect">
            <a:avLst>
              <a:gd name="adj" fmla="val 12632"/>
            </a:avLst>
          </a:prstGeom>
          <a:solidFill>
            <a:srgbClr val="028090"/>
          </a:solidFill>
          <a:ln/>
        </p:spPr>
      </p:sp>
      <p:sp>
        <p:nvSpPr>
          <p:cNvPr id="5" name="Text 3"/>
          <p:cNvSpPr txBox="1"/>
          <p:nvPr/>
        </p:nvSpPr>
        <p:spPr>
          <a:xfrm>
            <a:off x="8778240" y="438912"/>
            <a:ext cx="2834640" cy="86868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MINOR</a:t>
            </a:r>
            <a:endParaRPr lang="en-US" sz="2400" dirty="0"/>
          </a:p>
        </p:txBody>
      </p:sp>
      <p:sp>
        <p:nvSpPr>
          <p:cNvPr id="6" name="Shape 4"/>
          <p:cNvSpPr/>
          <p:nvPr/>
        </p:nvSpPr>
        <p:spPr>
          <a:xfrm>
            <a:off x="548640" y="1508760"/>
            <a:ext cx="11064240" cy="1417320"/>
          </a:xfrm>
          <a:prstGeom prst="roundRect">
            <a:avLst>
              <a:gd name="adj" fmla="val 7742"/>
            </a:avLst>
          </a:prstGeom>
          <a:solidFill>
            <a:srgbClr val="1B2B2E"/>
          </a:solidFill>
          <a:ln/>
        </p:spPr>
      </p:sp>
      <p:sp>
        <p:nvSpPr>
          <p:cNvPr id="7" name="Text 5"/>
          <p:cNvSpPr txBox="1"/>
          <p:nvPr/>
        </p:nvSpPr>
        <p:spPr>
          <a:xfrm>
            <a:off x="822960" y="1645920"/>
            <a:ext cx="10515600" cy="1143000"/>
          </a:xfrm>
          <a:prstGeom prst="rect">
            <a:avLst/>
          </a:prstGeom>
          <a:noFill/>
          <a:ln/>
        </p:spPr>
        <p:txBody>
          <a:bodyPr wrap="square" rtlCol="0" anchor="ctr"/>
          <a:lstStyle/>
          <a:p>
            <a:pPr indent="0" marL="0">
              <a:buNone/>
            </a:pPr>
            <a:r>
              <a:rPr lang="en-US" sz="1450" dirty="0">
                <a:solidFill>
                  <a:srgbClr val="028090"/>
                </a:solidFill>
                <a:latin typeface="Consolas" pitchFamily="34" charset="0"/>
                <a:ea typeface="Consolas" pitchFamily="34" charset="-122"/>
                <a:cs typeface="Consolas" pitchFamily="34" charset="-120"/>
              </a:rPr>
              <a:t>  POST /v1/predict         (sigue funcionando igual)</a:t>
            </a:r>
            <a:endParaRPr lang="en-US" sz="1450" dirty="0"/>
          </a:p>
          <a:p>
            <a:pPr indent="0" marL="0">
              <a:buNone/>
            </a:pPr>
            <a:r>
              <a:rPr lang="en-US" sz="1450" dirty="0">
                <a:solidFill>
                  <a:srgbClr val="028090"/>
                </a:solidFill>
                <a:latin typeface="Consolas" pitchFamily="34" charset="0"/>
                <a:ea typeface="Consolas" pitchFamily="34" charset="-122"/>
                <a:cs typeface="Consolas" pitchFamily="34" charset="-120"/>
              </a:rPr>
              <a:t>+ POST /v2/predict         (nuevo, formato de respuesta distinto)</a:t>
            </a:r>
            <a:endParaRPr lang="en-US" sz="1450" dirty="0"/>
          </a:p>
        </p:txBody>
      </p:sp>
      <p:sp>
        <p:nvSpPr>
          <p:cNvPr id="8" name="Shape 6"/>
          <p:cNvSpPr/>
          <p:nvPr/>
        </p:nvSpPr>
        <p:spPr>
          <a:xfrm>
            <a:off x="548640" y="3154680"/>
            <a:ext cx="11064240" cy="1417320"/>
          </a:xfrm>
          <a:prstGeom prst="roundRect">
            <a:avLst>
              <a:gd name="adj" fmla="val 7742"/>
            </a:avLst>
          </a:prstGeom>
          <a:solidFill>
            <a:srgbClr val="EFF7F6"/>
          </a:solidFill>
          <a:ln w="19050">
            <a:solidFill>
              <a:srgbClr val="028090"/>
            </a:solidFill>
            <a:prstDash val="solid"/>
          </a:ln>
        </p:spPr>
      </p:sp>
      <p:sp>
        <p:nvSpPr>
          <p:cNvPr id="9" name="Text 7"/>
          <p:cNvSpPr txBox="1"/>
          <p:nvPr/>
        </p:nvSpPr>
        <p:spPr>
          <a:xfrm>
            <a:off x="822960" y="3291840"/>
            <a:ext cx="10515600" cy="320040"/>
          </a:xfrm>
          <a:prstGeom prst="rect">
            <a:avLst/>
          </a:prstGeom>
          <a:noFill/>
          <a:ln/>
        </p:spPr>
        <p:txBody>
          <a:bodyPr wrap="square" rtlCol="0" anchor="ctr"/>
          <a:lstStyle/>
          <a:p>
            <a:pPr indent="0" marL="0">
              <a:buNone/>
            </a:pPr>
            <a:r>
              <a:rPr lang="en-US" sz="1200" b="1" spc="150" kern="0" dirty="0">
                <a:solidFill>
                  <a:srgbClr val="028090"/>
                </a:solidFill>
                <a:latin typeface="Calibri" pitchFamily="34" charset="0"/>
                <a:ea typeface="Calibri" pitchFamily="34" charset="-122"/>
                <a:cs typeface="Calibri" pitchFamily="34" charset="-120"/>
              </a:rPr>
              <a:t>¿POR QUE?</a:t>
            </a:r>
            <a:endParaRPr lang="en-US" sz="1200" dirty="0"/>
          </a:p>
        </p:txBody>
      </p:sp>
      <p:sp>
        <p:nvSpPr>
          <p:cNvPr id="10" name="Text 8"/>
          <p:cNvSpPr txBox="1"/>
          <p:nvPr/>
        </p:nvSpPr>
        <p:spPr>
          <a:xfrm>
            <a:off x="822960" y="3611880"/>
            <a:ext cx="10515600" cy="868680"/>
          </a:xfrm>
          <a:prstGeom prst="rect">
            <a:avLst/>
          </a:prstGeom>
          <a:noFill/>
          <a:ln/>
        </p:spPr>
        <p:txBody>
          <a:bodyPr wrap="square" rtlCol="0" anchor="ctr"/>
          <a:lstStyle/>
          <a:p>
            <a:pPr indent="0" marL="0">
              <a:buNone/>
            </a:pPr>
            <a:r>
              <a:rPr lang="en-US" sz="1500" dirty="0">
                <a:solidFill>
                  <a:srgbClr val="1B2B2E"/>
                </a:solidFill>
                <a:latin typeface="Calibri" pitchFamily="34" charset="0"/>
                <a:ea typeface="Calibri" pitchFamily="34" charset="-122"/>
                <a:cs typeface="Calibri" pitchFamily="34" charset="-120"/>
              </a:rPr>
              <a:t>Se agrego capacidad nueva (un endpoint adicional) sin tocar ni remover /v1/predict. Quien nunca se entera de /v2/predict, sigue funcionando exactamente igual que antes.</a:t>
            </a:r>
            <a:endParaRPr lang="en-US" sz="1500" dirty="0"/>
          </a:p>
        </p:txBody>
      </p:sp>
      <p:sp>
        <p:nvSpPr>
          <p:cNvPr id="11" name="Shape 9"/>
          <p:cNvSpPr/>
          <p:nvPr/>
        </p:nvSpPr>
        <p:spPr>
          <a:xfrm>
            <a:off x="548640" y="4800600"/>
            <a:ext cx="11064240" cy="1417320"/>
          </a:xfrm>
          <a:prstGeom prst="roundRect">
            <a:avLst>
              <a:gd name="adj" fmla="val 7742"/>
            </a:avLst>
          </a:prstGeom>
          <a:solidFill>
            <a:srgbClr val="0B3D42"/>
          </a:solidFill>
          <a:ln/>
        </p:spPr>
      </p:sp>
      <p:sp>
        <p:nvSpPr>
          <p:cNvPr id="12" name="Text 10"/>
          <p:cNvSpPr txBox="1"/>
          <p:nvPr/>
        </p:nvSpPr>
        <p:spPr>
          <a:xfrm>
            <a:off x="822960" y="4937760"/>
            <a:ext cx="10515600" cy="320040"/>
          </a:xfrm>
          <a:prstGeom prst="rect">
            <a:avLst/>
          </a:prstGeom>
          <a:noFill/>
          <a:ln/>
        </p:spPr>
        <p:txBody>
          <a:bodyPr wrap="square" rtlCol="0" anchor="ctr"/>
          <a:lstStyle/>
          <a:p>
            <a:pPr indent="0" marL="0">
              <a:buNone/>
            </a:pPr>
            <a:r>
              <a:rPr lang="en-US" sz="1150" b="1" spc="100" kern="0" dirty="0">
                <a:solidFill>
                  <a:srgbClr val="02C39A"/>
                </a:solidFill>
                <a:latin typeface="Calibri" pitchFamily="34" charset="0"/>
                <a:ea typeface="Calibri" pitchFamily="34" charset="-122"/>
                <a:cs typeface="Calibri" pitchFamily="34" charset="-120"/>
              </a:rPr>
              <a:t>SI TU EQUIPO VOTO DISTINTO...</a:t>
            </a:r>
            <a:endParaRPr lang="en-US" sz="1150" dirty="0"/>
          </a:p>
        </p:txBody>
      </p:sp>
      <p:sp>
        <p:nvSpPr>
          <p:cNvPr id="13" name="Text 11"/>
          <p:cNvSpPr txBox="1"/>
          <p:nvPr/>
        </p:nvSpPr>
        <p:spPr>
          <a:xfrm>
            <a:off x="822960" y="5257800"/>
            <a:ext cx="10515600" cy="868680"/>
          </a:xfrm>
          <a:prstGeom prst="rect">
            <a:avLst/>
          </a:prstGeom>
          <a:noFill/>
          <a:ln/>
        </p:spPr>
        <p:txBody>
          <a:bodyPr wrap="square" rtlCol="0" anchor="ctr"/>
          <a:lstStyle/>
          <a:p>
            <a:pPr indent="0" marL="0">
              <a:buNone/>
            </a:pPr>
            <a:r>
              <a:rPr lang="en-US" sz="1450" i="1" dirty="0">
                <a:solidFill>
                  <a:srgbClr val="F4FBFA"/>
                </a:solidFill>
                <a:latin typeface="Calibri" pitchFamily="34" charset="0"/>
                <a:ea typeface="Calibri" pitchFamily="34" charset="-122"/>
                <a:cs typeface="Calibri" pitchFamily="34" charset="-120"/>
              </a:rPr>
              <a:t>Ojo: el dia que /v1/predict se elimine (no solo se deje de recomendar), ese sí sera un MAJOR.</a:t>
            </a:r>
            <a:endParaRPr lang="en-US" sz="1450" dirty="0"/>
          </a:p>
        </p:txBody>
      </p:sp>
      <p:sp>
        <p:nvSpPr>
          <p:cNvPr id="14" name="Text 12"/>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08 / 10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8090"/>
                </a:solidFill>
                <a:latin typeface="Calibri" pitchFamily="34" charset="0"/>
                <a:ea typeface="Calibri" pitchFamily="34" charset="-122"/>
                <a:cs typeface="Calibri" pitchFamily="34" charset="-120"/>
              </a:rPr>
              <a:t>RESUMEN</a:t>
            </a:r>
            <a:endParaRPr lang="en-US" sz="1200" dirty="0"/>
          </a:p>
        </p:txBody>
      </p:sp>
      <p:sp>
        <p:nvSpPr>
          <p:cNvPr id="3" name="Text 1"/>
          <p:cNvSpPr txBox="1"/>
          <p:nvPr/>
        </p:nvSpPr>
        <p:spPr>
          <a:xfrm>
            <a:off x="548640" y="411480"/>
            <a:ext cx="11064240" cy="822960"/>
          </a:xfrm>
          <a:prstGeom prst="rect">
            <a:avLst/>
          </a:prstGeom>
          <a:noFill/>
          <a:ln/>
        </p:spPr>
        <p:txBody>
          <a:bodyPr wrap="square" rtlCol="0" anchor="ctr"/>
          <a:lstStyle/>
          <a:p>
            <a:pPr algn="l" indent="0" marL="0">
              <a:buNone/>
            </a:pPr>
            <a:r>
              <a:rPr lang="en-US" sz="3200" b="1" dirty="0">
                <a:solidFill>
                  <a:srgbClr val="1B2B2E"/>
                </a:solidFill>
                <a:latin typeface="Cambria" pitchFamily="34" charset="0"/>
                <a:ea typeface="Cambria" pitchFamily="34" charset="-122"/>
                <a:cs typeface="Cambria" pitchFamily="34" charset="-120"/>
              </a:rPr>
              <a:t>Los 6 casos, de un vistazo</a:t>
            </a:r>
            <a:endParaRPr lang="en-US" sz="3200" dirty="0"/>
          </a:p>
        </p:txBody>
      </p:sp>
      <p:sp>
        <p:nvSpPr>
          <p:cNvPr id="4" name="Shape 2"/>
          <p:cNvSpPr/>
          <p:nvPr/>
        </p:nvSpPr>
        <p:spPr>
          <a:xfrm>
            <a:off x="548640" y="1554480"/>
            <a:ext cx="11064240" cy="4489704"/>
          </a:xfrm>
          <a:prstGeom prst="roundRect">
            <a:avLst>
              <a:gd name="adj" fmla="val 2037"/>
            </a:avLst>
          </a:prstGeom>
          <a:solidFill>
            <a:srgbClr val="EFF7F6"/>
          </a:solidFill>
          <a:ln w="12700">
            <a:solidFill>
              <a:srgbClr val="CFE3E1"/>
            </a:solidFill>
            <a:prstDash val="solid"/>
          </a:ln>
        </p:spPr>
      </p:sp>
      <p:sp>
        <p:nvSpPr>
          <p:cNvPr id="5" name="Text 3"/>
          <p:cNvSpPr txBox="1"/>
          <p:nvPr/>
        </p:nvSpPr>
        <p:spPr>
          <a:xfrm>
            <a:off x="777240" y="1600200"/>
            <a:ext cx="822960" cy="621792"/>
          </a:xfrm>
          <a:prstGeom prst="rect">
            <a:avLst/>
          </a:prstGeom>
          <a:noFill/>
          <a:ln/>
        </p:spPr>
        <p:txBody>
          <a:bodyPr wrap="square" rtlCol="0" anchor="ctr"/>
          <a:lstStyle/>
          <a:p>
            <a:pPr indent="0" marL="0">
              <a:buNone/>
            </a:pPr>
            <a:r>
              <a:rPr lang="en-US" sz="1200" b="1" dirty="0">
                <a:solidFill>
                  <a:srgbClr val="5C7A7D"/>
                </a:solidFill>
                <a:latin typeface="Calibri" pitchFamily="34" charset="0"/>
                <a:ea typeface="Calibri" pitchFamily="34" charset="-122"/>
                <a:cs typeface="Calibri" pitchFamily="34" charset="-120"/>
              </a:rPr>
              <a:t>CASO</a:t>
            </a:r>
            <a:endParaRPr lang="en-US" sz="1200" dirty="0"/>
          </a:p>
        </p:txBody>
      </p:sp>
      <p:sp>
        <p:nvSpPr>
          <p:cNvPr id="6" name="Text 4"/>
          <p:cNvSpPr txBox="1"/>
          <p:nvPr/>
        </p:nvSpPr>
        <p:spPr>
          <a:xfrm>
            <a:off x="1691640" y="1600200"/>
            <a:ext cx="7315200" cy="621792"/>
          </a:xfrm>
          <a:prstGeom prst="rect">
            <a:avLst/>
          </a:prstGeom>
          <a:noFill/>
          <a:ln/>
        </p:spPr>
        <p:txBody>
          <a:bodyPr wrap="square" rtlCol="0" anchor="ctr"/>
          <a:lstStyle/>
          <a:p>
            <a:pPr indent="0" marL="0">
              <a:buNone/>
            </a:pPr>
            <a:r>
              <a:rPr lang="en-US" sz="1200" b="1" dirty="0">
                <a:solidFill>
                  <a:srgbClr val="5C7A7D"/>
                </a:solidFill>
                <a:latin typeface="Calibri" pitchFamily="34" charset="0"/>
                <a:ea typeface="Calibri" pitchFamily="34" charset="-122"/>
                <a:cs typeface="Calibri" pitchFamily="34" charset="-120"/>
              </a:rPr>
              <a:t>QUE PASO</a:t>
            </a:r>
            <a:endParaRPr lang="en-US" sz="1200" dirty="0"/>
          </a:p>
        </p:txBody>
      </p:sp>
      <p:sp>
        <p:nvSpPr>
          <p:cNvPr id="7" name="Text 5"/>
          <p:cNvSpPr txBox="1"/>
          <p:nvPr/>
        </p:nvSpPr>
        <p:spPr>
          <a:xfrm>
            <a:off x="9235440" y="1600200"/>
            <a:ext cx="2194560" cy="621792"/>
          </a:xfrm>
          <a:prstGeom prst="rect">
            <a:avLst/>
          </a:prstGeom>
          <a:noFill/>
          <a:ln/>
        </p:spPr>
        <p:txBody>
          <a:bodyPr wrap="square" rtlCol="0" anchor="ctr"/>
          <a:lstStyle/>
          <a:p>
            <a:pPr algn="ctr" indent="0" marL="0">
              <a:buNone/>
            </a:pPr>
            <a:r>
              <a:rPr lang="en-US" sz="1200" b="1" dirty="0">
                <a:solidFill>
                  <a:srgbClr val="5C7A7D"/>
                </a:solidFill>
                <a:latin typeface="Calibri" pitchFamily="34" charset="0"/>
                <a:ea typeface="Calibri" pitchFamily="34" charset="-122"/>
                <a:cs typeface="Calibri" pitchFamily="34" charset="-120"/>
              </a:rPr>
              <a:t>VEREDICTO</a:t>
            </a:r>
            <a:endParaRPr lang="en-US" sz="1200" dirty="0"/>
          </a:p>
        </p:txBody>
      </p:sp>
      <p:sp>
        <p:nvSpPr>
          <p:cNvPr id="8" name="Shape 6"/>
          <p:cNvSpPr/>
          <p:nvPr/>
        </p:nvSpPr>
        <p:spPr>
          <a:xfrm>
            <a:off x="594360" y="2221992"/>
            <a:ext cx="10972800" cy="621792"/>
          </a:xfrm>
          <a:prstGeom prst="rect">
            <a:avLst/>
          </a:prstGeom>
          <a:solidFill>
            <a:srgbClr val="FFFFFF">
              <a:alpha val="60000"/>
            </a:srgbClr>
          </a:solidFill>
          <a:ln/>
        </p:spPr>
      </p:sp>
      <p:sp>
        <p:nvSpPr>
          <p:cNvPr id="9" name="Text 7"/>
          <p:cNvSpPr txBox="1"/>
          <p:nvPr/>
        </p:nvSpPr>
        <p:spPr>
          <a:xfrm>
            <a:off x="777240" y="2221992"/>
            <a:ext cx="822960" cy="621792"/>
          </a:xfrm>
          <a:prstGeom prst="rect">
            <a:avLst/>
          </a:prstGeom>
          <a:noFill/>
          <a:ln/>
        </p:spPr>
        <p:txBody>
          <a:bodyPr wrap="square" rtlCol="0" anchor="ctr"/>
          <a:lstStyle/>
          <a:p>
            <a:pPr indent="0" marL="0">
              <a:buNone/>
            </a:pPr>
            <a:r>
              <a:rPr lang="en-US" sz="1600" b="1" dirty="0">
                <a:solidFill>
                  <a:srgbClr val="1B2B2E"/>
                </a:solidFill>
                <a:latin typeface="Cambria" pitchFamily="34" charset="0"/>
                <a:ea typeface="Cambria" pitchFamily="34" charset="-122"/>
                <a:cs typeface="Cambria" pitchFamily="34" charset="-120"/>
              </a:rPr>
              <a:t>1</a:t>
            </a:r>
            <a:endParaRPr lang="en-US" sz="1600" dirty="0"/>
          </a:p>
        </p:txBody>
      </p:sp>
      <p:sp>
        <p:nvSpPr>
          <p:cNvPr id="10" name="Text 8"/>
          <p:cNvSpPr txBox="1"/>
          <p:nvPr/>
        </p:nvSpPr>
        <p:spPr>
          <a:xfrm>
            <a:off x="1691640" y="2221992"/>
            <a:ext cx="7315200" cy="621792"/>
          </a:xfrm>
          <a:prstGeom prst="rect">
            <a:avLst/>
          </a:prstGeom>
          <a:noFill/>
          <a:ln/>
        </p:spPr>
        <p:txBody>
          <a:bodyPr wrap="square" rtlCol="0" anchor="ctr"/>
          <a:lstStyle/>
          <a:p>
            <a:pPr indent="0" marL="0">
              <a:buNone/>
            </a:pPr>
            <a:r>
              <a:rPr lang="en-US" sz="1400" dirty="0">
                <a:solidFill>
                  <a:srgbClr val="1B2B2E"/>
                </a:solidFill>
                <a:latin typeface="Calibri" pitchFamily="34" charset="0"/>
                <a:ea typeface="Calibri" pitchFamily="34" charset="-122"/>
                <a:cs typeface="Calibri" pitchFamily="34" charset="-120"/>
              </a:rPr>
              <a:t>Eliminar funcion deprecated</a:t>
            </a:r>
            <a:endParaRPr lang="en-US" sz="1400" dirty="0"/>
          </a:p>
        </p:txBody>
      </p:sp>
      <p:sp>
        <p:nvSpPr>
          <p:cNvPr id="11" name="Shape 9"/>
          <p:cNvSpPr/>
          <p:nvPr/>
        </p:nvSpPr>
        <p:spPr>
          <a:xfrm>
            <a:off x="9372600" y="2295144"/>
            <a:ext cx="1920240" cy="475488"/>
          </a:xfrm>
          <a:prstGeom prst="roundRect">
            <a:avLst>
              <a:gd name="adj" fmla="val 11538"/>
            </a:avLst>
          </a:prstGeom>
          <a:solidFill>
            <a:srgbClr val="D7263D"/>
          </a:solidFill>
          <a:ln/>
        </p:spPr>
      </p:sp>
      <p:sp>
        <p:nvSpPr>
          <p:cNvPr id="12" name="Text 10"/>
          <p:cNvSpPr txBox="1"/>
          <p:nvPr/>
        </p:nvSpPr>
        <p:spPr>
          <a:xfrm>
            <a:off x="9372600" y="2295144"/>
            <a:ext cx="1920240" cy="47548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MAJOR</a:t>
            </a:r>
            <a:endParaRPr lang="en-US" sz="1300" dirty="0"/>
          </a:p>
        </p:txBody>
      </p:sp>
      <p:sp>
        <p:nvSpPr>
          <p:cNvPr id="13" name="Text 11"/>
          <p:cNvSpPr txBox="1"/>
          <p:nvPr/>
        </p:nvSpPr>
        <p:spPr>
          <a:xfrm>
            <a:off x="777240" y="2843784"/>
            <a:ext cx="822960" cy="621792"/>
          </a:xfrm>
          <a:prstGeom prst="rect">
            <a:avLst/>
          </a:prstGeom>
          <a:noFill/>
          <a:ln/>
        </p:spPr>
        <p:txBody>
          <a:bodyPr wrap="square" rtlCol="0" anchor="ctr"/>
          <a:lstStyle/>
          <a:p>
            <a:pPr indent="0" marL="0">
              <a:buNone/>
            </a:pPr>
            <a:r>
              <a:rPr lang="en-US" sz="1600" b="1" dirty="0">
                <a:solidFill>
                  <a:srgbClr val="1B2B2E"/>
                </a:solidFill>
                <a:latin typeface="Cambria" pitchFamily="34" charset="0"/>
                <a:ea typeface="Cambria" pitchFamily="34" charset="-122"/>
                <a:cs typeface="Cambria" pitchFamily="34" charset="-120"/>
              </a:rPr>
              <a:t>2</a:t>
            </a:r>
            <a:endParaRPr lang="en-US" sz="1600" dirty="0"/>
          </a:p>
        </p:txBody>
      </p:sp>
      <p:sp>
        <p:nvSpPr>
          <p:cNvPr id="14" name="Text 12"/>
          <p:cNvSpPr txBox="1"/>
          <p:nvPr/>
        </p:nvSpPr>
        <p:spPr>
          <a:xfrm>
            <a:off x="1691640" y="2843784"/>
            <a:ext cx="7315200" cy="621792"/>
          </a:xfrm>
          <a:prstGeom prst="rect">
            <a:avLst/>
          </a:prstGeom>
          <a:noFill/>
          <a:ln/>
        </p:spPr>
        <p:txBody>
          <a:bodyPr wrap="square" rtlCol="0" anchor="ctr"/>
          <a:lstStyle/>
          <a:p>
            <a:pPr indent="0" marL="0">
              <a:buNone/>
            </a:pPr>
            <a:r>
              <a:rPr lang="en-US" sz="1400" dirty="0">
                <a:solidFill>
                  <a:srgbClr val="1B2B2E"/>
                </a:solidFill>
                <a:latin typeface="Calibri" pitchFamily="34" charset="0"/>
                <a:ea typeface="Calibri" pitchFamily="34" charset="-122"/>
                <a:cs typeface="Calibri" pitchFamily="34" charset="-120"/>
              </a:rPr>
              <a:t>Agregar parametro opcional</a:t>
            </a:r>
            <a:endParaRPr lang="en-US" sz="1400" dirty="0"/>
          </a:p>
        </p:txBody>
      </p:sp>
      <p:sp>
        <p:nvSpPr>
          <p:cNvPr id="15" name="Shape 13"/>
          <p:cNvSpPr/>
          <p:nvPr/>
        </p:nvSpPr>
        <p:spPr>
          <a:xfrm>
            <a:off x="9372600" y="2916936"/>
            <a:ext cx="1920240" cy="475488"/>
          </a:xfrm>
          <a:prstGeom prst="roundRect">
            <a:avLst>
              <a:gd name="adj" fmla="val 11538"/>
            </a:avLst>
          </a:prstGeom>
          <a:solidFill>
            <a:srgbClr val="028090"/>
          </a:solidFill>
          <a:ln/>
        </p:spPr>
      </p:sp>
      <p:sp>
        <p:nvSpPr>
          <p:cNvPr id="16" name="Text 14"/>
          <p:cNvSpPr txBox="1"/>
          <p:nvPr/>
        </p:nvSpPr>
        <p:spPr>
          <a:xfrm>
            <a:off x="9372600" y="2916936"/>
            <a:ext cx="1920240" cy="47548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MINOR</a:t>
            </a:r>
            <a:endParaRPr lang="en-US" sz="1300" dirty="0"/>
          </a:p>
        </p:txBody>
      </p:sp>
      <p:sp>
        <p:nvSpPr>
          <p:cNvPr id="17" name="Shape 15"/>
          <p:cNvSpPr/>
          <p:nvPr/>
        </p:nvSpPr>
        <p:spPr>
          <a:xfrm>
            <a:off x="594360" y="3465576"/>
            <a:ext cx="10972800" cy="621792"/>
          </a:xfrm>
          <a:prstGeom prst="rect">
            <a:avLst/>
          </a:prstGeom>
          <a:solidFill>
            <a:srgbClr val="FFFFFF">
              <a:alpha val="60000"/>
            </a:srgbClr>
          </a:solidFill>
          <a:ln/>
        </p:spPr>
      </p:sp>
      <p:sp>
        <p:nvSpPr>
          <p:cNvPr id="18" name="Text 16"/>
          <p:cNvSpPr txBox="1"/>
          <p:nvPr/>
        </p:nvSpPr>
        <p:spPr>
          <a:xfrm>
            <a:off x="777240" y="3465576"/>
            <a:ext cx="822960" cy="621792"/>
          </a:xfrm>
          <a:prstGeom prst="rect">
            <a:avLst/>
          </a:prstGeom>
          <a:noFill/>
          <a:ln/>
        </p:spPr>
        <p:txBody>
          <a:bodyPr wrap="square" rtlCol="0" anchor="ctr"/>
          <a:lstStyle/>
          <a:p>
            <a:pPr indent="0" marL="0">
              <a:buNone/>
            </a:pPr>
            <a:r>
              <a:rPr lang="en-US" sz="1600" b="1" dirty="0">
                <a:solidFill>
                  <a:srgbClr val="1B2B2E"/>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1691640" y="3465576"/>
            <a:ext cx="7315200" cy="621792"/>
          </a:xfrm>
          <a:prstGeom prst="rect">
            <a:avLst/>
          </a:prstGeom>
          <a:noFill/>
          <a:ln/>
        </p:spPr>
        <p:txBody>
          <a:bodyPr wrap="square" rtlCol="0" anchor="ctr"/>
          <a:lstStyle/>
          <a:p>
            <a:pPr indent="0" marL="0">
              <a:buNone/>
            </a:pPr>
            <a:r>
              <a:rPr lang="en-US" sz="1400" dirty="0">
                <a:solidFill>
                  <a:srgbClr val="1B2B2E"/>
                </a:solidFill>
                <a:latin typeface="Calibri" pitchFamily="34" charset="0"/>
                <a:ea typeface="Calibri" pitchFamily="34" charset="-122"/>
                <a:cs typeface="Calibri" pitchFamily="34" charset="-120"/>
              </a:rPr>
              <a:t>Corregir typo en un log</a:t>
            </a:r>
            <a:endParaRPr lang="en-US" sz="1400" dirty="0"/>
          </a:p>
        </p:txBody>
      </p:sp>
      <p:sp>
        <p:nvSpPr>
          <p:cNvPr id="20" name="Shape 18"/>
          <p:cNvSpPr/>
          <p:nvPr/>
        </p:nvSpPr>
        <p:spPr>
          <a:xfrm>
            <a:off x="9372600" y="3538728"/>
            <a:ext cx="1920240" cy="475488"/>
          </a:xfrm>
          <a:prstGeom prst="roundRect">
            <a:avLst>
              <a:gd name="adj" fmla="val 11538"/>
            </a:avLst>
          </a:prstGeom>
          <a:solidFill>
            <a:srgbClr val="02C39A"/>
          </a:solidFill>
          <a:ln/>
        </p:spPr>
      </p:sp>
      <p:sp>
        <p:nvSpPr>
          <p:cNvPr id="21" name="Text 19"/>
          <p:cNvSpPr txBox="1"/>
          <p:nvPr/>
        </p:nvSpPr>
        <p:spPr>
          <a:xfrm>
            <a:off x="9372600" y="3538728"/>
            <a:ext cx="1920240" cy="47548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PATCH</a:t>
            </a:r>
            <a:endParaRPr lang="en-US" sz="1300" dirty="0"/>
          </a:p>
        </p:txBody>
      </p:sp>
      <p:sp>
        <p:nvSpPr>
          <p:cNvPr id="22" name="Text 20"/>
          <p:cNvSpPr txBox="1"/>
          <p:nvPr/>
        </p:nvSpPr>
        <p:spPr>
          <a:xfrm>
            <a:off x="777240" y="4087368"/>
            <a:ext cx="822960" cy="621792"/>
          </a:xfrm>
          <a:prstGeom prst="rect">
            <a:avLst/>
          </a:prstGeom>
          <a:noFill/>
          <a:ln/>
        </p:spPr>
        <p:txBody>
          <a:bodyPr wrap="square" rtlCol="0" anchor="ctr"/>
          <a:lstStyle/>
          <a:p>
            <a:pPr indent="0" marL="0">
              <a:buNone/>
            </a:pPr>
            <a:r>
              <a:rPr lang="en-US" sz="1600" b="1" dirty="0">
                <a:solidFill>
                  <a:srgbClr val="1B2B2E"/>
                </a:solidFill>
                <a:latin typeface="Cambria" pitchFamily="34" charset="0"/>
                <a:ea typeface="Cambria" pitchFamily="34" charset="-122"/>
                <a:cs typeface="Cambria" pitchFamily="34" charset="-120"/>
              </a:rPr>
              <a:t>4</a:t>
            </a:r>
            <a:endParaRPr lang="en-US" sz="1600" dirty="0"/>
          </a:p>
        </p:txBody>
      </p:sp>
      <p:sp>
        <p:nvSpPr>
          <p:cNvPr id="23" name="Text 21"/>
          <p:cNvSpPr txBox="1"/>
          <p:nvPr/>
        </p:nvSpPr>
        <p:spPr>
          <a:xfrm>
            <a:off x="1691640" y="4087368"/>
            <a:ext cx="7315200" cy="621792"/>
          </a:xfrm>
          <a:prstGeom prst="rect">
            <a:avLst/>
          </a:prstGeom>
          <a:noFill/>
          <a:ln/>
        </p:spPr>
        <p:txBody>
          <a:bodyPr wrap="square" rtlCol="0" anchor="ctr"/>
          <a:lstStyle/>
          <a:p>
            <a:pPr indent="0" marL="0">
              <a:buNone/>
            </a:pPr>
            <a:r>
              <a:rPr lang="en-US" sz="1400" dirty="0">
                <a:solidFill>
                  <a:srgbClr val="1B2B2E"/>
                </a:solidFill>
                <a:latin typeface="Calibri" pitchFamily="34" charset="0"/>
                <a:ea typeface="Calibri" pitchFamily="34" charset="-122"/>
                <a:cs typeface="Calibri" pitchFamily="34" charset="-120"/>
              </a:rPr>
              <a:t>Cambiar un valor por defecto</a:t>
            </a:r>
            <a:endParaRPr lang="en-US" sz="1400" dirty="0"/>
          </a:p>
        </p:txBody>
      </p:sp>
      <p:sp>
        <p:nvSpPr>
          <p:cNvPr id="24" name="Shape 22"/>
          <p:cNvSpPr/>
          <p:nvPr/>
        </p:nvSpPr>
        <p:spPr>
          <a:xfrm>
            <a:off x="9372600" y="4160520"/>
            <a:ext cx="1920240" cy="475488"/>
          </a:xfrm>
          <a:prstGeom prst="roundRect">
            <a:avLst>
              <a:gd name="adj" fmla="val 11538"/>
            </a:avLst>
          </a:prstGeom>
          <a:solidFill>
            <a:srgbClr val="D7263D"/>
          </a:solidFill>
          <a:ln/>
        </p:spPr>
      </p:sp>
      <p:sp>
        <p:nvSpPr>
          <p:cNvPr id="25" name="Text 23"/>
          <p:cNvSpPr txBox="1"/>
          <p:nvPr/>
        </p:nvSpPr>
        <p:spPr>
          <a:xfrm>
            <a:off x="9372600" y="4160520"/>
            <a:ext cx="1920240" cy="47548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MAJOR</a:t>
            </a:r>
            <a:endParaRPr lang="en-US" sz="1300" dirty="0"/>
          </a:p>
        </p:txBody>
      </p:sp>
      <p:sp>
        <p:nvSpPr>
          <p:cNvPr id="26" name="Shape 24"/>
          <p:cNvSpPr/>
          <p:nvPr/>
        </p:nvSpPr>
        <p:spPr>
          <a:xfrm>
            <a:off x="594360" y="4709160"/>
            <a:ext cx="10972800" cy="621792"/>
          </a:xfrm>
          <a:prstGeom prst="rect">
            <a:avLst/>
          </a:prstGeom>
          <a:solidFill>
            <a:srgbClr val="FFFFFF">
              <a:alpha val="60000"/>
            </a:srgbClr>
          </a:solidFill>
          <a:ln/>
        </p:spPr>
      </p:sp>
      <p:sp>
        <p:nvSpPr>
          <p:cNvPr id="27" name="Text 25"/>
          <p:cNvSpPr txBox="1"/>
          <p:nvPr/>
        </p:nvSpPr>
        <p:spPr>
          <a:xfrm>
            <a:off x="777240" y="4709160"/>
            <a:ext cx="822960" cy="621792"/>
          </a:xfrm>
          <a:prstGeom prst="rect">
            <a:avLst/>
          </a:prstGeom>
          <a:noFill/>
          <a:ln/>
        </p:spPr>
        <p:txBody>
          <a:bodyPr wrap="square" rtlCol="0" anchor="ctr"/>
          <a:lstStyle/>
          <a:p>
            <a:pPr indent="0" marL="0">
              <a:buNone/>
            </a:pPr>
            <a:r>
              <a:rPr lang="en-US" sz="1600" b="1" dirty="0">
                <a:solidFill>
                  <a:srgbClr val="1B2B2E"/>
                </a:solidFill>
                <a:latin typeface="Cambria" pitchFamily="34" charset="0"/>
                <a:ea typeface="Cambria" pitchFamily="34" charset="-122"/>
                <a:cs typeface="Cambria" pitchFamily="34" charset="-120"/>
              </a:rPr>
              <a:t>5</a:t>
            </a:r>
            <a:endParaRPr lang="en-US" sz="1600" dirty="0"/>
          </a:p>
        </p:txBody>
      </p:sp>
      <p:sp>
        <p:nvSpPr>
          <p:cNvPr id="28" name="Text 26"/>
          <p:cNvSpPr txBox="1"/>
          <p:nvPr/>
        </p:nvSpPr>
        <p:spPr>
          <a:xfrm>
            <a:off x="1691640" y="4709160"/>
            <a:ext cx="7315200" cy="621792"/>
          </a:xfrm>
          <a:prstGeom prst="rect">
            <a:avLst/>
          </a:prstGeom>
          <a:noFill/>
          <a:ln/>
        </p:spPr>
        <p:txBody>
          <a:bodyPr wrap="square" rtlCol="0" anchor="ctr"/>
          <a:lstStyle/>
          <a:p>
            <a:pPr indent="0" marL="0">
              <a:buNone/>
            </a:pPr>
            <a:r>
              <a:rPr lang="en-US" sz="1400" dirty="0">
                <a:solidFill>
                  <a:srgbClr val="1B2B2E"/>
                </a:solidFill>
                <a:latin typeface="Calibri" pitchFamily="34" charset="0"/>
                <a:ea typeface="Calibri" pitchFamily="34" charset="-122"/>
                <a:cs typeface="Calibri" pitchFamily="34" charset="-120"/>
              </a:rPr>
              <a:t>Reescribir algoritmo interno (misma firma)</a:t>
            </a:r>
            <a:endParaRPr lang="en-US" sz="1400" dirty="0"/>
          </a:p>
        </p:txBody>
      </p:sp>
      <p:sp>
        <p:nvSpPr>
          <p:cNvPr id="29" name="Shape 27"/>
          <p:cNvSpPr/>
          <p:nvPr/>
        </p:nvSpPr>
        <p:spPr>
          <a:xfrm>
            <a:off x="9372600" y="4782312"/>
            <a:ext cx="1920240" cy="475488"/>
          </a:xfrm>
          <a:prstGeom prst="roundRect">
            <a:avLst>
              <a:gd name="adj" fmla="val 11538"/>
            </a:avLst>
          </a:prstGeom>
          <a:solidFill>
            <a:srgbClr val="02C39A"/>
          </a:solidFill>
          <a:ln/>
        </p:spPr>
      </p:sp>
      <p:sp>
        <p:nvSpPr>
          <p:cNvPr id="30" name="Text 28"/>
          <p:cNvSpPr txBox="1"/>
          <p:nvPr/>
        </p:nvSpPr>
        <p:spPr>
          <a:xfrm>
            <a:off x="9372600" y="4782312"/>
            <a:ext cx="1920240" cy="47548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PATCH</a:t>
            </a:r>
            <a:endParaRPr lang="en-US" sz="1300" dirty="0"/>
          </a:p>
        </p:txBody>
      </p:sp>
      <p:sp>
        <p:nvSpPr>
          <p:cNvPr id="31" name="Text 29"/>
          <p:cNvSpPr txBox="1"/>
          <p:nvPr/>
        </p:nvSpPr>
        <p:spPr>
          <a:xfrm>
            <a:off x="777240" y="5330952"/>
            <a:ext cx="822960" cy="621792"/>
          </a:xfrm>
          <a:prstGeom prst="rect">
            <a:avLst/>
          </a:prstGeom>
          <a:noFill/>
          <a:ln/>
        </p:spPr>
        <p:txBody>
          <a:bodyPr wrap="square" rtlCol="0" anchor="ctr"/>
          <a:lstStyle/>
          <a:p>
            <a:pPr indent="0" marL="0">
              <a:buNone/>
            </a:pPr>
            <a:r>
              <a:rPr lang="en-US" sz="1600" b="1" dirty="0">
                <a:solidFill>
                  <a:srgbClr val="1B2B2E"/>
                </a:solidFill>
                <a:latin typeface="Cambria" pitchFamily="34" charset="0"/>
                <a:ea typeface="Cambria" pitchFamily="34" charset="-122"/>
                <a:cs typeface="Cambria" pitchFamily="34" charset="-120"/>
              </a:rPr>
              <a:t>6</a:t>
            </a:r>
            <a:endParaRPr lang="en-US" sz="1600" dirty="0"/>
          </a:p>
        </p:txBody>
      </p:sp>
      <p:sp>
        <p:nvSpPr>
          <p:cNvPr id="32" name="Text 30"/>
          <p:cNvSpPr txBox="1"/>
          <p:nvPr/>
        </p:nvSpPr>
        <p:spPr>
          <a:xfrm>
            <a:off x="1691640" y="5330952"/>
            <a:ext cx="7315200" cy="621792"/>
          </a:xfrm>
          <a:prstGeom prst="rect">
            <a:avLst/>
          </a:prstGeom>
          <a:noFill/>
          <a:ln/>
        </p:spPr>
        <p:txBody>
          <a:bodyPr wrap="square" rtlCol="0" anchor="ctr"/>
          <a:lstStyle/>
          <a:p>
            <a:pPr indent="0" marL="0">
              <a:buNone/>
            </a:pPr>
            <a:r>
              <a:rPr lang="en-US" sz="1400" dirty="0">
                <a:solidFill>
                  <a:srgbClr val="1B2B2E"/>
                </a:solidFill>
                <a:latin typeface="Calibri" pitchFamily="34" charset="0"/>
                <a:ea typeface="Calibri" pitchFamily="34" charset="-122"/>
                <a:cs typeface="Calibri" pitchFamily="34" charset="-120"/>
              </a:rPr>
              <a:t>Agregar endpoint nuevo, sin tocar el viejo</a:t>
            </a:r>
            <a:endParaRPr lang="en-US" sz="1400" dirty="0"/>
          </a:p>
        </p:txBody>
      </p:sp>
      <p:sp>
        <p:nvSpPr>
          <p:cNvPr id="33" name="Shape 31"/>
          <p:cNvSpPr/>
          <p:nvPr/>
        </p:nvSpPr>
        <p:spPr>
          <a:xfrm>
            <a:off x="9372600" y="5404104"/>
            <a:ext cx="1920240" cy="475488"/>
          </a:xfrm>
          <a:prstGeom prst="roundRect">
            <a:avLst>
              <a:gd name="adj" fmla="val 11538"/>
            </a:avLst>
          </a:prstGeom>
          <a:solidFill>
            <a:srgbClr val="028090"/>
          </a:solidFill>
          <a:ln/>
        </p:spPr>
      </p:sp>
      <p:sp>
        <p:nvSpPr>
          <p:cNvPr id="34" name="Text 32"/>
          <p:cNvSpPr txBox="1"/>
          <p:nvPr/>
        </p:nvSpPr>
        <p:spPr>
          <a:xfrm>
            <a:off x="9372600" y="5404104"/>
            <a:ext cx="1920240" cy="475488"/>
          </a:xfrm>
          <a:prstGeom prst="rect">
            <a:avLst/>
          </a:prstGeom>
          <a:noFill/>
          <a:ln/>
        </p:spPr>
        <p:txBody>
          <a:bodyPr wrap="square"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MINOR</a:t>
            </a:r>
            <a:endParaRPr lang="en-US" sz="1300" dirty="0"/>
          </a:p>
        </p:txBody>
      </p:sp>
      <p:sp>
        <p:nvSpPr>
          <p:cNvPr id="35" name="Text 33"/>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09 / 10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3D42"/>
        </a:solidFill>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02C39A">
              <a:alpha val="45000"/>
            </a:srgbClr>
          </a:solidFill>
          <a:ln/>
        </p:spPr>
      </p:sp>
      <p:sp>
        <p:nvSpPr>
          <p:cNvPr id="3" name="Text 1"/>
          <p:cNvSpPr txBox="1"/>
          <p:nvPr/>
        </p:nvSpPr>
        <p:spPr>
          <a:xfrm>
            <a:off x="548640" y="164592"/>
            <a:ext cx="8229600" cy="292608"/>
          </a:xfrm>
          <a:prstGeom prst="rect">
            <a:avLst/>
          </a:prstGeom>
          <a:noFill/>
          <a:ln/>
        </p:spPr>
        <p:txBody>
          <a:bodyPr wrap="square" rtlCol="0" anchor="ctr"/>
          <a:lstStyle/>
          <a:p>
            <a:pPr indent="0" marL="0">
              <a:buNone/>
            </a:pPr>
            <a:r>
              <a:rPr lang="en-US" sz="1200" b="1" spc="200" kern="0" dirty="0">
                <a:solidFill>
                  <a:srgbClr val="02C39A"/>
                </a:solidFill>
                <a:latin typeface="Calibri" pitchFamily="34" charset="0"/>
                <a:ea typeface="Calibri" pitchFamily="34" charset="-122"/>
                <a:cs typeface="Calibri" pitchFamily="34" charset="-120"/>
              </a:rPr>
              <a:t>PARA LLEVARSE</a:t>
            </a:r>
            <a:endParaRPr lang="en-US" sz="1200" dirty="0"/>
          </a:p>
        </p:txBody>
      </p:sp>
      <p:sp>
        <p:nvSpPr>
          <p:cNvPr id="4" name="Text 2"/>
          <p:cNvSpPr txBox="1"/>
          <p:nvPr/>
        </p:nvSpPr>
        <p:spPr>
          <a:xfrm>
            <a:off x="548640" y="411480"/>
            <a:ext cx="11064240" cy="822960"/>
          </a:xfrm>
          <a:prstGeom prst="rect">
            <a:avLst/>
          </a:prstGeom>
          <a:noFill/>
          <a:ln/>
        </p:spPr>
        <p:txBody>
          <a:bodyPr wrap="square"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Cuando dudes, se conservador</a:t>
            </a:r>
            <a:endParaRPr lang="en-US" sz="3400" dirty="0"/>
          </a:p>
        </p:txBody>
      </p:sp>
      <p:sp>
        <p:nvSpPr>
          <p:cNvPr id="5" name="Text 3"/>
          <p:cNvSpPr txBox="1"/>
          <p:nvPr/>
        </p:nvSpPr>
        <p:spPr>
          <a:xfrm>
            <a:off x="594360" y="2103120"/>
            <a:ext cx="10515600" cy="914400"/>
          </a:xfrm>
          <a:prstGeom prst="rect">
            <a:avLst/>
          </a:prstGeom>
          <a:noFill/>
          <a:ln/>
        </p:spPr>
        <p:txBody>
          <a:bodyPr wrap="square" rtlCol="0" anchor="ctr"/>
          <a:lstStyle/>
          <a:p>
            <a:pPr indent="0" marL="0">
              <a:buNone/>
            </a:pPr>
            <a:r>
              <a:rPr lang="en-US" sz="1700" dirty="0">
                <a:solidFill>
                  <a:srgbClr val="F4FBFA"/>
                </a:solidFill>
                <a:latin typeface="Calibri" pitchFamily="34" charset="0"/>
                <a:ea typeface="Calibri" pitchFamily="34" charset="-122"/>
                <a:cs typeface="Calibri" pitchFamily="34" charset="-120"/>
              </a:rPr>
              <a:t>Si no estas seguro de si un cambio rompe algo para alguien, tratalo como si rompiera algo. Es mucho mas barato anunciar un MAJOR de mas, que romper produccion de alguien sin avisar.</a:t>
            </a:r>
            <a:endParaRPr lang="en-US" sz="1700" dirty="0"/>
          </a:p>
        </p:txBody>
      </p:sp>
      <p:sp>
        <p:nvSpPr>
          <p:cNvPr id="6" name="Shape 4"/>
          <p:cNvSpPr/>
          <p:nvPr/>
        </p:nvSpPr>
        <p:spPr>
          <a:xfrm>
            <a:off x="594360" y="3429000"/>
            <a:ext cx="10515600" cy="2286000"/>
          </a:xfrm>
          <a:prstGeom prst="roundRect">
            <a:avLst>
              <a:gd name="adj" fmla="val 5600"/>
            </a:avLst>
          </a:prstGeom>
          <a:solidFill>
            <a:srgbClr val="028090">
              <a:alpha val="85000"/>
            </a:srgbClr>
          </a:solidFill>
          <a:ln w="19050">
            <a:solidFill>
              <a:srgbClr val="02C39A"/>
            </a:solidFill>
            <a:prstDash val="solid"/>
          </a:ln>
        </p:spPr>
      </p:sp>
      <p:sp>
        <p:nvSpPr>
          <p:cNvPr id="7" name="Text 5"/>
          <p:cNvSpPr txBox="1"/>
          <p:nvPr/>
        </p:nvSpPr>
        <p:spPr>
          <a:xfrm>
            <a:off x="914400" y="3657600"/>
            <a:ext cx="9875520" cy="1828800"/>
          </a:xfrm>
          <a:prstGeom prst="rect">
            <a:avLst/>
          </a:prstGeom>
          <a:noFill/>
          <a:ln/>
        </p:spPr>
        <p:txBody>
          <a:bodyPr wrap="square"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En herramientas como semantic-release, esto no es solo criterio: el mensaje de tu commit (feat:, fix:, BREAKING CHANGE:) decide automaticamente el proximo numero de version.</a:t>
            </a:r>
            <a:endParaRPr lang="en-US" sz="1600" dirty="0"/>
          </a:p>
        </p:txBody>
      </p:sp>
      <p:sp>
        <p:nvSpPr>
          <p:cNvPr id="8" name="Text 6"/>
          <p:cNvSpPr txBox="1"/>
          <p:nvPr/>
        </p:nvSpPr>
        <p:spPr>
          <a:xfrm>
            <a:off x="640080" y="6309360"/>
            <a:ext cx="10058400" cy="365760"/>
          </a:xfrm>
          <a:prstGeom prst="rect">
            <a:avLst/>
          </a:prstGeom>
          <a:noFill/>
          <a:ln/>
        </p:spPr>
        <p:txBody>
          <a:bodyPr wrap="square" rtlCol="0" anchor="ctr"/>
          <a:lstStyle/>
          <a:p>
            <a:pPr indent="0" marL="0">
              <a:buNone/>
            </a:pPr>
            <a:r>
              <a:rPr lang="en-US" sz="1200" dirty="0">
                <a:solidFill>
                  <a:srgbClr val="5C7A7D"/>
                </a:solidFill>
                <a:latin typeface="Calibri" pitchFamily="34" charset="0"/>
                <a:ea typeface="Calibri" pitchFamily="34" charset="-122"/>
                <a:cs typeface="Calibri" pitchFamily="34" charset="-120"/>
              </a:rPr>
              <a:t>Universidad de Medellín  ·  Especialización en Analítica e Inteligencia Artificial</a:t>
            </a:r>
            <a:endParaRPr lang="en-US" sz="1200" dirty="0"/>
          </a:p>
        </p:txBody>
      </p:sp>
      <p:sp>
        <p:nvSpPr>
          <p:cNvPr id="9" name="Text 7"/>
          <p:cNvSpPr txBox="1"/>
          <p:nvPr/>
        </p:nvSpPr>
        <p:spPr>
          <a:xfrm>
            <a:off x="11155680" y="6473952"/>
            <a:ext cx="822960" cy="274320"/>
          </a:xfrm>
          <a:prstGeom prst="rect">
            <a:avLst/>
          </a:prstGeom>
          <a:noFill/>
          <a:ln/>
        </p:spPr>
        <p:txBody>
          <a:bodyPr wrap="square" rtlCol="0" anchor="ctr"/>
          <a:lstStyle/>
          <a:p>
            <a:pPr algn="r" indent="0" marL="0">
              <a:buNone/>
            </a:pPr>
            <a:r>
              <a:rPr lang="en-US" sz="1000" dirty="0">
                <a:solidFill>
                  <a:srgbClr val="5C7A7D"/>
                </a:solidFill>
                <a:latin typeface="Calibri" pitchFamily="34" charset="0"/>
                <a:ea typeface="Calibri" pitchFamily="34" charset="-122"/>
                <a:cs typeface="Calibri" pitchFamily="34" charset="-120"/>
              </a:rPr>
              <a:t>10 / 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2026-09-07T23:52:56Z</dcterms:created>
  <dcterms:modified xsi:type="dcterms:W3CDTF">2026-09-07T23:52:56Z</dcterms:modified>
</cp:coreProperties>
</file>