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42"/>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2C39A">
              <a:alpha val="45000"/>
            </a:srgbClr>
          </a:solidFill>
          <a:ln/>
        </p:spPr>
      </p:sp>
      <p:sp>
        <p:nvSpPr>
          <p:cNvPr id="3" name="Shape 1"/>
          <p:cNvSpPr/>
          <p:nvPr/>
        </p:nvSpPr>
        <p:spPr>
          <a:xfrm>
            <a:off x="10241280" y="4206240"/>
            <a:ext cx="3840480" cy="3840480"/>
          </a:xfrm>
          <a:prstGeom prst="ellipse">
            <a:avLst/>
          </a:prstGeom>
          <a:solidFill>
            <a:srgbClr val="028090">
              <a:alpha val="40000"/>
            </a:srgbClr>
          </a:solidFill>
          <a:ln/>
        </p:spPr>
      </p:sp>
      <p:sp>
        <p:nvSpPr>
          <p:cNvPr id="4" name="Shape 2"/>
          <p:cNvSpPr/>
          <p:nvPr/>
        </p:nvSpPr>
        <p:spPr>
          <a:xfrm>
            <a:off x="566928" y="429768"/>
            <a:ext cx="1197864" cy="1197864"/>
          </a:xfrm>
          <a:prstGeom prst="roundRect">
            <a:avLst>
              <a:gd name="adj" fmla="val 10687"/>
            </a:avLst>
          </a:prstGeom>
          <a:solidFill>
            <a:srgbClr val="FFFFFF"/>
          </a:solidFill>
          <a:ln/>
          <a:effectLst>
            <a:outerShdw sx="100000" sy="100000" kx="0" ky="0" algn="bl" rotWithShape="0" blurRad="101600" dist="38100" dir="5400000">
              <a:srgbClr val="000000">
                <a:alpha val="30000"/>
              </a:srgbClr>
            </a:outerShdw>
          </a:effectLst>
        </p:spPr>
      </p:sp>
      <p:pic>
        <p:nvPicPr>
          <p:cNvPr id="5" name="Image 0" descr="udem_logo.png">    </p:cNvPr>
          <p:cNvPicPr>
            <a:picLocks noChangeAspect="1"/>
          </p:cNvPicPr>
          <p:nvPr/>
        </p:nvPicPr>
        <p:blipFill>
          <a:blip r:embed="rId1"/>
          <a:stretch>
            <a:fillRect/>
          </a:stretch>
        </p:blipFill>
        <p:spPr>
          <a:xfrm>
            <a:off x="640080" y="502920"/>
            <a:ext cx="1051560" cy="1051560"/>
          </a:xfrm>
          <a:prstGeom prst="rect">
            <a:avLst/>
          </a:prstGeom>
        </p:spPr>
      </p:pic>
      <p:sp>
        <p:nvSpPr>
          <p:cNvPr id="6" name="Text 3"/>
          <p:cNvSpPr txBox="1"/>
          <p:nvPr/>
        </p:nvSpPr>
        <p:spPr>
          <a:xfrm>
            <a:off x="640080" y="2514600"/>
            <a:ext cx="9144000" cy="365760"/>
          </a:xfrm>
          <a:prstGeom prst="rect">
            <a:avLst/>
          </a:prstGeom>
          <a:noFill/>
          <a:ln/>
        </p:spPr>
        <p:txBody>
          <a:bodyPr wrap="square" rtlCol="0" anchor="ctr"/>
          <a:lstStyle/>
          <a:p>
            <a:pPr indent="0" marL="0">
              <a:buNone/>
            </a:pPr>
            <a:r>
              <a:rPr lang="en-US" sz="1400" b="1" spc="300" kern="0" dirty="0">
                <a:solidFill>
                  <a:srgbClr val="02C39A"/>
                </a:solidFill>
                <a:latin typeface="Calibri" pitchFamily="34" charset="0"/>
                <a:ea typeface="Calibri" pitchFamily="34" charset="-122"/>
                <a:cs typeface="Calibri" pitchFamily="34" charset="-120"/>
              </a:rPr>
              <a:t>CURSO DE MLOPS  ·  VERSIONADO Y RELEASES</a:t>
            </a:r>
            <a:endParaRPr lang="en-US" sz="1400" dirty="0"/>
          </a:p>
        </p:txBody>
      </p:sp>
      <p:sp>
        <p:nvSpPr>
          <p:cNvPr id="7" name="Text 4"/>
          <p:cNvSpPr txBox="1"/>
          <p:nvPr/>
        </p:nvSpPr>
        <p:spPr>
          <a:xfrm>
            <a:off x="594360" y="2880360"/>
            <a:ext cx="10789920" cy="2103120"/>
          </a:xfrm>
          <a:prstGeom prst="rect">
            <a:avLst/>
          </a:prstGeom>
          <a:noFill/>
          <a:ln/>
        </p:spPr>
        <p:txBody>
          <a:bodyPr wrap="square" rtlCol="0" anchor="ctr"/>
          <a:lstStyle/>
          <a:p>
            <a:pPr indent="0" marL="0">
              <a:lnSpc>
                <a:spcPts val="5400"/>
              </a:lnSpc>
              <a:buNone/>
            </a:pPr>
            <a:r>
              <a:rPr lang="en-US" sz="4800" b="1" dirty="0">
                <a:solidFill>
                  <a:srgbClr val="FFFFFF"/>
                </a:solidFill>
                <a:latin typeface="Cambria" pitchFamily="34" charset="0"/>
                <a:ea typeface="Cambria" pitchFamily="34" charset="-122"/>
                <a:cs typeface="Cambria" pitchFamily="34" charset="-120"/>
              </a:rPr>
              <a:t>Semantic Versioning:</a:t>
            </a:r>
            <a:endParaRPr lang="en-US" sz="4800" dirty="0"/>
          </a:p>
          <a:p>
            <a:pPr indent="0" marL="0">
              <a:lnSpc>
                <a:spcPts val="5400"/>
              </a:lnSpc>
              <a:buNone/>
            </a:pPr>
            <a:r>
              <a:rPr lang="en-US" sz="4800" b="1" dirty="0">
                <a:solidFill>
                  <a:srgbClr val="FFFFFF"/>
                </a:solidFill>
                <a:latin typeface="Cambria" pitchFamily="34" charset="0"/>
                <a:ea typeface="Cambria" pitchFamily="34" charset="-122"/>
                <a:cs typeface="Cambria" pitchFamily="34" charset="-120"/>
              </a:rPr>
              <a:t>las respuestas</a:t>
            </a:r>
            <a:endParaRPr lang="en-US" sz="4800" dirty="0"/>
          </a:p>
        </p:txBody>
      </p:sp>
      <p:sp>
        <p:nvSpPr>
          <p:cNvPr id="8" name="Text 5"/>
          <p:cNvSpPr txBox="1"/>
          <p:nvPr/>
        </p:nvSpPr>
        <p:spPr>
          <a:xfrm>
            <a:off x="640080" y="5074920"/>
            <a:ext cx="10058400" cy="640080"/>
          </a:xfrm>
          <a:prstGeom prst="rect">
            <a:avLst/>
          </a:prstGeom>
          <a:noFill/>
          <a:ln/>
        </p:spPr>
        <p:txBody>
          <a:bodyPr wrap="square" rtlCol="0" anchor="ctr"/>
          <a:lstStyle/>
          <a:p>
            <a:pPr indent="0" marL="0">
              <a:buNone/>
            </a:pPr>
            <a:r>
              <a:rPr lang="en-US" sz="1600" i="1" dirty="0">
                <a:solidFill>
                  <a:srgbClr val="F4FBFA"/>
                </a:solidFill>
                <a:latin typeface="Calibri" pitchFamily="34" charset="0"/>
                <a:ea typeface="Calibri" pitchFamily="34" charset="-122"/>
                <a:cs typeface="Calibri" pitchFamily="34" charset="-120"/>
              </a:rPr>
              <a:t>¿Qué tanto acertó tu equipo? Revisemos los 6 casos, uno por uno.</a:t>
            </a:r>
            <a:endParaRPr lang="en-US" sz="1600" dirty="0"/>
          </a:p>
        </p:txBody>
      </p:sp>
      <p:sp>
        <p:nvSpPr>
          <p:cNvPr id="9" name="Text 6"/>
          <p:cNvSpPr txBox="1"/>
          <p:nvPr/>
        </p:nvSpPr>
        <p:spPr>
          <a:xfrm>
            <a:off x="640080" y="6263640"/>
            <a:ext cx="10058400" cy="365760"/>
          </a:xfrm>
          <a:prstGeom prst="rect">
            <a:avLst/>
          </a:prstGeom>
          <a:noFill/>
          <a:ln/>
        </p:spPr>
        <p:txBody>
          <a:bodyPr wrap="square" rtlCol="0" anchor="ctr"/>
          <a:lstStyle/>
          <a:p>
            <a:pPr indent="0" marL="0">
              <a:buNone/>
            </a:pPr>
            <a:r>
              <a:rPr lang="en-US" sz="1200" dirty="0">
                <a:solidFill>
                  <a:srgbClr val="5C7A7D"/>
                </a:solidFill>
                <a:latin typeface="Calibri" pitchFamily="34" charset="0"/>
                <a:ea typeface="Calibri" pitchFamily="34" charset="-122"/>
                <a:cs typeface="Calibri" pitchFamily="34" charset="-120"/>
              </a:rPr>
              <a:t>Universidad de Medellín  ·  Especialización en Analítica e Inteligencia Artificial</a:t>
            </a:r>
            <a:endParaRPr lang="en-US" sz="1200" dirty="0"/>
          </a:p>
        </p:txBody>
      </p:sp>
      <p:sp>
        <p:nvSpPr>
          <p:cNvPr id="10" name="Text 7"/>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01 / 10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RECORDATORIO RÁPIDO</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B2B2E"/>
                </a:solidFill>
                <a:latin typeface="Cambria" pitchFamily="34" charset="0"/>
                <a:ea typeface="Cambria" pitchFamily="34" charset="-122"/>
                <a:cs typeface="Cambria" pitchFamily="34" charset="-120"/>
              </a:rPr>
              <a:t>Una sola pregunta decide todo</a:t>
            </a:r>
            <a:endParaRPr lang="en-US" sz="3200" dirty="0"/>
          </a:p>
        </p:txBody>
      </p:sp>
      <p:sp>
        <p:nvSpPr>
          <p:cNvPr id="4" name="Text 2"/>
          <p:cNvSpPr txBox="1"/>
          <p:nvPr/>
        </p:nvSpPr>
        <p:spPr>
          <a:xfrm>
            <a:off x="548640" y="1417320"/>
            <a:ext cx="10789920" cy="548640"/>
          </a:xfrm>
          <a:prstGeom prst="rect">
            <a:avLst/>
          </a:prstGeom>
          <a:noFill/>
          <a:ln/>
        </p:spPr>
        <p:txBody>
          <a:bodyPr wrap="square" rtlCol="0" anchor="ctr"/>
          <a:lstStyle/>
          <a:p>
            <a:pPr indent="0" marL="0">
              <a:buNone/>
            </a:pPr>
            <a:r>
              <a:rPr lang="en-US" sz="1700" b="1" i="1" dirty="0">
                <a:solidFill>
                  <a:srgbClr val="1B2B2E"/>
                </a:solidFill>
                <a:latin typeface="Calibri" pitchFamily="34" charset="0"/>
                <a:ea typeface="Calibri" pitchFamily="34" charset="-122"/>
                <a:cs typeface="Calibri" pitchFamily="34" charset="-120"/>
              </a:rPr>
              <a:t>¿Alguien que use tu código tal como está hoy, se rompe si actualiza?</a:t>
            </a:r>
            <a:endParaRPr lang="en-US" sz="1700" dirty="0"/>
          </a:p>
        </p:txBody>
      </p:sp>
      <p:sp>
        <p:nvSpPr>
          <p:cNvPr id="5" name="Shape 3"/>
          <p:cNvSpPr/>
          <p:nvPr/>
        </p:nvSpPr>
        <p:spPr>
          <a:xfrm>
            <a:off x="548640" y="2286000"/>
            <a:ext cx="3520440" cy="3566160"/>
          </a:xfrm>
          <a:prstGeom prst="roundRect">
            <a:avLst>
              <a:gd name="adj" fmla="val 3636"/>
            </a:avLst>
          </a:prstGeom>
          <a:solidFill>
            <a:srgbClr val="0B3D42"/>
          </a:solidFill>
          <a:ln/>
        </p:spPr>
      </p:sp>
      <p:sp>
        <p:nvSpPr>
          <p:cNvPr id="6" name="Text 4"/>
          <p:cNvSpPr txBox="1"/>
          <p:nvPr/>
        </p:nvSpPr>
        <p:spPr>
          <a:xfrm>
            <a:off x="731520" y="2606040"/>
            <a:ext cx="3154680" cy="822960"/>
          </a:xfrm>
          <a:prstGeom prst="rect">
            <a:avLst/>
          </a:prstGeom>
          <a:noFill/>
          <a:ln/>
        </p:spPr>
        <p:txBody>
          <a:bodyPr wrap="square" rtlCol="0" anchor="ctr"/>
          <a:lstStyle/>
          <a:p>
            <a:pPr algn="ctr" indent="0" marL="0">
              <a:buNone/>
            </a:pPr>
            <a:r>
              <a:rPr lang="en-US" sz="3000" b="1" dirty="0">
                <a:solidFill>
                  <a:srgbClr val="02C39A"/>
                </a:solidFill>
                <a:latin typeface="Cambria" pitchFamily="34" charset="0"/>
                <a:ea typeface="Cambria" pitchFamily="34" charset="-122"/>
                <a:cs typeface="Cambria" pitchFamily="34" charset="-120"/>
              </a:rPr>
              <a:t>PATCH</a:t>
            </a:r>
            <a:endParaRPr lang="en-US" sz="3000" dirty="0"/>
          </a:p>
        </p:txBody>
      </p:sp>
      <p:sp>
        <p:nvSpPr>
          <p:cNvPr id="7" name="Text 5"/>
          <p:cNvSpPr txBox="1"/>
          <p:nvPr/>
        </p:nvSpPr>
        <p:spPr>
          <a:xfrm>
            <a:off x="868680" y="3520440"/>
            <a:ext cx="2880360" cy="2103120"/>
          </a:xfrm>
          <a:prstGeom prst="rect">
            <a:avLst/>
          </a:prstGeom>
          <a:noFill/>
          <a:ln/>
        </p:spPr>
        <p:txBody>
          <a:bodyPr wrap="square" rtlCol="0" anchor="ctr"/>
          <a:lstStyle/>
          <a:p>
            <a:pPr algn="ctr" indent="0" marL="0">
              <a:buNone/>
            </a:pPr>
            <a:r>
              <a:rPr lang="en-US" sz="1450" dirty="0">
                <a:solidFill>
                  <a:srgbClr val="F4FBFA"/>
                </a:solidFill>
                <a:latin typeface="Calibri" pitchFamily="34" charset="0"/>
                <a:ea typeface="Calibri" pitchFamily="34" charset="-122"/>
                <a:cs typeface="Calibri" pitchFamily="34" charset="-120"/>
              </a:rPr>
              <a:t>No cambia nada observable. Bugfix, performance interna, typos.</a:t>
            </a:r>
            <a:endParaRPr lang="en-US" sz="1450" dirty="0"/>
          </a:p>
        </p:txBody>
      </p:sp>
      <p:sp>
        <p:nvSpPr>
          <p:cNvPr id="8" name="Shape 6"/>
          <p:cNvSpPr/>
          <p:nvPr/>
        </p:nvSpPr>
        <p:spPr>
          <a:xfrm>
            <a:off x="4297680" y="2286000"/>
            <a:ext cx="3520440" cy="3566160"/>
          </a:xfrm>
          <a:prstGeom prst="roundRect">
            <a:avLst>
              <a:gd name="adj" fmla="val 3636"/>
            </a:avLst>
          </a:prstGeom>
          <a:solidFill>
            <a:srgbClr val="0B3D42"/>
          </a:solidFill>
          <a:ln/>
        </p:spPr>
      </p:sp>
      <p:sp>
        <p:nvSpPr>
          <p:cNvPr id="9" name="Text 7"/>
          <p:cNvSpPr txBox="1"/>
          <p:nvPr/>
        </p:nvSpPr>
        <p:spPr>
          <a:xfrm>
            <a:off x="4480560" y="2606040"/>
            <a:ext cx="3154680" cy="822960"/>
          </a:xfrm>
          <a:prstGeom prst="rect">
            <a:avLst/>
          </a:prstGeom>
          <a:noFill/>
          <a:ln/>
        </p:spPr>
        <p:txBody>
          <a:bodyPr wrap="square" rtlCol="0" anchor="ctr"/>
          <a:lstStyle/>
          <a:p>
            <a:pPr algn="ctr" indent="0" marL="0">
              <a:buNone/>
            </a:pPr>
            <a:r>
              <a:rPr lang="en-US" sz="3000" b="1" dirty="0">
                <a:solidFill>
                  <a:srgbClr val="028090"/>
                </a:solidFill>
                <a:latin typeface="Cambria" pitchFamily="34" charset="0"/>
                <a:ea typeface="Cambria" pitchFamily="34" charset="-122"/>
                <a:cs typeface="Cambria" pitchFamily="34" charset="-120"/>
              </a:rPr>
              <a:t>MINOR</a:t>
            </a:r>
            <a:endParaRPr lang="en-US" sz="3000" dirty="0"/>
          </a:p>
        </p:txBody>
      </p:sp>
      <p:sp>
        <p:nvSpPr>
          <p:cNvPr id="10" name="Text 8"/>
          <p:cNvSpPr txBox="1"/>
          <p:nvPr/>
        </p:nvSpPr>
        <p:spPr>
          <a:xfrm>
            <a:off x="4617720" y="3520440"/>
            <a:ext cx="2880360" cy="2103120"/>
          </a:xfrm>
          <a:prstGeom prst="rect">
            <a:avLst/>
          </a:prstGeom>
          <a:noFill/>
          <a:ln/>
        </p:spPr>
        <p:txBody>
          <a:bodyPr wrap="square" rtlCol="0" anchor="ctr"/>
          <a:lstStyle/>
          <a:p>
            <a:pPr algn="ctr" indent="0" marL="0">
              <a:buNone/>
            </a:pPr>
            <a:r>
              <a:rPr lang="en-US" sz="1450" dirty="0">
                <a:solidFill>
                  <a:srgbClr val="F4FBFA"/>
                </a:solidFill>
                <a:latin typeface="Calibri" pitchFamily="34" charset="0"/>
                <a:ea typeface="Calibri" pitchFamily="34" charset="-122"/>
                <a:cs typeface="Calibri" pitchFamily="34" charset="-120"/>
              </a:rPr>
              <a:t>Agrega algo nuevo sin tocar lo que ya existía.</a:t>
            </a:r>
            <a:endParaRPr lang="en-US" sz="1450" dirty="0"/>
          </a:p>
        </p:txBody>
      </p:sp>
      <p:sp>
        <p:nvSpPr>
          <p:cNvPr id="11" name="Shape 9"/>
          <p:cNvSpPr/>
          <p:nvPr/>
        </p:nvSpPr>
        <p:spPr>
          <a:xfrm>
            <a:off x="8046720" y="2286000"/>
            <a:ext cx="3520440" cy="3566160"/>
          </a:xfrm>
          <a:prstGeom prst="roundRect">
            <a:avLst>
              <a:gd name="adj" fmla="val 3636"/>
            </a:avLst>
          </a:prstGeom>
          <a:solidFill>
            <a:srgbClr val="0B3D42"/>
          </a:solidFill>
          <a:ln/>
        </p:spPr>
      </p:sp>
      <p:sp>
        <p:nvSpPr>
          <p:cNvPr id="12" name="Text 10"/>
          <p:cNvSpPr txBox="1"/>
          <p:nvPr/>
        </p:nvSpPr>
        <p:spPr>
          <a:xfrm>
            <a:off x="8229600" y="2606040"/>
            <a:ext cx="3154680" cy="822960"/>
          </a:xfrm>
          <a:prstGeom prst="rect">
            <a:avLst/>
          </a:prstGeom>
          <a:noFill/>
          <a:ln/>
        </p:spPr>
        <p:txBody>
          <a:bodyPr wrap="square" rtlCol="0" anchor="ctr"/>
          <a:lstStyle/>
          <a:p>
            <a:pPr algn="ctr" indent="0" marL="0">
              <a:buNone/>
            </a:pPr>
            <a:r>
              <a:rPr lang="en-US" sz="3000" b="1" dirty="0">
                <a:solidFill>
                  <a:srgbClr val="D7263D"/>
                </a:solidFill>
                <a:latin typeface="Cambria" pitchFamily="34" charset="0"/>
                <a:ea typeface="Cambria" pitchFamily="34" charset="-122"/>
                <a:cs typeface="Cambria" pitchFamily="34" charset="-120"/>
              </a:rPr>
              <a:t>MAJOR</a:t>
            </a:r>
            <a:endParaRPr lang="en-US" sz="3000" dirty="0"/>
          </a:p>
        </p:txBody>
      </p:sp>
      <p:sp>
        <p:nvSpPr>
          <p:cNvPr id="13" name="Text 11"/>
          <p:cNvSpPr txBox="1"/>
          <p:nvPr/>
        </p:nvSpPr>
        <p:spPr>
          <a:xfrm>
            <a:off x="8366760" y="3520440"/>
            <a:ext cx="2880360" cy="2103120"/>
          </a:xfrm>
          <a:prstGeom prst="rect">
            <a:avLst/>
          </a:prstGeom>
          <a:noFill/>
          <a:ln/>
        </p:spPr>
        <p:txBody>
          <a:bodyPr wrap="square" rtlCol="0" anchor="ctr"/>
          <a:lstStyle/>
          <a:p>
            <a:pPr algn="ctr" indent="0" marL="0">
              <a:buNone/>
            </a:pPr>
            <a:r>
              <a:rPr lang="en-US" sz="1450" dirty="0">
                <a:solidFill>
                  <a:srgbClr val="F4FBFA"/>
                </a:solidFill>
                <a:latin typeface="Calibri" pitchFamily="34" charset="0"/>
                <a:ea typeface="Calibri" pitchFamily="34" charset="-122"/>
                <a:cs typeface="Calibri" pitchFamily="34" charset="-120"/>
              </a:rPr>
              <a:t>Cambia o elimina algo que ya existía. Puede romper a alguien.</a:t>
            </a:r>
            <a:endParaRPr lang="en-US" sz="1450" dirty="0"/>
          </a:p>
        </p:txBody>
      </p:sp>
      <p:sp>
        <p:nvSpPr>
          <p:cNvPr id="14" name="Text 12"/>
          <p:cNvSpPr txBox="1"/>
          <p:nvPr/>
        </p:nvSpPr>
        <p:spPr>
          <a:xfrm>
            <a:off x="548640" y="6080760"/>
            <a:ext cx="10972800" cy="457200"/>
          </a:xfrm>
          <a:prstGeom prst="rect">
            <a:avLst/>
          </a:prstGeom>
          <a:noFill/>
          <a:ln/>
        </p:spPr>
        <p:txBody>
          <a:bodyPr wrap="square" rtlCol="0" anchor="ctr"/>
          <a:lstStyle/>
          <a:p>
            <a:pPr algn="ctr" indent="0" marL="0">
              <a:buNone/>
            </a:pPr>
            <a:r>
              <a:rPr lang="en-US" sz="1400" i="1" dirty="0">
                <a:solidFill>
                  <a:srgbClr val="5C7A7D"/>
                </a:solidFill>
                <a:latin typeface="Calibri" pitchFamily="34" charset="0"/>
                <a:ea typeface="Calibri" pitchFamily="34" charset="-122"/>
                <a:cs typeface="Calibri" pitchFamily="34" charset="-120"/>
              </a:rPr>
              <a:t>Con esa pregunta en mente, vamos a los 6 casos.</a:t>
            </a:r>
            <a:endParaRPr lang="en-US" sz="1400" dirty="0"/>
          </a:p>
        </p:txBody>
      </p:sp>
      <p:sp>
        <p:nvSpPr>
          <p:cNvPr id="15" name="Text 13"/>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1 DE 6</a:t>
            </a:r>
            <a:endParaRPr lang="en-US" sz="1200" dirty="0"/>
          </a:p>
        </p:txBody>
      </p:sp>
      <p:sp>
        <p:nvSpPr>
          <p:cNvPr id="3" name="Text 1"/>
          <p:cNvSpPr txBox="1"/>
          <p:nvPr/>
        </p:nvSpPr>
        <p:spPr>
          <a:xfrm>
            <a:off x="548640" y="411480"/>
            <a:ext cx="7863840" cy="914400"/>
          </a:xfrm>
          <a:prstGeom prst="rect">
            <a:avLst/>
          </a:prstGeom>
          <a:noFill/>
          <a:ln/>
        </p:spPr>
        <p:txBody>
          <a:bodyPr wrap="square" rtlCol="0" anchor="ctr"/>
          <a:lstStyle/>
          <a:p>
            <a:pPr algn="l" indent="0" marL="0">
              <a:buNone/>
            </a:pPr>
            <a:r>
              <a:rPr lang="en-US" sz="2400" b="1" dirty="0">
                <a:solidFill>
                  <a:srgbClr val="1B2B2E"/>
                </a:solidFill>
                <a:latin typeface="Cambria" pitchFamily="34" charset="0"/>
                <a:ea typeface="Cambria" pitchFamily="34" charset="-122"/>
                <a:cs typeface="Cambria" pitchFamily="34" charset="-120"/>
              </a:rPr>
              <a:t>Elimina una función "vieja" marcada como deprecated</a:t>
            </a:r>
            <a:endParaRPr lang="en-US" sz="2400" dirty="0"/>
          </a:p>
        </p:txBody>
      </p:sp>
      <p:sp>
        <p:nvSpPr>
          <p:cNvPr id="4" name="Shape 2"/>
          <p:cNvSpPr/>
          <p:nvPr/>
        </p:nvSpPr>
        <p:spPr>
          <a:xfrm>
            <a:off x="8778240" y="438912"/>
            <a:ext cx="2834640" cy="868680"/>
          </a:xfrm>
          <a:prstGeom prst="roundRect">
            <a:avLst>
              <a:gd name="adj" fmla="val 12632"/>
            </a:avLst>
          </a:prstGeom>
          <a:solidFill>
            <a:srgbClr val="D7263D"/>
          </a:solidFill>
          <a:ln/>
        </p:spPr>
      </p:sp>
      <p:sp>
        <p:nvSpPr>
          <p:cNvPr id="5" name="Text 3"/>
          <p:cNvSpPr txBox="1"/>
          <p:nvPr/>
        </p:nvSpPr>
        <p:spPr>
          <a:xfrm>
            <a:off x="8778240" y="438912"/>
            <a:ext cx="2834640" cy="86868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MAJOR</a:t>
            </a:r>
            <a:endParaRPr lang="en-US" sz="2400" dirty="0"/>
          </a:p>
        </p:txBody>
      </p:sp>
      <p:sp>
        <p:nvSpPr>
          <p:cNvPr id="6" name="Shape 4"/>
          <p:cNvSpPr/>
          <p:nvPr/>
        </p:nvSpPr>
        <p:spPr>
          <a:xfrm>
            <a:off x="548640" y="1508760"/>
            <a:ext cx="11064240" cy="1417320"/>
          </a:xfrm>
          <a:prstGeom prst="roundRect">
            <a:avLst>
              <a:gd name="adj" fmla="val 7742"/>
            </a:avLst>
          </a:prstGeom>
          <a:solidFill>
            <a:srgbClr val="1B2B2E"/>
          </a:solidFill>
          <a:ln/>
        </p:spPr>
      </p:sp>
      <p:sp>
        <p:nvSpPr>
          <p:cNvPr id="7" name="Text 5"/>
          <p:cNvSpPr txBox="1"/>
          <p:nvPr/>
        </p:nvSpPr>
        <p:spPr>
          <a:xfrm>
            <a:off x="822960" y="1645920"/>
            <a:ext cx="10515600" cy="1143000"/>
          </a:xfrm>
          <a:prstGeom prst="rect">
            <a:avLst/>
          </a:prstGeom>
          <a:noFill/>
          <a:ln/>
        </p:spPr>
        <p:txBody>
          <a:bodyPr wrap="square" rtlCol="0" anchor="ctr"/>
          <a:lstStyle/>
          <a:p>
            <a:pPr indent="0" marL="0">
              <a:buNone/>
            </a:pPr>
            <a:r>
              <a:rPr lang="en-US" sz="1450" dirty="0">
                <a:solidFill>
                  <a:srgbClr val="D7263D"/>
                </a:solidFill>
                <a:latin typeface="Consolas" pitchFamily="34" charset="0"/>
                <a:ea typeface="Consolas" pitchFamily="34" charset="-122"/>
                <a:cs typeface="Consolas" pitchFamily="34" charset="-120"/>
              </a:rPr>
              <a:t># Llevaba 2 versiones marcada @deprecated</a:t>
            </a:r>
            <a:endParaRPr lang="en-US" sz="1450" dirty="0"/>
          </a:p>
          <a:p>
            <a:pPr indent="0" marL="0">
              <a:buNone/>
            </a:pPr>
            <a:r>
              <a:rPr lang="en-US" sz="1450" dirty="0">
                <a:solidFill>
                  <a:srgbClr val="D7263D"/>
                </a:solidFill>
                <a:latin typeface="Consolas" pitchFamily="34" charset="0"/>
                <a:ea typeface="Consolas" pitchFamily="34" charset="-122"/>
                <a:cs typeface="Consolas" pitchFamily="34" charset="-120"/>
              </a:rPr>
              <a:t>- def calcular_metricas_viejas(df):</a:t>
            </a:r>
            <a:endParaRPr lang="en-US" sz="1450" dirty="0"/>
          </a:p>
          <a:p>
            <a:pPr indent="0" marL="0">
              <a:buNone/>
            </a:pPr>
            <a:r>
              <a:rPr lang="en-US" sz="1450" dirty="0">
                <a:solidFill>
                  <a:srgbClr val="D7263D"/>
                </a:solidFill>
                <a:latin typeface="Consolas" pitchFamily="34" charset="0"/>
                <a:ea typeface="Consolas" pitchFamily="34" charset="-122"/>
                <a:cs typeface="Consolas" pitchFamily="34" charset="-120"/>
              </a:rPr>
              <a:t>-     ...</a:t>
            </a:r>
            <a:endParaRPr lang="en-US" sz="1450" dirty="0"/>
          </a:p>
          <a:p>
            <a:pPr indent="0" marL="0">
              <a:buNone/>
            </a:pPr>
            <a:endParaRPr lang="en-US" sz="1450" dirty="0"/>
          </a:p>
          <a:p>
            <a:pPr indent="0" marL="0">
              <a:buNone/>
            </a:pPr>
            <a:r>
              <a:rPr lang="en-US" sz="1450" dirty="0">
                <a:solidFill>
                  <a:srgbClr val="D7263D"/>
                </a:solidFill>
                <a:latin typeface="Consolas" pitchFamily="34" charset="0"/>
                <a:ea typeface="Consolas" pitchFamily="34" charset="-122"/>
                <a:cs typeface="Consolas" pitchFamily="34" charset="-120"/>
              </a:rPr>
              <a:t># En esta versión, se elimina por completo</a:t>
            </a:r>
            <a:endParaRPr lang="en-US" sz="1450" dirty="0"/>
          </a:p>
        </p:txBody>
      </p:sp>
      <p:sp>
        <p:nvSpPr>
          <p:cNvPr id="8" name="Shape 6"/>
          <p:cNvSpPr/>
          <p:nvPr/>
        </p:nvSpPr>
        <p:spPr>
          <a:xfrm>
            <a:off x="548640" y="3154680"/>
            <a:ext cx="11064240" cy="1417320"/>
          </a:xfrm>
          <a:prstGeom prst="roundRect">
            <a:avLst>
              <a:gd name="adj" fmla="val 7742"/>
            </a:avLst>
          </a:prstGeom>
          <a:solidFill>
            <a:srgbClr val="EFF7F6"/>
          </a:solidFill>
          <a:ln w="19050">
            <a:solidFill>
              <a:srgbClr val="D7263D"/>
            </a:solidFill>
            <a:prstDash val="solid"/>
          </a:ln>
        </p:spPr>
      </p:sp>
      <p:sp>
        <p:nvSpPr>
          <p:cNvPr id="9" name="Text 7"/>
          <p:cNvSpPr txBox="1"/>
          <p:nvPr/>
        </p:nvSpPr>
        <p:spPr>
          <a:xfrm>
            <a:off x="822960" y="3291840"/>
            <a:ext cx="10515600" cy="320040"/>
          </a:xfrm>
          <a:prstGeom prst="rect">
            <a:avLst/>
          </a:prstGeom>
          <a:noFill/>
          <a:ln/>
        </p:spPr>
        <p:txBody>
          <a:bodyPr wrap="square" rtlCol="0" anchor="ctr"/>
          <a:lstStyle/>
          <a:p>
            <a:pPr indent="0" marL="0">
              <a:buNone/>
            </a:pPr>
            <a:r>
              <a:rPr lang="en-US" sz="1200" b="1" spc="150" kern="0" dirty="0">
                <a:solidFill>
                  <a:srgbClr val="D7263D"/>
                </a:solidFill>
                <a:latin typeface="Calibri" pitchFamily="34" charset="0"/>
                <a:ea typeface="Calibri" pitchFamily="34" charset="-122"/>
                <a:cs typeface="Calibri" pitchFamily="34" charset="-120"/>
              </a:rPr>
              <a:t>¿POR QUÉ?</a:t>
            </a:r>
            <a:endParaRPr lang="en-US" sz="1200" dirty="0"/>
          </a:p>
        </p:txBody>
      </p:sp>
      <p:sp>
        <p:nvSpPr>
          <p:cNvPr id="10" name="Text 8"/>
          <p:cNvSpPr txBox="1"/>
          <p:nvPr/>
        </p:nvSpPr>
        <p:spPr>
          <a:xfrm>
            <a:off x="822960" y="3611880"/>
            <a:ext cx="10515600" cy="868680"/>
          </a:xfrm>
          <a:prstGeom prst="rect">
            <a:avLst/>
          </a:prstGeom>
          <a:noFill/>
          <a:ln/>
        </p:spPr>
        <p:txBody>
          <a:bodyPr wrap="square" rtlCol="0" anchor="ctr"/>
          <a:lstStyle/>
          <a:p>
            <a:pPr indent="0" marL="0">
              <a:buNone/>
            </a:pPr>
            <a:r>
              <a:rPr lang="en-US" sz="1500" dirty="0">
                <a:solidFill>
                  <a:srgbClr val="1B2B2E"/>
                </a:solidFill>
                <a:latin typeface="Calibri" pitchFamily="34" charset="0"/>
                <a:ea typeface="Calibri" pitchFamily="34" charset="-122"/>
                <a:cs typeface="Calibri" pitchFamily="34" charset="-120"/>
              </a:rPr>
              <a:t>Estar deprecated es una advertencia, no una eliminación. Quien no haya migrado todavía, se rompe apenas actualice. Eliminar código público siempre es un cambio incompatible, sin importar cuánto tiempo llevaba avisado.</a:t>
            </a:r>
            <a:endParaRPr lang="en-US" sz="1500" dirty="0"/>
          </a:p>
        </p:txBody>
      </p:sp>
      <p:sp>
        <p:nvSpPr>
          <p:cNvPr id="11" name="Shape 9"/>
          <p:cNvSpPr/>
          <p:nvPr/>
        </p:nvSpPr>
        <p:spPr>
          <a:xfrm>
            <a:off x="548640" y="4800600"/>
            <a:ext cx="11064240" cy="1417320"/>
          </a:xfrm>
          <a:prstGeom prst="roundRect">
            <a:avLst>
              <a:gd name="adj" fmla="val 7742"/>
            </a:avLst>
          </a:prstGeom>
          <a:solidFill>
            <a:srgbClr val="0B3D42"/>
          </a:solidFill>
          <a:ln/>
        </p:spPr>
      </p:sp>
      <p:sp>
        <p:nvSpPr>
          <p:cNvPr id="12" name="Text 10"/>
          <p:cNvSpPr txBox="1"/>
          <p:nvPr/>
        </p:nvSpPr>
        <p:spPr>
          <a:xfrm>
            <a:off x="822960" y="4937760"/>
            <a:ext cx="10515600" cy="320040"/>
          </a:xfrm>
          <a:prstGeom prst="rect">
            <a:avLst/>
          </a:prstGeom>
          <a:noFill/>
          <a:ln/>
        </p:spPr>
        <p:txBody>
          <a:bodyPr wrap="square" rtlCol="0" anchor="ctr"/>
          <a:lstStyle/>
          <a:p>
            <a:pPr indent="0" marL="0">
              <a:buNone/>
            </a:pPr>
            <a:r>
              <a:rPr lang="en-US" sz="1150" b="1" spc="100" kern="0" dirty="0">
                <a:solidFill>
                  <a:srgbClr val="02C39A"/>
                </a:solidFill>
                <a:latin typeface="Calibri" pitchFamily="34" charset="0"/>
                <a:ea typeface="Calibri" pitchFamily="34" charset="-122"/>
                <a:cs typeface="Calibri" pitchFamily="34" charset="-120"/>
              </a:rPr>
              <a:t>SI TU EQUIPO VOTÓ DISTINTO...</a:t>
            </a:r>
            <a:endParaRPr lang="en-US" sz="1150" dirty="0"/>
          </a:p>
        </p:txBody>
      </p:sp>
      <p:sp>
        <p:nvSpPr>
          <p:cNvPr id="13" name="Text 11"/>
          <p:cNvSpPr txBox="1"/>
          <p:nvPr/>
        </p:nvSpPr>
        <p:spPr>
          <a:xfrm>
            <a:off x="822960" y="5257800"/>
            <a:ext cx="10515600" cy="868680"/>
          </a:xfrm>
          <a:prstGeom prst="rect">
            <a:avLst/>
          </a:prstGeom>
          <a:noFill/>
          <a:ln/>
        </p:spPr>
        <p:txBody>
          <a:bodyPr wrap="square" rtlCol="0" anchor="ctr"/>
          <a:lstStyle/>
          <a:p>
            <a:pPr indent="0" marL="0">
              <a:buNone/>
            </a:pPr>
            <a:r>
              <a:rPr lang="en-US" sz="1450" i="1" dirty="0">
                <a:solidFill>
                  <a:srgbClr val="F4FBFA"/>
                </a:solidFill>
                <a:latin typeface="Calibri" pitchFamily="34" charset="0"/>
                <a:ea typeface="Calibri" pitchFamily="34" charset="-122"/>
                <a:cs typeface="Calibri" pitchFamily="34" charset="-120"/>
              </a:rPr>
              <a:t>"¡Pero si llevaba 2 versiones avisando que la iban a quitar!" — Sí, y aun así rompió producción de alguien el viernes a las 5pm.</a:t>
            </a:r>
            <a:endParaRPr lang="en-US" sz="145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2 DE 6</a:t>
            </a:r>
            <a:endParaRPr lang="en-US" sz="1200" dirty="0"/>
          </a:p>
        </p:txBody>
      </p:sp>
      <p:sp>
        <p:nvSpPr>
          <p:cNvPr id="3" name="Text 1"/>
          <p:cNvSpPr txBox="1"/>
          <p:nvPr/>
        </p:nvSpPr>
        <p:spPr>
          <a:xfrm>
            <a:off x="548640" y="411480"/>
            <a:ext cx="7863840" cy="914400"/>
          </a:xfrm>
          <a:prstGeom prst="rect">
            <a:avLst/>
          </a:prstGeom>
          <a:noFill/>
          <a:ln/>
        </p:spPr>
        <p:txBody>
          <a:bodyPr wrap="square" rtlCol="0" anchor="ctr"/>
          <a:lstStyle/>
          <a:p>
            <a:pPr algn="l" indent="0" marL="0">
              <a:buNone/>
            </a:pPr>
            <a:r>
              <a:rPr lang="en-US" sz="2400" b="1" dirty="0">
                <a:solidFill>
                  <a:srgbClr val="1B2B2E"/>
                </a:solidFill>
                <a:latin typeface="Cambria" pitchFamily="34" charset="0"/>
                <a:ea typeface="Cambria" pitchFamily="34" charset="-122"/>
                <a:cs typeface="Cambria" pitchFamily="34" charset="-120"/>
              </a:rPr>
              <a:t>Agrega un parámetro opcional nuevo</a:t>
            </a:r>
            <a:endParaRPr lang="en-US" sz="2400" dirty="0"/>
          </a:p>
        </p:txBody>
      </p:sp>
      <p:sp>
        <p:nvSpPr>
          <p:cNvPr id="4" name="Shape 2"/>
          <p:cNvSpPr/>
          <p:nvPr/>
        </p:nvSpPr>
        <p:spPr>
          <a:xfrm>
            <a:off x="8778240" y="438912"/>
            <a:ext cx="2834640" cy="868680"/>
          </a:xfrm>
          <a:prstGeom prst="roundRect">
            <a:avLst>
              <a:gd name="adj" fmla="val 12632"/>
            </a:avLst>
          </a:prstGeom>
          <a:solidFill>
            <a:srgbClr val="028090"/>
          </a:solidFill>
          <a:ln/>
        </p:spPr>
      </p:sp>
      <p:sp>
        <p:nvSpPr>
          <p:cNvPr id="5" name="Text 3"/>
          <p:cNvSpPr txBox="1"/>
          <p:nvPr/>
        </p:nvSpPr>
        <p:spPr>
          <a:xfrm>
            <a:off x="8778240" y="438912"/>
            <a:ext cx="2834640" cy="86868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MINOR</a:t>
            </a:r>
            <a:endParaRPr lang="en-US" sz="2400" dirty="0"/>
          </a:p>
        </p:txBody>
      </p:sp>
      <p:sp>
        <p:nvSpPr>
          <p:cNvPr id="6" name="Shape 4"/>
          <p:cNvSpPr/>
          <p:nvPr/>
        </p:nvSpPr>
        <p:spPr>
          <a:xfrm>
            <a:off x="548640" y="1508760"/>
            <a:ext cx="11064240" cy="1417320"/>
          </a:xfrm>
          <a:prstGeom prst="roundRect">
            <a:avLst>
              <a:gd name="adj" fmla="val 7742"/>
            </a:avLst>
          </a:prstGeom>
          <a:solidFill>
            <a:srgbClr val="1B2B2E"/>
          </a:solidFill>
          <a:ln/>
        </p:spPr>
      </p:sp>
      <p:sp>
        <p:nvSpPr>
          <p:cNvPr id="7" name="Text 5"/>
          <p:cNvSpPr txBox="1"/>
          <p:nvPr/>
        </p:nvSpPr>
        <p:spPr>
          <a:xfrm>
            <a:off x="822960" y="1645920"/>
            <a:ext cx="10515600" cy="1143000"/>
          </a:xfrm>
          <a:prstGeom prst="rect">
            <a:avLst/>
          </a:prstGeom>
          <a:noFill/>
          <a:ln/>
        </p:spPr>
        <p:txBody>
          <a:bodyPr wrap="square" rtlCol="0" anchor="ctr"/>
          <a:lstStyle/>
          <a:p>
            <a:pPr indent="0" marL="0">
              <a:buNone/>
            </a:pPr>
            <a:r>
              <a:rPr lang="en-US" sz="1450" dirty="0">
                <a:solidFill>
                  <a:srgbClr val="028090"/>
                </a:solidFill>
                <a:latin typeface="Consolas" pitchFamily="34" charset="0"/>
                <a:ea typeface="Consolas" pitchFamily="34" charset="-122"/>
                <a:cs typeface="Consolas" pitchFamily="34" charset="-120"/>
              </a:rPr>
              <a:t>  def predecir(datos, umbral=0.5):</a:t>
            </a:r>
            <a:endParaRPr lang="en-US" sz="1450" dirty="0"/>
          </a:p>
          <a:p>
            <a:pPr indent="0" marL="0">
              <a:buNone/>
            </a:pPr>
            <a:r>
              <a:rPr lang="en-US" sz="1450" dirty="0">
                <a:solidFill>
                  <a:srgbClr val="028090"/>
                </a:solidFill>
                <a:latin typeface="Consolas" pitchFamily="34" charset="0"/>
                <a:ea typeface="Consolas" pitchFamily="34" charset="-122"/>
                <a:cs typeface="Consolas" pitchFamily="34" charset="-120"/>
              </a:rPr>
              <a:t>+     def predecir(datos, umbral=0.5, verbose=False):</a:t>
            </a:r>
            <a:endParaRPr lang="en-US" sz="1450" dirty="0"/>
          </a:p>
          <a:p>
            <a:pPr indent="0" marL="0">
              <a:buNone/>
            </a:pPr>
            <a:r>
              <a:rPr lang="en-US" sz="1450" dirty="0">
                <a:solidFill>
                  <a:srgbClr val="028090"/>
                </a:solidFill>
                <a:latin typeface="Consolas" pitchFamily="34" charset="0"/>
                <a:ea typeface="Consolas" pitchFamily="34" charset="-122"/>
                <a:cs typeface="Consolas" pitchFamily="34" charset="-120"/>
              </a:rPr>
              <a:t>          ...</a:t>
            </a:r>
            <a:endParaRPr lang="en-US" sz="1450" dirty="0"/>
          </a:p>
        </p:txBody>
      </p:sp>
      <p:sp>
        <p:nvSpPr>
          <p:cNvPr id="8" name="Shape 6"/>
          <p:cNvSpPr/>
          <p:nvPr/>
        </p:nvSpPr>
        <p:spPr>
          <a:xfrm>
            <a:off x="548640" y="3154680"/>
            <a:ext cx="11064240" cy="1417320"/>
          </a:xfrm>
          <a:prstGeom prst="roundRect">
            <a:avLst>
              <a:gd name="adj" fmla="val 7742"/>
            </a:avLst>
          </a:prstGeom>
          <a:solidFill>
            <a:srgbClr val="EFF7F6"/>
          </a:solidFill>
          <a:ln w="19050">
            <a:solidFill>
              <a:srgbClr val="028090"/>
            </a:solidFill>
            <a:prstDash val="solid"/>
          </a:ln>
        </p:spPr>
      </p:sp>
      <p:sp>
        <p:nvSpPr>
          <p:cNvPr id="9" name="Text 7"/>
          <p:cNvSpPr txBox="1"/>
          <p:nvPr/>
        </p:nvSpPr>
        <p:spPr>
          <a:xfrm>
            <a:off x="822960" y="3291840"/>
            <a:ext cx="10515600" cy="320040"/>
          </a:xfrm>
          <a:prstGeom prst="rect">
            <a:avLst/>
          </a:prstGeom>
          <a:noFill/>
          <a:ln/>
        </p:spPr>
        <p:txBody>
          <a:bodyPr wrap="square" rtlCol="0" anchor="ctr"/>
          <a:lstStyle/>
          <a:p>
            <a:pPr indent="0" marL="0">
              <a:buNone/>
            </a:pPr>
            <a:r>
              <a:rPr lang="en-US" sz="1200" b="1" spc="150" kern="0" dirty="0">
                <a:solidFill>
                  <a:srgbClr val="028090"/>
                </a:solidFill>
                <a:latin typeface="Calibri" pitchFamily="34" charset="0"/>
                <a:ea typeface="Calibri" pitchFamily="34" charset="-122"/>
                <a:cs typeface="Calibri" pitchFamily="34" charset="-120"/>
              </a:rPr>
              <a:t>¿POR QUÉ?</a:t>
            </a:r>
            <a:endParaRPr lang="en-US" sz="1200" dirty="0"/>
          </a:p>
        </p:txBody>
      </p:sp>
      <p:sp>
        <p:nvSpPr>
          <p:cNvPr id="10" name="Text 8"/>
          <p:cNvSpPr txBox="1"/>
          <p:nvPr/>
        </p:nvSpPr>
        <p:spPr>
          <a:xfrm>
            <a:off x="822960" y="3611880"/>
            <a:ext cx="10515600" cy="868680"/>
          </a:xfrm>
          <a:prstGeom prst="rect">
            <a:avLst/>
          </a:prstGeom>
          <a:noFill/>
          <a:ln/>
        </p:spPr>
        <p:txBody>
          <a:bodyPr wrap="square" rtlCol="0" anchor="ctr"/>
          <a:lstStyle/>
          <a:p>
            <a:pPr indent="0" marL="0">
              <a:buNone/>
            </a:pPr>
            <a:r>
              <a:rPr lang="en-US" sz="1500" dirty="0">
                <a:solidFill>
                  <a:srgbClr val="1B2B2E"/>
                </a:solidFill>
                <a:latin typeface="Calibri" pitchFamily="34" charset="0"/>
                <a:ea typeface="Calibri" pitchFamily="34" charset="-122"/>
                <a:cs typeface="Calibri" pitchFamily="34" charset="-120"/>
              </a:rPr>
              <a:t>Todo el código que ya llamaba a predecir(datos) sigue funcionando exactamente igual, porque 'verbose' tiene un valor por defecto. Se agregó capacidad nueva sin quitar ni cambiar nada existente.</a:t>
            </a:r>
            <a:endParaRPr lang="en-US" sz="1500" dirty="0"/>
          </a:p>
        </p:txBody>
      </p:sp>
      <p:sp>
        <p:nvSpPr>
          <p:cNvPr id="11" name="Shape 9"/>
          <p:cNvSpPr/>
          <p:nvPr/>
        </p:nvSpPr>
        <p:spPr>
          <a:xfrm>
            <a:off x="548640" y="4800600"/>
            <a:ext cx="11064240" cy="1417320"/>
          </a:xfrm>
          <a:prstGeom prst="roundRect">
            <a:avLst>
              <a:gd name="adj" fmla="val 7742"/>
            </a:avLst>
          </a:prstGeom>
          <a:solidFill>
            <a:srgbClr val="0B3D42"/>
          </a:solidFill>
          <a:ln/>
        </p:spPr>
      </p:sp>
      <p:sp>
        <p:nvSpPr>
          <p:cNvPr id="12" name="Text 10"/>
          <p:cNvSpPr txBox="1"/>
          <p:nvPr/>
        </p:nvSpPr>
        <p:spPr>
          <a:xfrm>
            <a:off x="822960" y="4937760"/>
            <a:ext cx="10515600" cy="320040"/>
          </a:xfrm>
          <a:prstGeom prst="rect">
            <a:avLst/>
          </a:prstGeom>
          <a:noFill/>
          <a:ln/>
        </p:spPr>
        <p:txBody>
          <a:bodyPr wrap="square" rtlCol="0" anchor="ctr"/>
          <a:lstStyle/>
          <a:p>
            <a:pPr indent="0" marL="0">
              <a:buNone/>
            </a:pPr>
            <a:r>
              <a:rPr lang="en-US" sz="1150" b="1" spc="100" kern="0" dirty="0">
                <a:solidFill>
                  <a:srgbClr val="02C39A"/>
                </a:solidFill>
                <a:latin typeface="Calibri" pitchFamily="34" charset="0"/>
                <a:ea typeface="Calibri" pitchFamily="34" charset="-122"/>
                <a:cs typeface="Calibri" pitchFamily="34" charset="-120"/>
              </a:rPr>
              <a:t>SI TU EQUIPO VOTÓ DISTINTO...</a:t>
            </a:r>
            <a:endParaRPr lang="en-US" sz="1150" dirty="0"/>
          </a:p>
        </p:txBody>
      </p:sp>
      <p:sp>
        <p:nvSpPr>
          <p:cNvPr id="13" name="Text 11"/>
          <p:cNvSpPr txBox="1"/>
          <p:nvPr/>
        </p:nvSpPr>
        <p:spPr>
          <a:xfrm>
            <a:off x="822960" y="5257800"/>
            <a:ext cx="10515600" cy="868680"/>
          </a:xfrm>
          <a:prstGeom prst="rect">
            <a:avLst/>
          </a:prstGeom>
          <a:noFill/>
          <a:ln/>
        </p:spPr>
        <p:txBody>
          <a:bodyPr wrap="square" rtlCol="0" anchor="ctr"/>
          <a:lstStyle/>
          <a:p>
            <a:pPr indent="0" marL="0">
              <a:buNone/>
            </a:pPr>
            <a:r>
              <a:rPr lang="en-US" sz="1450" i="1" dirty="0">
                <a:solidFill>
                  <a:srgbClr val="F4FBFA"/>
                </a:solidFill>
                <a:latin typeface="Calibri" pitchFamily="34" charset="0"/>
                <a:ea typeface="Calibri" pitchFamily="34" charset="-122"/>
                <a:cs typeface="Calibri" pitchFamily="34" charset="-120"/>
              </a:rPr>
              <a:t>El equipo que dijo PATCH: cerca, pero agregar una funcionalidad nueva (aunque sea opcional) siempre es MINOR, no PATCH.</a:t>
            </a:r>
            <a:endParaRPr lang="en-US" sz="145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3 DE 6</a:t>
            </a:r>
            <a:endParaRPr lang="en-US" sz="1200" dirty="0"/>
          </a:p>
        </p:txBody>
      </p:sp>
      <p:sp>
        <p:nvSpPr>
          <p:cNvPr id="3" name="Text 1"/>
          <p:cNvSpPr txBox="1"/>
          <p:nvPr/>
        </p:nvSpPr>
        <p:spPr>
          <a:xfrm>
            <a:off x="548640" y="411480"/>
            <a:ext cx="7863840" cy="914400"/>
          </a:xfrm>
          <a:prstGeom prst="rect">
            <a:avLst/>
          </a:prstGeom>
          <a:noFill/>
          <a:ln/>
        </p:spPr>
        <p:txBody>
          <a:bodyPr wrap="square" rtlCol="0" anchor="ctr"/>
          <a:lstStyle/>
          <a:p>
            <a:pPr algn="l" indent="0" marL="0">
              <a:buNone/>
            </a:pPr>
            <a:r>
              <a:rPr lang="en-US" sz="2400" b="1" dirty="0">
                <a:solidFill>
                  <a:srgbClr val="1B2B2E"/>
                </a:solidFill>
                <a:latin typeface="Cambria" pitchFamily="34" charset="0"/>
                <a:ea typeface="Cambria" pitchFamily="34" charset="-122"/>
                <a:cs typeface="Cambria" pitchFamily="34" charset="-120"/>
              </a:rPr>
              <a:t>Corrige un error de tipeo en un mensaje de log</a:t>
            </a:r>
            <a:endParaRPr lang="en-US" sz="2400" dirty="0"/>
          </a:p>
        </p:txBody>
      </p:sp>
      <p:sp>
        <p:nvSpPr>
          <p:cNvPr id="4" name="Shape 2"/>
          <p:cNvSpPr/>
          <p:nvPr/>
        </p:nvSpPr>
        <p:spPr>
          <a:xfrm>
            <a:off x="8778240" y="438912"/>
            <a:ext cx="2834640" cy="868680"/>
          </a:xfrm>
          <a:prstGeom prst="roundRect">
            <a:avLst>
              <a:gd name="adj" fmla="val 12632"/>
            </a:avLst>
          </a:prstGeom>
          <a:solidFill>
            <a:srgbClr val="02C39A"/>
          </a:solidFill>
          <a:ln/>
        </p:spPr>
      </p:sp>
      <p:sp>
        <p:nvSpPr>
          <p:cNvPr id="5" name="Text 3"/>
          <p:cNvSpPr txBox="1"/>
          <p:nvPr/>
        </p:nvSpPr>
        <p:spPr>
          <a:xfrm>
            <a:off x="8778240" y="438912"/>
            <a:ext cx="2834640" cy="86868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PATCH</a:t>
            </a:r>
            <a:endParaRPr lang="en-US" sz="2400" dirty="0"/>
          </a:p>
        </p:txBody>
      </p:sp>
      <p:sp>
        <p:nvSpPr>
          <p:cNvPr id="6" name="Shape 4"/>
          <p:cNvSpPr/>
          <p:nvPr/>
        </p:nvSpPr>
        <p:spPr>
          <a:xfrm>
            <a:off x="548640" y="1508760"/>
            <a:ext cx="11064240" cy="1417320"/>
          </a:xfrm>
          <a:prstGeom prst="roundRect">
            <a:avLst>
              <a:gd name="adj" fmla="val 7742"/>
            </a:avLst>
          </a:prstGeom>
          <a:solidFill>
            <a:srgbClr val="1B2B2E"/>
          </a:solidFill>
          <a:ln/>
        </p:spPr>
      </p:sp>
      <p:sp>
        <p:nvSpPr>
          <p:cNvPr id="7" name="Text 5"/>
          <p:cNvSpPr txBox="1"/>
          <p:nvPr/>
        </p:nvSpPr>
        <p:spPr>
          <a:xfrm>
            <a:off x="822960" y="1645920"/>
            <a:ext cx="10515600" cy="1143000"/>
          </a:xfrm>
          <a:prstGeom prst="rect">
            <a:avLst/>
          </a:prstGeom>
          <a:noFill/>
          <a:ln/>
        </p:spPr>
        <p:txBody>
          <a:bodyPr wrap="square" rtlCol="0" anchor="ctr"/>
          <a:lstStyle/>
          <a:p>
            <a:pPr indent="0" marL="0">
              <a:buNone/>
            </a:pPr>
            <a:r>
              <a:rPr lang="en-US" sz="1450" dirty="0">
                <a:solidFill>
                  <a:srgbClr val="02C39A"/>
                </a:solidFill>
                <a:latin typeface="Consolas" pitchFamily="34" charset="0"/>
                <a:ea typeface="Consolas" pitchFamily="34" charset="-122"/>
                <a:cs typeface="Consolas" pitchFamily="34" charset="-120"/>
              </a:rPr>
              <a:t>- logger.info("Modeo entrenado correctamente")</a:t>
            </a:r>
            <a:endParaRPr lang="en-US" sz="1450" dirty="0"/>
          </a:p>
          <a:p>
            <a:pPr indent="0" marL="0">
              <a:buNone/>
            </a:pPr>
            <a:r>
              <a:rPr lang="en-US" sz="1450" dirty="0">
                <a:solidFill>
                  <a:srgbClr val="02C39A"/>
                </a:solidFill>
                <a:latin typeface="Consolas" pitchFamily="34" charset="0"/>
                <a:ea typeface="Consolas" pitchFamily="34" charset="-122"/>
                <a:cs typeface="Consolas" pitchFamily="34" charset="-120"/>
              </a:rPr>
              <a:t>+ logger.info("Modelo entrenado correctamente")</a:t>
            </a:r>
            <a:endParaRPr lang="en-US" sz="1450" dirty="0"/>
          </a:p>
        </p:txBody>
      </p:sp>
      <p:sp>
        <p:nvSpPr>
          <p:cNvPr id="8" name="Shape 6"/>
          <p:cNvSpPr/>
          <p:nvPr/>
        </p:nvSpPr>
        <p:spPr>
          <a:xfrm>
            <a:off x="548640" y="3154680"/>
            <a:ext cx="11064240" cy="1417320"/>
          </a:xfrm>
          <a:prstGeom prst="roundRect">
            <a:avLst>
              <a:gd name="adj" fmla="val 7742"/>
            </a:avLst>
          </a:prstGeom>
          <a:solidFill>
            <a:srgbClr val="EFF7F6"/>
          </a:solidFill>
          <a:ln w="19050">
            <a:solidFill>
              <a:srgbClr val="02C39A"/>
            </a:solidFill>
            <a:prstDash val="solid"/>
          </a:ln>
        </p:spPr>
      </p:sp>
      <p:sp>
        <p:nvSpPr>
          <p:cNvPr id="9" name="Text 7"/>
          <p:cNvSpPr txBox="1"/>
          <p:nvPr/>
        </p:nvSpPr>
        <p:spPr>
          <a:xfrm>
            <a:off x="822960" y="3291840"/>
            <a:ext cx="10515600" cy="320040"/>
          </a:xfrm>
          <a:prstGeom prst="rect">
            <a:avLst/>
          </a:prstGeom>
          <a:noFill/>
          <a:ln/>
        </p:spPr>
        <p:txBody>
          <a:bodyPr wrap="square" rtlCol="0" anchor="ctr"/>
          <a:lstStyle/>
          <a:p>
            <a:pPr indent="0" marL="0">
              <a:buNone/>
            </a:pPr>
            <a:r>
              <a:rPr lang="en-US" sz="1200" b="1" spc="150" kern="0" dirty="0">
                <a:solidFill>
                  <a:srgbClr val="02C39A"/>
                </a:solidFill>
                <a:latin typeface="Calibri" pitchFamily="34" charset="0"/>
                <a:ea typeface="Calibri" pitchFamily="34" charset="-122"/>
                <a:cs typeface="Calibri" pitchFamily="34" charset="-120"/>
              </a:rPr>
              <a:t>¿POR QUÉ?</a:t>
            </a:r>
            <a:endParaRPr lang="en-US" sz="1200" dirty="0"/>
          </a:p>
        </p:txBody>
      </p:sp>
      <p:sp>
        <p:nvSpPr>
          <p:cNvPr id="10" name="Text 8"/>
          <p:cNvSpPr txBox="1"/>
          <p:nvPr/>
        </p:nvSpPr>
        <p:spPr>
          <a:xfrm>
            <a:off x="822960" y="3611880"/>
            <a:ext cx="10515600" cy="868680"/>
          </a:xfrm>
          <a:prstGeom prst="rect">
            <a:avLst/>
          </a:prstGeom>
          <a:noFill/>
          <a:ln/>
        </p:spPr>
        <p:txBody>
          <a:bodyPr wrap="square" rtlCol="0" anchor="ctr"/>
          <a:lstStyle/>
          <a:p>
            <a:pPr indent="0" marL="0">
              <a:buNone/>
            </a:pPr>
            <a:r>
              <a:rPr lang="en-US" sz="1500" dirty="0">
                <a:solidFill>
                  <a:srgbClr val="1B2B2E"/>
                </a:solidFill>
                <a:latin typeface="Calibri" pitchFamily="34" charset="0"/>
                <a:ea typeface="Calibri" pitchFamily="34" charset="-122"/>
                <a:cs typeface="Calibri" pitchFamily="34" charset="-120"/>
              </a:rPr>
              <a:t>No cambia ninguna función, ningún parámetro, ningún resultado. Es una corrección pura, invisible para cualquier integración. El caso más claro de los seis.</a:t>
            </a:r>
            <a:endParaRPr lang="en-US" sz="1500" dirty="0"/>
          </a:p>
        </p:txBody>
      </p:sp>
      <p:sp>
        <p:nvSpPr>
          <p:cNvPr id="11" name="Shape 9"/>
          <p:cNvSpPr/>
          <p:nvPr/>
        </p:nvSpPr>
        <p:spPr>
          <a:xfrm>
            <a:off x="548640" y="4800600"/>
            <a:ext cx="11064240" cy="1417320"/>
          </a:xfrm>
          <a:prstGeom prst="roundRect">
            <a:avLst>
              <a:gd name="adj" fmla="val 7742"/>
            </a:avLst>
          </a:prstGeom>
          <a:solidFill>
            <a:srgbClr val="0B3D42"/>
          </a:solidFill>
          <a:ln/>
        </p:spPr>
      </p:sp>
      <p:sp>
        <p:nvSpPr>
          <p:cNvPr id="12" name="Text 10"/>
          <p:cNvSpPr txBox="1"/>
          <p:nvPr/>
        </p:nvSpPr>
        <p:spPr>
          <a:xfrm>
            <a:off x="822960" y="4937760"/>
            <a:ext cx="10515600" cy="320040"/>
          </a:xfrm>
          <a:prstGeom prst="rect">
            <a:avLst/>
          </a:prstGeom>
          <a:noFill/>
          <a:ln/>
        </p:spPr>
        <p:txBody>
          <a:bodyPr wrap="square" rtlCol="0" anchor="ctr"/>
          <a:lstStyle/>
          <a:p>
            <a:pPr indent="0" marL="0">
              <a:buNone/>
            </a:pPr>
            <a:r>
              <a:rPr lang="en-US" sz="1150" b="1" spc="100" kern="0" dirty="0">
                <a:solidFill>
                  <a:srgbClr val="02C39A"/>
                </a:solidFill>
                <a:latin typeface="Calibri" pitchFamily="34" charset="0"/>
                <a:ea typeface="Calibri" pitchFamily="34" charset="-122"/>
                <a:cs typeface="Calibri" pitchFamily="34" charset="-120"/>
              </a:rPr>
              <a:t>SI TU EQUIPO VOTÓ DISTINTO...</a:t>
            </a:r>
            <a:endParaRPr lang="en-US" sz="1150" dirty="0"/>
          </a:p>
        </p:txBody>
      </p:sp>
      <p:sp>
        <p:nvSpPr>
          <p:cNvPr id="13" name="Text 11"/>
          <p:cNvSpPr txBox="1"/>
          <p:nvPr/>
        </p:nvSpPr>
        <p:spPr>
          <a:xfrm>
            <a:off x="822960" y="5257800"/>
            <a:ext cx="10515600" cy="868680"/>
          </a:xfrm>
          <a:prstGeom prst="rect">
            <a:avLst/>
          </a:prstGeom>
          <a:noFill/>
          <a:ln/>
        </p:spPr>
        <p:txBody>
          <a:bodyPr wrap="square" rtlCol="0" anchor="ctr"/>
          <a:lstStyle/>
          <a:p>
            <a:pPr indent="0" marL="0">
              <a:buNone/>
            </a:pPr>
            <a:r>
              <a:rPr lang="en-US" sz="1450" i="1" dirty="0">
                <a:solidFill>
                  <a:srgbClr val="F4FBFA"/>
                </a:solidFill>
                <a:latin typeface="Calibri" pitchFamily="34" charset="0"/>
                <a:ea typeface="Calibri" pitchFamily="34" charset="-122"/>
                <a:cs typeface="Calibri" pitchFamily="34" charset="-120"/>
              </a:rPr>
              <a:t>El equipo que dudó entre MINOR y PATCH: si nadie puede "romperse" por el cambio, casi siempre es PATCH.</a:t>
            </a:r>
            <a:endParaRPr lang="en-US" sz="145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4 DE 6</a:t>
            </a:r>
            <a:endParaRPr lang="en-US" sz="1200" dirty="0"/>
          </a:p>
        </p:txBody>
      </p:sp>
      <p:sp>
        <p:nvSpPr>
          <p:cNvPr id="3" name="Text 1"/>
          <p:cNvSpPr txBox="1"/>
          <p:nvPr/>
        </p:nvSpPr>
        <p:spPr>
          <a:xfrm>
            <a:off x="548640" y="411480"/>
            <a:ext cx="7863840" cy="914400"/>
          </a:xfrm>
          <a:prstGeom prst="rect">
            <a:avLst/>
          </a:prstGeom>
          <a:noFill/>
          <a:ln/>
        </p:spPr>
        <p:txBody>
          <a:bodyPr wrap="square" rtlCol="0" anchor="ctr"/>
          <a:lstStyle/>
          <a:p>
            <a:pPr algn="l" indent="0" marL="0">
              <a:buNone/>
            </a:pPr>
            <a:r>
              <a:rPr lang="en-US" sz="2400" b="1" dirty="0">
                <a:solidFill>
                  <a:srgbClr val="1B2B2E"/>
                </a:solidFill>
                <a:latin typeface="Cambria" pitchFamily="34" charset="0"/>
                <a:ea typeface="Cambria" pitchFamily="34" charset="-122"/>
                <a:cs typeface="Cambria" pitchFamily="34" charset="-120"/>
              </a:rPr>
              <a:t>Cambia el valor por defecto de un parámetro existente</a:t>
            </a:r>
            <a:endParaRPr lang="en-US" sz="2400" dirty="0"/>
          </a:p>
        </p:txBody>
      </p:sp>
      <p:sp>
        <p:nvSpPr>
          <p:cNvPr id="4" name="Shape 2"/>
          <p:cNvSpPr/>
          <p:nvPr/>
        </p:nvSpPr>
        <p:spPr>
          <a:xfrm>
            <a:off x="8778240" y="438912"/>
            <a:ext cx="2834640" cy="868680"/>
          </a:xfrm>
          <a:prstGeom prst="roundRect">
            <a:avLst>
              <a:gd name="adj" fmla="val 12632"/>
            </a:avLst>
          </a:prstGeom>
          <a:solidFill>
            <a:srgbClr val="D7263D"/>
          </a:solidFill>
          <a:ln/>
        </p:spPr>
      </p:sp>
      <p:sp>
        <p:nvSpPr>
          <p:cNvPr id="5" name="Text 3"/>
          <p:cNvSpPr txBox="1"/>
          <p:nvPr/>
        </p:nvSpPr>
        <p:spPr>
          <a:xfrm>
            <a:off x="8778240" y="438912"/>
            <a:ext cx="2834640" cy="86868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MAJOR</a:t>
            </a:r>
            <a:endParaRPr lang="en-US" sz="2400" dirty="0"/>
          </a:p>
        </p:txBody>
      </p:sp>
      <p:sp>
        <p:nvSpPr>
          <p:cNvPr id="6" name="Shape 4"/>
          <p:cNvSpPr/>
          <p:nvPr/>
        </p:nvSpPr>
        <p:spPr>
          <a:xfrm>
            <a:off x="548640" y="1508760"/>
            <a:ext cx="11064240" cy="1417320"/>
          </a:xfrm>
          <a:prstGeom prst="roundRect">
            <a:avLst>
              <a:gd name="adj" fmla="val 7742"/>
            </a:avLst>
          </a:prstGeom>
          <a:solidFill>
            <a:srgbClr val="1B2B2E"/>
          </a:solidFill>
          <a:ln/>
        </p:spPr>
      </p:sp>
      <p:sp>
        <p:nvSpPr>
          <p:cNvPr id="7" name="Text 5"/>
          <p:cNvSpPr txBox="1"/>
          <p:nvPr/>
        </p:nvSpPr>
        <p:spPr>
          <a:xfrm>
            <a:off x="822960" y="1645920"/>
            <a:ext cx="10515600" cy="1143000"/>
          </a:xfrm>
          <a:prstGeom prst="rect">
            <a:avLst/>
          </a:prstGeom>
          <a:noFill/>
          <a:ln/>
        </p:spPr>
        <p:txBody>
          <a:bodyPr wrap="square" rtlCol="0" anchor="ctr"/>
          <a:lstStyle/>
          <a:p>
            <a:pPr indent="0" marL="0">
              <a:buNone/>
            </a:pPr>
            <a:r>
              <a:rPr lang="en-US" sz="1450" dirty="0">
                <a:solidFill>
                  <a:srgbClr val="D7263D"/>
                </a:solidFill>
                <a:latin typeface="Consolas" pitchFamily="34" charset="0"/>
                <a:ea typeface="Consolas" pitchFamily="34" charset="-122"/>
                <a:cs typeface="Consolas" pitchFamily="34" charset="-120"/>
              </a:rPr>
              <a:t>  def train_test_split(X, y, test_size=0.2):</a:t>
            </a:r>
            <a:endParaRPr lang="en-US" sz="1450" dirty="0"/>
          </a:p>
          <a:p>
            <a:pPr indent="0" marL="0">
              <a:buNone/>
            </a:pPr>
            <a:r>
              <a:rPr lang="en-US" sz="1450" dirty="0">
                <a:solidFill>
                  <a:srgbClr val="D7263D"/>
                </a:solidFill>
                <a:latin typeface="Consolas" pitchFamily="34" charset="0"/>
                <a:ea typeface="Consolas" pitchFamily="34" charset="-122"/>
                <a:cs typeface="Consolas" pitchFamily="34" charset="-120"/>
              </a:rPr>
              <a:t>+     def train_test_split(X, y, test_size=0.3):</a:t>
            </a:r>
            <a:endParaRPr lang="en-US" sz="1450" dirty="0"/>
          </a:p>
          <a:p>
            <a:pPr indent="0" marL="0">
              <a:buNone/>
            </a:pPr>
            <a:r>
              <a:rPr lang="en-US" sz="1450" dirty="0">
                <a:solidFill>
                  <a:srgbClr val="D7263D"/>
                </a:solidFill>
                <a:latin typeface="Consolas" pitchFamily="34" charset="0"/>
                <a:ea typeface="Consolas" pitchFamily="34" charset="-122"/>
                <a:cs typeface="Consolas" pitchFamily="34" charset="-120"/>
              </a:rPr>
              <a:t>          ...</a:t>
            </a:r>
            <a:endParaRPr lang="en-US" sz="1450" dirty="0"/>
          </a:p>
        </p:txBody>
      </p:sp>
      <p:sp>
        <p:nvSpPr>
          <p:cNvPr id="8" name="Shape 6"/>
          <p:cNvSpPr/>
          <p:nvPr/>
        </p:nvSpPr>
        <p:spPr>
          <a:xfrm>
            <a:off x="548640" y="3154680"/>
            <a:ext cx="11064240" cy="1417320"/>
          </a:xfrm>
          <a:prstGeom prst="roundRect">
            <a:avLst>
              <a:gd name="adj" fmla="val 7742"/>
            </a:avLst>
          </a:prstGeom>
          <a:solidFill>
            <a:srgbClr val="EFF7F6"/>
          </a:solidFill>
          <a:ln w="19050">
            <a:solidFill>
              <a:srgbClr val="D7263D"/>
            </a:solidFill>
            <a:prstDash val="solid"/>
          </a:ln>
        </p:spPr>
      </p:sp>
      <p:sp>
        <p:nvSpPr>
          <p:cNvPr id="9" name="Text 7"/>
          <p:cNvSpPr txBox="1"/>
          <p:nvPr/>
        </p:nvSpPr>
        <p:spPr>
          <a:xfrm>
            <a:off x="822960" y="3291840"/>
            <a:ext cx="10515600" cy="320040"/>
          </a:xfrm>
          <a:prstGeom prst="rect">
            <a:avLst/>
          </a:prstGeom>
          <a:noFill/>
          <a:ln/>
        </p:spPr>
        <p:txBody>
          <a:bodyPr wrap="square" rtlCol="0" anchor="ctr"/>
          <a:lstStyle/>
          <a:p>
            <a:pPr indent="0" marL="0">
              <a:buNone/>
            </a:pPr>
            <a:r>
              <a:rPr lang="en-US" sz="1200" b="1" spc="150" kern="0" dirty="0">
                <a:solidFill>
                  <a:srgbClr val="D7263D"/>
                </a:solidFill>
                <a:latin typeface="Calibri" pitchFamily="34" charset="0"/>
                <a:ea typeface="Calibri" pitchFamily="34" charset="-122"/>
                <a:cs typeface="Calibri" pitchFamily="34" charset="-120"/>
              </a:rPr>
              <a:t>¿POR QUÉ?</a:t>
            </a:r>
            <a:endParaRPr lang="en-US" sz="1200" dirty="0"/>
          </a:p>
        </p:txBody>
      </p:sp>
      <p:sp>
        <p:nvSpPr>
          <p:cNvPr id="10" name="Text 8"/>
          <p:cNvSpPr txBox="1"/>
          <p:nvPr/>
        </p:nvSpPr>
        <p:spPr>
          <a:xfrm>
            <a:off x="822960" y="3611880"/>
            <a:ext cx="10515600" cy="868680"/>
          </a:xfrm>
          <a:prstGeom prst="rect">
            <a:avLst/>
          </a:prstGeom>
          <a:noFill/>
          <a:ln/>
        </p:spPr>
        <p:txBody>
          <a:bodyPr wrap="square" rtlCol="0" anchor="ctr"/>
          <a:lstStyle/>
          <a:p>
            <a:pPr indent="0" marL="0">
              <a:buNone/>
            </a:pPr>
            <a:r>
              <a:rPr lang="en-US" sz="1500" dirty="0">
                <a:solidFill>
                  <a:srgbClr val="1B2B2E"/>
                </a:solidFill>
                <a:latin typeface="Calibri" pitchFamily="34" charset="0"/>
                <a:ea typeface="Calibri" pitchFamily="34" charset="-122"/>
                <a:cs typeface="Calibri" pitchFamily="34" charset="-120"/>
              </a:rPr>
              <a:t>El nombre del parámetro sigue igual, pero el comportamiento cambió para todo el que no lo especifica explícitamente. Eso es un cambio silencioso e inesperado: la definición típica de un breaking change.</a:t>
            </a:r>
            <a:endParaRPr lang="en-US" sz="1500" dirty="0"/>
          </a:p>
        </p:txBody>
      </p:sp>
      <p:sp>
        <p:nvSpPr>
          <p:cNvPr id="11" name="Shape 9"/>
          <p:cNvSpPr/>
          <p:nvPr/>
        </p:nvSpPr>
        <p:spPr>
          <a:xfrm>
            <a:off x="548640" y="4800600"/>
            <a:ext cx="11064240" cy="1417320"/>
          </a:xfrm>
          <a:prstGeom prst="roundRect">
            <a:avLst>
              <a:gd name="adj" fmla="val 7742"/>
            </a:avLst>
          </a:prstGeom>
          <a:solidFill>
            <a:srgbClr val="0B3D42"/>
          </a:solidFill>
          <a:ln/>
        </p:spPr>
      </p:sp>
      <p:sp>
        <p:nvSpPr>
          <p:cNvPr id="12" name="Text 10"/>
          <p:cNvSpPr txBox="1"/>
          <p:nvPr/>
        </p:nvSpPr>
        <p:spPr>
          <a:xfrm>
            <a:off x="822960" y="4937760"/>
            <a:ext cx="10515600" cy="320040"/>
          </a:xfrm>
          <a:prstGeom prst="rect">
            <a:avLst/>
          </a:prstGeom>
          <a:noFill/>
          <a:ln/>
        </p:spPr>
        <p:txBody>
          <a:bodyPr wrap="square" rtlCol="0" anchor="ctr"/>
          <a:lstStyle/>
          <a:p>
            <a:pPr indent="0" marL="0">
              <a:buNone/>
            </a:pPr>
            <a:r>
              <a:rPr lang="en-US" sz="1150" b="1" spc="100" kern="0" dirty="0">
                <a:solidFill>
                  <a:srgbClr val="02C39A"/>
                </a:solidFill>
                <a:latin typeface="Calibri" pitchFamily="34" charset="0"/>
                <a:ea typeface="Calibri" pitchFamily="34" charset="-122"/>
                <a:cs typeface="Calibri" pitchFamily="34" charset="-120"/>
              </a:rPr>
              <a:t>SI TU EQUIPO VOTÓ DISTINTO...</a:t>
            </a:r>
            <a:endParaRPr lang="en-US" sz="1150" dirty="0"/>
          </a:p>
        </p:txBody>
      </p:sp>
      <p:sp>
        <p:nvSpPr>
          <p:cNvPr id="13" name="Text 11"/>
          <p:cNvSpPr txBox="1"/>
          <p:nvPr/>
        </p:nvSpPr>
        <p:spPr>
          <a:xfrm>
            <a:off x="822960" y="5257800"/>
            <a:ext cx="10515600" cy="868680"/>
          </a:xfrm>
          <a:prstGeom prst="rect">
            <a:avLst/>
          </a:prstGeom>
          <a:noFill/>
          <a:ln/>
        </p:spPr>
        <p:txBody>
          <a:bodyPr wrap="square" rtlCol="0" anchor="ctr"/>
          <a:lstStyle/>
          <a:p>
            <a:pPr indent="0" marL="0">
              <a:buNone/>
            </a:pPr>
            <a:r>
              <a:rPr lang="en-US" sz="1450" i="1" dirty="0">
                <a:solidFill>
                  <a:srgbClr val="F4FBFA"/>
                </a:solidFill>
                <a:latin typeface="Calibri" pitchFamily="34" charset="0"/>
                <a:ea typeface="Calibri" pitchFamily="34" charset="-122"/>
                <a:cs typeface="Calibri" pitchFamily="34" charset="-120"/>
              </a:rPr>
              <a:t>"Es solo un default..." — Y por eso mismo es el más peligroso: nadie lo pidió, y a todos les cambió el resultado.</a:t>
            </a:r>
            <a:endParaRPr lang="en-US" sz="145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06 / 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5 DE 6</a:t>
            </a:r>
            <a:endParaRPr lang="en-US" sz="1200" dirty="0"/>
          </a:p>
        </p:txBody>
      </p:sp>
      <p:sp>
        <p:nvSpPr>
          <p:cNvPr id="3" name="Text 1"/>
          <p:cNvSpPr txBox="1"/>
          <p:nvPr/>
        </p:nvSpPr>
        <p:spPr>
          <a:xfrm>
            <a:off x="548640" y="411480"/>
            <a:ext cx="7863840" cy="914400"/>
          </a:xfrm>
          <a:prstGeom prst="rect">
            <a:avLst/>
          </a:prstGeom>
          <a:noFill/>
          <a:ln/>
        </p:spPr>
        <p:txBody>
          <a:bodyPr wrap="square" rtlCol="0" anchor="ctr"/>
          <a:lstStyle/>
          <a:p>
            <a:pPr algn="l" indent="0" marL="0">
              <a:buNone/>
            </a:pPr>
            <a:r>
              <a:rPr lang="en-US" sz="2400" b="1" dirty="0">
                <a:solidFill>
                  <a:srgbClr val="1B2B2E"/>
                </a:solidFill>
                <a:latin typeface="Cambria" pitchFamily="34" charset="0"/>
                <a:ea typeface="Cambria" pitchFamily="34" charset="-122"/>
                <a:cs typeface="Cambria" pitchFamily="34" charset="-120"/>
              </a:rPr>
              <a:t>Reescribe el algoritmo interno de una función</a:t>
            </a:r>
            <a:endParaRPr lang="en-US" sz="2400" dirty="0"/>
          </a:p>
        </p:txBody>
      </p:sp>
      <p:sp>
        <p:nvSpPr>
          <p:cNvPr id="4" name="Shape 2"/>
          <p:cNvSpPr/>
          <p:nvPr/>
        </p:nvSpPr>
        <p:spPr>
          <a:xfrm>
            <a:off x="8778240" y="438912"/>
            <a:ext cx="2834640" cy="868680"/>
          </a:xfrm>
          <a:prstGeom prst="roundRect">
            <a:avLst>
              <a:gd name="adj" fmla="val 12632"/>
            </a:avLst>
          </a:prstGeom>
          <a:solidFill>
            <a:srgbClr val="02C39A"/>
          </a:solidFill>
          <a:ln/>
        </p:spPr>
      </p:sp>
      <p:sp>
        <p:nvSpPr>
          <p:cNvPr id="5" name="Text 3"/>
          <p:cNvSpPr txBox="1"/>
          <p:nvPr/>
        </p:nvSpPr>
        <p:spPr>
          <a:xfrm>
            <a:off x="8778240" y="438912"/>
            <a:ext cx="2834640" cy="86868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PATCH</a:t>
            </a:r>
            <a:endParaRPr lang="en-US" sz="2400" dirty="0"/>
          </a:p>
        </p:txBody>
      </p:sp>
      <p:sp>
        <p:nvSpPr>
          <p:cNvPr id="6" name="Shape 4"/>
          <p:cNvSpPr/>
          <p:nvPr/>
        </p:nvSpPr>
        <p:spPr>
          <a:xfrm>
            <a:off x="548640" y="1508760"/>
            <a:ext cx="11064240" cy="1417320"/>
          </a:xfrm>
          <a:prstGeom prst="roundRect">
            <a:avLst>
              <a:gd name="adj" fmla="val 7742"/>
            </a:avLst>
          </a:prstGeom>
          <a:solidFill>
            <a:srgbClr val="1B2B2E"/>
          </a:solidFill>
          <a:ln/>
        </p:spPr>
      </p:sp>
      <p:sp>
        <p:nvSpPr>
          <p:cNvPr id="7" name="Text 5"/>
          <p:cNvSpPr txBox="1"/>
          <p:nvPr/>
        </p:nvSpPr>
        <p:spPr>
          <a:xfrm>
            <a:off x="822960" y="1645920"/>
            <a:ext cx="10515600" cy="1143000"/>
          </a:xfrm>
          <a:prstGeom prst="rect">
            <a:avLst/>
          </a:prstGeom>
          <a:noFill/>
          <a:ln/>
        </p:spPr>
        <p:txBody>
          <a:bodyPr wrap="square" rtlCol="0" anchor="ctr"/>
          <a:lstStyle/>
          <a:p>
            <a:pPr indent="0" marL="0">
              <a:buNone/>
            </a:pPr>
            <a:r>
              <a:rPr lang="en-US" sz="1450" dirty="0">
                <a:solidFill>
                  <a:srgbClr val="02C39A"/>
                </a:solidFill>
                <a:latin typeface="Consolas" pitchFamily="34" charset="0"/>
                <a:ea typeface="Consolas" pitchFamily="34" charset="-122"/>
                <a:cs typeface="Consolas" pitchFamily="34" charset="-120"/>
              </a:rPr>
              <a:t># Misma firma, mismo resultado, el doble de rápido</a:t>
            </a:r>
            <a:endParaRPr lang="en-US" sz="1450" dirty="0"/>
          </a:p>
          <a:p>
            <a:pPr indent="0" marL="0">
              <a:buNone/>
            </a:pPr>
            <a:r>
              <a:rPr lang="en-US" sz="1450" dirty="0">
                <a:solidFill>
                  <a:srgbClr val="02C39A"/>
                </a:solidFill>
                <a:latin typeface="Consolas" pitchFamily="34" charset="0"/>
                <a:ea typeface="Consolas" pitchFamily="34" charset="-122"/>
                <a:cs typeface="Consolas" pitchFamily="34" charset="-120"/>
              </a:rPr>
              <a:t>  def calcular_distancias(puntos):</a:t>
            </a:r>
            <a:endParaRPr lang="en-US" sz="1450" dirty="0"/>
          </a:p>
          <a:p>
            <a:pPr indent="0" marL="0">
              <a:buNone/>
            </a:pPr>
            <a:r>
              <a:rPr lang="en-US" sz="1450" dirty="0">
                <a:solidFill>
                  <a:srgbClr val="02C39A"/>
                </a:solidFill>
                <a:latin typeface="Consolas" pitchFamily="34" charset="0"/>
                <a:ea typeface="Consolas" pitchFamily="34" charset="-122"/>
                <a:cs typeface="Consolas" pitchFamily="34" charset="-120"/>
              </a:rPr>
              <a:t>-     # implementacion O(n^2)</a:t>
            </a:r>
            <a:endParaRPr lang="en-US" sz="1450" dirty="0"/>
          </a:p>
          <a:p>
            <a:pPr indent="0" marL="0">
              <a:buNone/>
            </a:pPr>
            <a:r>
              <a:rPr lang="en-US" sz="1450" dirty="0">
                <a:solidFill>
                  <a:srgbClr val="02C39A"/>
                </a:solidFill>
                <a:latin typeface="Consolas" pitchFamily="34" charset="0"/>
                <a:ea typeface="Consolas" pitchFamily="34" charset="-122"/>
                <a:cs typeface="Consolas" pitchFamily="34" charset="-120"/>
              </a:rPr>
              <a:t>+     # implementacion vectorizada, O(n log n)</a:t>
            </a:r>
            <a:endParaRPr lang="en-US" sz="1450" dirty="0"/>
          </a:p>
        </p:txBody>
      </p:sp>
      <p:sp>
        <p:nvSpPr>
          <p:cNvPr id="8" name="Shape 6"/>
          <p:cNvSpPr/>
          <p:nvPr/>
        </p:nvSpPr>
        <p:spPr>
          <a:xfrm>
            <a:off x="548640" y="3154680"/>
            <a:ext cx="11064240" cy="1417320"/>
          </a:xfrm>
          <a:prstGeom prst="roundRect">
            <a:avLst>
              <a:gd name="adj" fmla="val 7742"/>
            </a:avLst>
          </a:prstGeom>
          <a:solidFill>
            <a:srgbClr val="EFF7F6"/>
          </a:solidFill>
          <a:ln w="19050">
            <a:solidFill>
              <a:srgbClr val="02C39A"/>
            </a:solidFill>
            <a:prstDash val="solid"/>
          </a:ln>
        </p:spPr>
      </p:sp>
      <p:sp>
        <p:nvSpPr>
          <p:cNvPr id="9" name="Text 7"/>
          <p:cNvSpPr txBox="1"/>
          <p:nvPr/>
        </p:nvSpPr>
        <p:spPr>
          <a:xfrm>
            <a:off x="822960" y="3291840"/>
            <a:ext cx="10515600" cy="320040"/>
          </a:xfrm>
          <a:prstGeom prst="rect">
            <a:avLst/>
          </a:prstGeom>
          <a:noFill/>
          <a:ln/>
        </p:spPr>
        <p:txBody>
          <a:bodyPr wrap="square" rtlCol="0" anchor="ctr"/>
          <a:lstStyle/>
          <a:p>
            <a:pPr indent="0" marL="0">
              <a:buNone/>
            </a:pPr>
            <a:r>
              <a:rPr lang="en-US" sz="1200" b="1" spc="150" kern="0" dirty="0">
                <a:solidFill>
                  <a:srgbClr val="02C39A"/>
                </a:solidFill>
                <a:latin typeface="Calibri" pitchFamily="34" charset="0"/>
                <a:ea typeface="Calibri" pitchFamily="34" charset="-122"/>
                <a:cs typeface="Calibri" pitchFamily="34" charset="-120"/>
              </a:rPr>
              <a:t>¿POR QUÉ?</a:t>
            </a:r>
            <a:endParaRPr lang="en-US" sz="1200" dirty="0"/>
          </a:p>
        </p:txBody>
      </p:sp>
      <p:sp>
        <p:nvSpPr>
          <p:cNvPr id="10" name="Text 8"/>
          <p:cNvSpPr txBox="1"/>
          <p:nvPr/>
        </p:nvSpPr>
        <p:spPr>
          <a:xfrm>
            <a:off x="822960" y="3611880"/>
            <a:ext cx="10515600" cy="868680"/>
          </a:xfrm>
          <a:prstGeom prst="rect">
            <a:avLst/>
          </a:prstGeom>
          <a:noFill/>
          <a:ln/>
        </p:spPr>
        <p:txBody>
          <a:bodyPr wrap="square" rtlCol="0" anchor="ctr"/>
          <a:lstStyle/>
          <a:p>
            <a:pPr indent="0" marL="0">
              <a:buNone/>
            </a:pPr>
            <a:r>
              <a:rPr lang="en-US" sz="1500" dirty="0">
                <a:solidFill>
                  <a:srgbClr val="1B2B2E"/>
                </a:solidFill>
                <a:latin typeface="Calibri" pitchFamily="34" charset="0"/>
                <a:ea typeface="Calibri" pitchFamily="34" charset="-122"/>
                <a:cs typeface="Calibri" pitchFamily="34" charset="-120"/>
              </a:rPr>
              <a:t>Misma entrada, misma salida, misma firma. Lo único que cambió fue lo que pasa "por dentro" de la función, y eso no es observable desde afuera. Una mejora interna transparente es PATCH, aunque haya sido mucho trabajo.</a:t>
            </a:r>
            <a:endParaRPr lang="en-US" sz="1500" dirty="0"/>
          </a:p>
        </p:txBody>
      </p:sp>
      <p:sp>
        <p:nvSpPr>
          <p:cNvPr id="11" name="Shape 9"/>
          <p:cNvSpPr/>
          <p:nvPr/>
        </p:nvSpPr>
        <p:spPr>
          <a:xfrm>
            <a:off x="548640" y="4800600"/>
            <a:ext cx="11064240" cy="1417320"/>
          </a:xfrm>
          <a:prstGeom prst="roundRect">
            <a:avLst>
              <a:gd name="adj" fmla="val 7742"/>
            </a:avLst>
          </a:prstGeom>
          <a:solidFill>
            <a:srgbClr val="0B3D42"/>
          </a:solidFill>
          <a:ln/>
        </p:spPr>
      </p:sp>
      <p:sp>
        <p:nvSpPr>
          <p:cNvPr id="12" name="Text 10"/>
          <p:cNvSpPr txBox="1"/>
          <p:nvPr/>
        </p:nvSpPr>
        <p:spPr>
          <a:xfrm>
            <a:off x="822960" y="4937760"/>
            <a:ext cx="10515600" cy="320040"/>
          </a:xfrm>
          <a:prstGeom prst="rect">
            <a:avLst/>
          </a:prstGeom>
          <a:noFill/>
          <a:ln/>
        </p:spPr>
        <p:txBody>
          <a:bodyPr wrap="square" rtlCol="0" anchor="ctr"/>
          <a:lstStyle/>
          <a:p>
            <a:pPr indent="0" marL="0">
              <a:buNone/>
            </a:pPr>
            <a:r>
              <a:rPr lang="en-US" sz="1150" b="1" spc="100" kern="0" dirty="0">
                <a:solidFill>
                  <a:srgbClr val="02C39A"/>
                </a:solidFill>
                <a:latin typeface="Calibri" pitchFamily="34" charset="0"/>
                <a:ea typeface="Calibri" pitchFamily="34" charset="-122"/>
                <a:cs typeface="Calibri" pitchFamily="34" charset="-120"/>
              </a:rPr>
              <a:t>SI TU EQUIPO VOTÓ DISTINTO...</a:t>
            </a:r>
            <a:endParaRPr lang="en-US" sz="1150" dirty="0"/>
          </a:p>
        </p:txBody>
      </p:sp>
      <p:sp>
        <p:nvSpPr>
          <p:cNvPr id="13" name="Text 11"/>
          <p:cNvSpPr txBox="1"/>
          <p:nvPr/>
        </p:nvSpPr>
        <p:spPr>
          <a:xfrm>
            <a:off x="822960" y="5257800"/>
            <a:ext cx="10515600" cy="868680"/>
          </a:xfrm>
          <a:prstGeom prst="rect">
            <a:avLst/>
          </a:prstGeom>
          <a:noFill/>
          <a:ln/>
        </p:spPr>
        <p:txBody>
          <a:bodyPr wrap="square" rtlCol="0" anchor="ctr"/>
          <a:lstStyle/>
          <a:p>
            <a:pPr indent="0" marL="0">
              <a:buNone/>
            </a:pPr>
            <a:r>
              <a:rPr lang="en-US" sz="1450" i="1" dirty="0">
                <a:solidFill>
                  <a:srgbClr val="F4FBFA"/>
                </a:solidFill>
                <a:latin typeface="Calibri" pitchFamily="34" charset="0"/>
                <a:ea typeface="Calibri" pitchFamily="34" charset="-122"/>
                <a:cs typeface="Calibri" pitchFamily="34" charset="-120"/>
              </a:rPr>
              <a:t>El equipo que dijo MINOR porque "se sintió como una mejora grande": el tamaño del esfuerzo no define la versión, el impacto observable sí.</a:t>
            </a:r>
            <a:endParaRPr lang="en-US" sz="145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07 / 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6 DE 6</a:t>
            </a:r>
            <a:endParaRPr lang="en-US" sz="1200" dirty="0"/>
          </a:p>
        </p:txBody>
      </p:sp>
      <p:sp>
        <p:nvSpPr>
          <p:cNvPr id="3" name="Text 1"/>
          <p:cNvSpPr txBox="1"/>
          <p:nvPr/>
        </p:nvSpPr>
        <p:spPr>
          <a:xfrm>
            <a:off x="548640" y="411480"/>
            <a:ext cx="7863840" cy="914400"/>
          </a:xfrm>
          <a:prstGeom prst="rect">
            <a:avLst/>
          </a:prstGeom>
          <a:noFill/>
          <a:ln/>
        </p:spPr>
        <p:txBody>
          <a:bodyPr wrap="square" rtlCol="0" anchor="ctr"/>
          <a:lstStyle/>
          <a:p>
            <a:pPr algn="l" indent="0" marL="0">
              <a:buNone/>
            </a:pPr>
            <a:r>
              <a:rPr lang="en-US" sz="2400" b="1" dirty="0">
                <a:solidFill>
                  <a:srgbClr val="1B2B2E"/>
                </a:solidFill>
                <a:latin typeface="Cambria" pitchFamily="34" charset="0"/>
                <a:ea typeface="Cambria" pitchFamily="34" charset="-122"/>
                <a:cs typeface="Cambria" pitchFamily="34" charset="-120"/>
              </a:rPr>
              <a:t>Agrega un endpoint nuevo a la API</a:t>
            </a:r>
            <a:endParaRPr lang="en-US" sz="2400" dirty="0"/>
          </a:p>
        </p:txBody>
      </p:sp>
      <p:sp>
        <p:nvSpPr>
          <p:cNvPr id="4" name="Shape 2"/>
          <p:cNvSpPr/>
          <p:nvPr/>
        </p:nvSpPr>
        <p:spPr>
          <a:xfrm>
            <a:off x="8778240" y="438912"/>
            <a:ext cx="2834640" cy="868680"/>
          </a:xfrm>
          <a:prstGeom prst="roundRect">
            <a:avLst>
              <a:gd name="adj" fmla="val 12632"/>
            </a:avLst>
          </a:prstGeom>
          <a:solidFill>
            <a:srgbClr val="028090"/>
          </a:solidFill>
          <a:ln/>
        </p:spPr>
      </p:sp>
      <p:sp>
        <p:nvSpPr>
          <p:cNvPr id="5" name="Text 3"/>
          <p:cNvSpPr txBox="1"/>
          <p:nvPr/>
        </p:nvSpPr>
        <p:spPr>
          <a:xfrm>
            <a:off x="8778240" y="438912"/>
            <a:ext cx="2834640" cy="86868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MINOR</a:t>
            </a:r>
            <a:endParaRPr lang="en-US" sz="2400" dirty="0"/>
          </a:p>
        </p:txBody>
      </p:sp>
      <p:sp>
        <p:nvSpPr>
          <p:cNvPr id="6" name="Shape 4"/>
          <p:cNvSpPr/>
          <p:nvPr/>
        </p:nvSpPr>
        <p:spPr>
          <a:xfrm>
            <a:off x="548640" y="1508760"/>
            <a:ext cx="11064240" cy="1417320"/>
          </a:xfrm>
          <a:prstGeom prst="roundRect">
            <a:avLst>
              <a:gd name="adj" fmla="val 7742"/>
            </a:avLst>
          </a:prstGeom>
          <a:solidFill>
            <a:srgbClr val="1B2B2E"/>
          </a:solidFill>
          <a:ln/>
        </p:spPr>
      </p:sp>
      <p:sp>
        <p:nvSpPr>
          <p:cNvPr id="7" name="Text 5"/>
          <p:cNvSpPr txBox="1"/>
          <p:nvPr/>
        </p:nvSpPr>
        <p:spPr>
          <a:xfrm>
            <a:off x="822960" y="1645920"/>
            <a:ext cx="10515600" cy="1143000"/>
          </a:xfrm>
          <a:prstGeom prst="rect">
            <a:avLst/>
          </a:prstGeom>
          <a:noFill/>
          <a:ln/>
        </p:spPr>
        <p:txBody>
          <a:bodyPr wrap="square" rtlCol="0" anchor="ctr"/>
          <a:lstStyle/>
          <a:p>
            <a:pPr indent="0" marL="0">
              <a:buNone/>
            </a:pPr>
            <a:r>
              <a:rPr lang="en-US" sz="1450" dirty="0">
                <a:solidFill>
                  <a:srgbClr val="028090"/>
                </a:solidFill>
                <a:latin typeface="Consolas" pitchFamily="34" charset="0"/>
                <a:ea typeface="Consolas" pitchFamily="34" charset="-122"/>
                <a:cs typeface="Consolas" pitchFamily="34" charset="-120"/>
              </a:rPr>
              <a:t>  POST /v1/predict         (sigue funcionando igual)</a:t>
            </a:r>
            <a:endParaRPr lang="en-US" sz="1450" dirty="0"/>
          </a:p>
          <a:p>
            <a:pPr indent="0" marL="0">
              <a:buNone/>
            </a:pPr>
            <a:r>
              <a:rPr lang="en-US" sz="1450" dirty="0">
                <a:solidFill>
                  <a:srgbClr val="028090"/>
                </a:solidFill>
                <a:latin typeface="Consolas" pitchFamily="34" charset="0"/>
                <a:ea typeface="Consolas" pitchFamily="34" charset="-122"/>
                <a:cs typeface="Consolas" pitchFamily="34" charset="-120"/>
              </a:rPr>
              <a:t>+ POST /v2/predict         (nuevo, formato de respuesta distinto)</a:t>
            </a:r>
            <a:endParaRPr lang="en-US" sz="1450" dirty="0"/>
          </a:p>
        </p:txBody>
      </p:sp>
      <p:sp>
        <p:nvSpPr>
          <p:cNvPr id="8" name="Shape 6"/>
          <p:cNvSpPr/>
          <p:nvPr/>
        </p:nvSpPr>
        <p:spPr>
          <a:xfrm>
            <a:off x="548640" y="3154680"/>
            <a:ext cx="11064240" cy="1417320"/>
          </a:xfrm>
          <a:prstGeom prst="roundRect">
            <a:avLst>
              <a:gd name="adj" fmla="val 7742"/>
            </a:avLst>
          </a:prstGeom>
          <a:solidFill>
            <a:srgbClr val="EFF7F6"/>
          </a:solidFill>
          <a:ln w="19050">
            <a:solidFill>
              <a:srgbClr val="028090"/>
            </a:solidFill>
            <a:prstDash val="solid"/>
          </a:ln>
        </p:spPr>
      </p:sp>
      <p:sp>
        <p:nvSpPr>
          <p:cNvPr id="9" name="Text 7"/>
          <p:cNvSpPr txBox="1"/>
          <p:nvPr/>
        </p:nvSpPr>
        <p:spPr>
          <a:xfrm>
            <a:off x="822960" y="3291840"/>
            <a:ext cx="10515600" cy="320040"/>
          </a:xfrm>
          <a:prstGeom prst="rect">
            <a:avLst/>
          </a:prstGeom>
          <a:noFill/>
          <a:ln/>
        </p:spPr>
        <p:txBody>
          <a:bodyPr wrap="square" rtlCol="0" anchor="ctr"/>
          <a:lstStyle/>
          <a:p>
            <a:pPr indent="0" marL="0">
              <a:buNone/>
            </a:pPr>
            <a:r>
              <a:rPr lang="en-US" sz="1200" b="1" spc="150" kern="0" dirty="0">
                <a:solidFill>
                  <a:srgbClr val="028090"/>
                </a:solidFill>
                <a:latin typeface="Calibri" pitchFamily="34" charset="0"/>
                <a:ea typeface="Calibri" pitchFamily="34" charset="-122"/>
                <a:cs typeface="Calibri" pitchFamily="34" charset="-120"/>
              </a:rPr>
              <a:t>¿POR QUÉ?</a:t>
            </a:r>
            <a:endParaRPr lang="en-US" sz="1200" dirty="0"/>
          </a:p>
        </p:txBody>
      </p:sp>
      <p:sp>
        <p:nvSpPr>
          <p:cNvPr id="10" name="Text 8"/>
          <p:cNvSpPr txBox="1"/>
          <p:nvPr/>
        </p:nvSpPr>
        <p:spPr>
          <a:xfrm>
            <a:off x="822960" y="3611880"/>
            <a:ext cx="10515600" cy="868680"/>
          </a:xfrm>
          <a:prstGeom prst="rect">
            <a:avLst/>
          </a:prstGeom>
          <a:noFill/>
          <a:ln/>
        </p:spPr>
        <p:txBody>
          <a:bodyPr wrap="square" rtlCol="0" anchor="ctr"/>
          <a:lstStyle/>
          <a:p>
            <a:pPr indent="0" marL="0">
              <a:buNone/>
            </a:pPr>
            <a:r>
              <a:rPr lang="en-US" sz="1500" dirty="0">
                <a:solidFill>
                  <a:srgbClr val="1B2B2E"/>
                </a:solidFill>
                <a:latin typeface="Calibri" pitchFamily="34" charset="0"/>
                <a:ea typeface="Calibri" pitchFamily="34" charset="-122"/>
                <a:cs typeface="Calibri" pitchFamily="34" charset="-120"/>
              </a:rPr>
              <a:t>Se agregó capacidad nueva (un endpoint adicional) sin tocar ni remover /v1/predict. Quien nunca se entera de /v2/predict, sigue funcionando exactamente igual que antes.</a:t>
            </a:r>
            <a:endParaRPr lang="en-US" sz="1500" dirty="0"/>
          </a:p>
        </p:txBody>
      </p:sp>
      <p:sp>
        <p:nvSpPr>
          <p:cNvPr id="11" name="Shape 9"/>
          <p:cNvSpPr/>
          <p:nvPr/>
        </p:nvSpPr>
        <p:spPr>
          <a:xfrm>
            <a:off x="548640" y="4800600"/>
            <a:ext cx="11064240" cy="1417320"/>
          </a:xfrm>
          <a:prstGeom prst="roundRect">
            <a:avLst>
              <a:gd name="adj" fmla="val 7742"/>
            </a:avLst>
          </a:prstGeom>
          <a:solidFill>
            <a:srgbClr val="0B3D42"/>
          </a:solidFill>
          <a:ln/>
        </p:spPr>
      </p:sp>
      <p:sp>
        <p:nvSpPr>
          <p:cNvPr id="12" name="Text 10"/>
          <p:cNvSpPr txBox="1"/>
          <p:nvPr/>
        </p:nvSpPr>
        <p:spPr>
          <a:xfrm>
            <a:off x="822960" y="4937760"/>
            <a:ext cx="10515600" cy="320040"/>
          </a:xfrm>
          <a:prstGeom prst="rect">
            <a:avLst/>
          </a:prstGeom>
          <a:noFill/>
          <a:ln/>
        </p:spPr>
        <p:txBody>
          <a:bodyPr wrap="square" rtlCol="0" anchor="ctr"/>
          <a:lstStyle/>
          <a:p>
            <a:pPr indent="0" marL="0">
              <a:buNone/>
            </a:pPr>
            <a:r>
              <a:rPr lang="en-US" sz="1150" b="1" spc="100" kern="0" dirty="0">
                <a:solidFill>
                  <a:srgbClr val="02C39A"/>
                </a:solidFill>
                <a:latin typeface="Calibri" pitchFamily="34" charset="0"/>
                <a:ea typeface="Calibri" pitchFamily="34" charset="-122"/>
                <a:cs typeface="Calibri" pitchFamily="34" charset="-120"/>
              </a:rPr>
              <a:t>SI TU EQUIPO VOTÓ DISTINTO...</a:t>
            </a:r>
            <a:endParaRPr lang="en-US" sz="1150" dirty="0"/>
          </a:p>
        </p:txBody>
      </p:sp>
      <p:sp>
        <p:nvSpPr>
          <p:cNvPr id="13" name="Text 11"/>
          <p:cNvSpPr txBox="1"/>
          <p:nvPr/>
        </p:nvSpPr>
        <p:spPr>
          <a:xfrm>
            <a:off x="822960" y="5257800"/>
            <a:ext cx="10515600" cy="868680"/>
          </a:xfrm>
          <a:prstGeom prst="rect">
            <a:avLst/>
          </a:prstGeom>
          <a:noFill/>
          <a:ln/>
        </p:spPr>
        <p:txBody>
          <a:bodyPr wrap="square" rtlCol="0" anchor="ctr"/>
          <a:lstStyle/>
          <a:p>
            <a:pPr indent="0" marL="0">
              <a:buNone/>
            </a:pPr>
            <a:r>
              <a:rPr lang="en-US" sz="1450" i="1" dirty="0">
                <a:solidFill>
                  <a:srgbClr val="F4FBFA"/>
                </a:solidFill>
                <a:latin typeface="Calibri" pitchFamily="34" charset="0"/>
                <a:ea typeface="Calibri" pitchFamily="34" charset="-122"/>
                <a:cs typeface="Calibri" pitchFamily="34" charset="-120"/>
              </a:rPr>
              <a:t>Ojo: el día que /v1/predict se elimine (no solo se deje de recomendar), ese sí será un MAJOR.</a:t>
            </a:r>
            <a:endParaRPr lang="en-US" sz="145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08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RESUMEN</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B2B2E"/>
                </a:solidFill>
                <a:latin typeface="Cambria" pitchFamily="34" charset="0"/>
                <a:ea typeface="Cambria" pitchFamily="34" charset="-122"/>
                <a:cs typeface="Cambria" pitchFamily="34" charset="-120"/>
              </a:rPr>
              <a:t>Los 6 casos, de un vistazo</a:t>
            </a:r>
            <a:endParaRPr lang="en-US" sz="3200" dirty="0"/>
          </a:p>
        </p:txBody>
      </p:sp>
      <p:sp>
        <p:nvSpPr>
          <p:cNvPr id="4" name="Shape 2"/>
          <p:cNvSpPr/>
          <p:nvPr/>
        </p:nvSpPr>
        <p:spPr>
          <a:xfrm>
            <a:off x="548640" y="1554480"/>
            <a:ext cx="11064240" cy="4489704"/>
          </a:xfrm>
          <a:prstGeom prst="roundRect">
            <a:avLst>
              <a:gd name="adj" fmla="val 2037"/>
            </a:avLst>
          </a:prstGeom>
          <a:solidFill>
            <a:srgbClr val="EFF7F6"/>
          </a:solidFill>
          <a:ln w="12700">
            <a:solidFill>
              <a:srgbClr val="CFE3E1"/>
            </a:solidFill>
            <a:prstDash val="solid"/>
          </a:ln>
        </p:spPr>
      </p:sp>
      <p:sp>
        <p:nvSpPr>
          <p:cNvPr id="5" name="Text 3"/>
          <p:cNvSpPr txBox="1"/>
          <p:nvPr/>
        </p:nvSpPr>
        <p:spPr>
          <a:xfrm>
            <a:off x="777240" y="1600200"/>
            <a:ext cx="822960" cy="621792"/>
          </a:xfrm>
          <a:prstGeom prst="rect">
            <a:avLst/>
          </a:prstGeom>
          <a:noFill/>
          <a:ln/>
        </p:spPr>
        <p:txBody>
          <a:bodyPr wrap="square" rtlCol="0" anchor="ctr"/>
          <a:lstStyle/>
          <a:p>
            <a:pPr indent="0" marL="0">
              <a:buNone/>
            </a:pPr>
            <a:r>
              <a:rPr lang="en-US" sz="1200" b="1" dirty="0">
                <a:solidFill>
                  <a:srgbClr val="5C7A7D"/>
                </a:solidFill>
                <a:latin typeface="Calibri" pitchFamily="34" charset="0"/>
                <a:ea typeface="Calibri" pitchFamily="34" charset="-122"/>
                <a:cs typeface="Calibri" pitchFamily="34" charset="-120"/>
              </a:rPr>
              <a:t>CASO</a:t>
            </a:r>
            <a:endParaRPr lang="en-US" sz="1200" dirty="0"/>
          </a:p>
        </p:txBody>
      </p:sp>
      <p:sp>
        <p:nvSpPr>
          <p:cNvPr id="6" name="Text 4"/>
          <p:cNvSpPr txBox="1"/>
          <p:nvPr/>
        </p:nvSpPr>
        <p:spPr>
          <a:xfrm>
            <a:off x="1691640" y="1600200"/>
            <a:ext cx="7315200" cy="621792"/>
          </a:xfrm>
          <a:prstGeom prst="rect">
            <a:avLst/>
          </a:prstGeom>
          <a:noFill/>
          <a:ln/>
        </p:spPr>
        <p:txBody>
          <a:bodyPr wrap="square" rtlCol="0" anchor="ctr"/>
          <a:lstStyle/>
          <a:p>
            <a:pPr indent="0" marL="0">
              <a:buNone/>
            </a:pPr>
            <a:r>
              <a:rPr lang="en-US" sz="1200" b="1" dirty="0">
                <a:solidFill>
                  <a:srgbClr val="5C7A7D"/>
                </a:solidFill>
                <a:latin typeface="Calibri" pitchFamily="34" charset="0"/>
                <a:ea typeface="Calibri" pitchFamily="34" charset="-122"/>
                <a:cs typeface="Calibri" pitchFamily="34" charset="-120"/>
              </a:rPr>
              <a:t>QUÉ PASÓ</a:t>
            </a:r>
            <a:endParaRPr lang="en-US" sz="1200" dirty="0"/>
          </a:p>
        </p:txBody>
      </p:sp>
      <p:sp>
        <p:nvSpPr>
          <p:cNvPr id="7" name="Text 5"/>
          <p:cNvSpPr txBox="1"/>
          <p:nvPr/>
        </p:nvSpPr>
        <p:spPr>
          <a:xfrm>
            <a:off x="9235440" y="1600200"/>
            <a:ext cx="2194560" cy="621792"/>
          </a:xfrm>
          <a:prstGeom prst="rect">
            <a:avLst/>
          </a:prstGeom>
          <a:noFill/>
          <a:ln/>
        </p:spPr>
        <p:txBody>
          <a:bodyPr wrap="square" rtlCol="0" anchor="ctr"/>
          <a:lstStyle/>
          <a:p>
            <a:pPr algn="ctr" indent="0" marL="0">
              <a:buNone/>
            </a:pPr>
            <a:r>
              <a:rPr lang="en-US" sz="1200" b="1" dirty="0">
                <a:solidFill>
                  <a:srgbClr val="5C7A7D"/>
                </a:solidFill>
                <a:latin typeface="Calibri" pitchFamily="34" charset="0"/>
                <a:ea typeface="Calibri" pitchFamily="34" charset="-122"/>
                <a:cs typeface="Calibri" pitchFamily="34" charset="-120"/>
              </a:rPr>
              <a:t>VEREDICTO</a:t>
            </a:r>
            <a:endParaRPr lang="en-US" sz="1200" dirty="0"/>
          </a:p>
        </p:txBody>
      </p:sp>
      <p:sp>
        <p:nvSpPr>
          <p:cNvPr id="8" name="Shape 6"/>
          <p:cNvSpPr/>
          <p:nvPr/>
        </p:nvSpPr>
        <p:spPr>
          <a:xfrm>
            <a:off x="594360" y="2221992"/>
            <a:ext cx="10972800" cy="621792"/>
          </a:xfrm>
          <a:prstGeom prst="rect">
            <a:avLst/>
          </a:prstGeom>
          <a:solidFill>
            <a:srgbClr val="FFFFFF">
              <a:alpha val="60000"/>
            </a:srgbClr>
          </a:solidFill>
          <a:ln/>
        </p:spPr>
      </p:sp>
      <p:sp>
        <p:nvSpPr>
          <p:cNvPr id="9" name="Text 7"/>
          <p:cNvSpPr txBox="1"/>
          <p:nvPr/>
        </p:nvSpPr>
        <p:spPr>
          <a:xfrm>
            <a:off x="777240" y="2221992"/>
            <a:ext cx="822960" cy="621792"/>
          </a:xfrm>
          <a:prstGeom prst="rect">
            <a:avLst/>
          </a:prstGeom>
          <a:noFill/>
          <a:ln/>
        </p:spPr>
        <p:txBody>
          <a:bodyPr wrap="square" rtlCol="0" anchor="ctr"/>
          <a:lstStyle/>
          <a:p>
            <a:pPr indent="0" marL="0">
              <a:buNone/>
            </a:pPr>
            <a:r>
              <a:rPr lang="en-US" sz="1600" b="1" dirty="0">
                <a:solidFill>
                  <a:srgbClr val="1B2B2E"/>
                </a:solidFill>
                <a:latin typeface="Cambria" pitchFamily="34" charset="0"/>
                <a:ea typeface="Cambria" pitchFamily="34" charset="-122"/>
                <a:cs typeface="Cambria" pitchFamily="34" charset="-120"/>
              </a:rPr>
              <a:t>1</a:t>
            </a:r>
            <a:endParaRPr lang="en-US" sz="1600" dirty="0"/>
          </a:p>
        </p:txBody>
      </p:sp>
      <p:sp>
        <p:nvSpPr>
          <p:cNvPr id="10" name="Text 8"/>
          <p:cNvSpPr txBox="1"/>
          <p:nvPr/>
        </p:nvSpPr>
        <p:spPr>
          <a:xfrm>
            <a:off x="1691640" y="2221992"/>
            <a:ext cx="7315200" cy="621792"/>
          </a:xfrm>
          <a:prstGeom prst="rect">
            <a:avLst/>
          </a:prstGeom>
          <a:noFill/>
          <a:ln/>
        </p:spPr>
        <p:txBody>
          <a:bodyPr wrap="square" rtlCol="0" anchor="ctr"/>
          <a:lstStyle/>
          <a:p>
            <a:pPr indent="0" marL="0">
              <a:buNone/>
            </a:pPr>
            <a:r>
              <a:rPr lang="en-US" sz="1400" dirty="0">
                <a:solidFill>
                  <a:srgbClr val="1B2B2E"/>
                </a:solidFill>
                <a:latin typeface="Calibri" pitchFamily="34" charset="0"/>
                <a:ea typeface="Calibri" pitchFamily="34" charset="-122"/>
                <a:cs typeface="Calibri" pitchFamily="34" charset="-120"/>
              </a:rPr>
              <a:t>Eliminar función deprecated</a:t>
            </a:r>
            <a:endParaRPr lang="en-US" sz="1400" dirty="0"/>
          </a:p>
        </p:txBody>
      </p:sp>
      <p:sp>
        <p:nvSpPr>
          <p:cNvPr id="11" name="Shape 9"/>
          <p:cNvSpPr/>
          <p:nvPr/>
        </p:nvSpPr>
        <p:spPr>
          <a:xfrm>
            <a:off x="9372600" y="2295144"/>
            <a:ext cx="1920240" cy="475488"/>
          </a:xfrm>
          <a:prstGeom prst="roundRect">
            <a:avLst>
              <a:gd name="adj" fmla="val 11538"/>
            </a:avLst>
          </a:prstGeom>
          <a:solidFill>
            <a:srgbClr val="D7263D"/>
          </a:solidFill>
          <a:ln/>
        </p:spPr>
      </p:sp>
      <p:sp>
        <p:nvSpPr>
          <p:cNvPr id="12" name="Text 10"/>
          <p:cNvSpPr txBox="1"/>
          <p:nvPr/>
        </p:nvSpPr>
        <p:spPr>
          <a:xfrm>
            <a:off x="9372600" y="2295144"/>
            <a:ext cx="1920240" cy="47548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MAJOR</a:t>
            </a:r>
            <a:endParaRPr lang="en-US" sz="1300" dirty="0"/>
          </a:p>
        </p:txBody>
      </p:sp>
      <p:sp>
        <p:nvSpPr>
          <p:cNvPr id="13" name="Text 11"/>
          <p:cNvSpPr txBox="1"/>
          <p:nvPr/>
        </p:nvSpPr>
        <p:spPr>
          <a:xfrm>
            <a:off x="777240" y="2843784"/>
            <a:ext cx="822960" cy="621792"/>
          </a:xfrm>
          <a:prstGeom prst="rect">
            <a:avLst/>
          </a:prstGeom>
          <a:noFill/>
          <a:ln/>
        </p:spPr>
        <p:txBody>
          <a:bodyPr wrap="square" rtlCol="0" anchor="ctr"/>
          <a:lstStyle/>
          <a:p>
            <a:pPr indent="0" marL="0">
              <a:buNone/>
            </a:pPr>
            <a:r>
              <a:rPr lang="en-US" sz="1600" b="1" dirty="0">
                <a:solidFill>
                  <a:srgbClr val="1B2B2E"/>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1691640" y="2843784"/>
            <a:ext cx="7315200" cy="621792"/>
          </a:xfrm>
          <a:prstGeom prst="rect">
            <a:avLst/>
          </a:prstGeom>
          <a:noFill/>
          <a:ln/>
        </p:spPr>
        <p:txBody>
          <a:bodyPr wrap="square" rtlCol="0" anchor="ctr"/>
          <a:lstStyle/>
          <a:p>
            <a:pPr indent="0" marL="0">
              <a:buNone/>
            </a:pPr>
            <a:r>
              <a:rPr lang="en-US" sz="1400" dirty="0">
                <a:solidFill>
                  <a:srgbClr val="1B2B2E"/>
                </a:solidFill>
                <a:latin typeface="Calibri" pitchFamily="34" charset="0"/>
                <a:ea typeface="Calibri" pitchFamily="34" charset="-122"/>
                <a:cs typeface="Calibri" pitchFamily="34" charset="-120"/>
              </a:rPr>
              <a:t>Agregar parámetro opcional</a:t>
            </a:r>
            <a:endParaRPr lang="en-US" sz="1400" dirty="0"/>
          </a:p>
        </p:txBody>
      </p:sp>
      <p:sp>
        <p:nvSpPr>
          <p:cNvPr id="15" name="Shape 13"/>
          <p:cNvSpPr/>
          <p:nvPr/>
        </p:nvSpPr>
        <p:spPr>
          <a:xfrm>
            <a:off x="9372600" y="2916936"/>
            <a:ext cx="1920240" cy="475488"/>
          </a:xfrm>
          <a:prstGeom prst="roundRect">
            <a:avLst>
              <a:gd name="adj" fmla="val 11538"/>
            </a:avLst>
          </a:prstGeom>
          <a:solidFill>
            <a:srgbClr val="028090"/>
          </a:solidFill>
          <a:ln/>
        </p:spPr>
      </p:sp>
      <p:sp>
        <p:nvSpPr>
          <p:cNvPr id="16" name="Text 14"/>
          <p:cNvSpPr txBox="1"/>
          <p:nvPr/>
        </p:nvSpPr>
        <p:spPr>
          <a:xfrm>
            <a:off x="9372600" y="2916936"/>
            <a:ext cx="1920240" cy="47548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MINOR</a:t>
            </a:r>
            <a:endParaRPr lang="en-US" sz="1300" dirty="0"/>
          </a:p>
        </p:txBody>
      </p:sp>
      <p:sp>
        <p:nvSpPr>
          <p:cNvPr id="17" name="Shape 15"/>
          <p:cNvSpPr/>
          <p:nvPr/>
        </p:nvSpPr>
        <p:spPr>
          <a:xfrm>
            <a:off x="594360" y="3465576"/>
            <a:ext cx="10972800" cy="621792"/>
          </a:xfrm>
          <a:prstGeom prst="rect">
            <a:avLst/>
          </a:prstGeom>
          <a:solidFill>
            <a:srgbClr val="FFFFFF">
              <a:alpha val="60000"/>
            </a:srgbClr>
          </a:solidFill>
          <a:ln/>
        </p:spPr>
      </p:sp>
      <p:sp>
        <p:nvSpPr>
          <p:cNvPr id="18" name="Text 16"/>
          <p:cNvSpPr txBox="1"/>
          <p:nvPr/>
        </p:nvSpPr>
        <p:spPr>
          <a:xfrm>
            <a:off x="777240" y="3465576"/>
            <a:ext cx="822960" cy="621792"/>
          </a:xfrm>
          <a:prstGeom prst="rect">
            <a:avLst/>
          </a:prstGeom>
          <a:noFill/>
          <a:ln/>
        </p:spPr>
        <p:txBody>
          <a:bodyPr wrap="square" rtlCol="0" anchor="ctr"/>
          <a:lstStyle/>
          <a:p>
            <a:pPr indent="0" marL="0">
              <a:buNone/>
            </a:pPr>
            <a:r>
              <a:rPr lang="en-US" sz="1600" b="1" dirty="0">
                <a:solidFill>
                  <a:srgbClr val="1B2B2E"/>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1691640" y="3465576"/>
            <a:ext cx="7315200" cy="621792"/>
          </a:xfrm>
          <a:prstGeom prst="rect">
            <a:avLst/>
          </a:prstGeom>
          <a:noFill/>
          <a:ln/>
        </p:spPr>
        <p:txBody>
          <a:bodyPr wrap="square" rtlCol="0" anchor="ctr"/>
          <a:lstStyle/>
          <a:p>
            <a:pPr indent="0" marL="0">
              <a:buNone/>
            </a:pPr>
            <a:r>
              <a:rPr lang="en-US" sz="1400" dirty="0">
                <a:solidFill>
                  <a:srgbClr val="1B2B2E"/>
                </a:solidFill>
                <a:latin typeface="Calibri" pitchFamily="34" charset="0"/>
                <a:ea typeface="Calibri" pitchFamily="34" charset="-122"/>
                <a:cs typeface="Calibri" pitchFamily="34" charset="-120"/>
              </a:rPr>
              <a:t>Corregir typo en un log</a:t>
            </a:r>
            <a:endParaRPr lang="en-US" sz="1400" dirty="0"/>
          </a:p>
        </p:txBody>
      </p:sp>
      <p:sp>
        <p:nvSpPr>
          <p:cNvPr id="20" name="Shape 18"/>
          <p:cNvSpPr/>
          <p:nvPr/>
        </p:nvSpPr>
        <p:spPr>
          <a:xfrm>
            <a:off x="9372600" y="3538728"/>
            <a:ext cx="1920240" cy="475488"/>
          </a:xfrm>
          <a:prstGeom prst="roundRect">
            <a:avLst>
              <a:gd name="adj" fmla="val 11538"/>
            </a:avLst>
          </a:prstGeom>
          <a:solidFill>
            <a:srgbClr val="02C39A"/>
          </a:solidFill>
          <a:ln/>
        </p:spPr>
      </p:sp>
      <p:sp>
        <p:nvSpPr>
          <p:cNvPr id="21" name="Text 19"/>
          <p:cNvSpPr txBox="1"/>
          <p:nvPr/>
        </p:nvSpPr>
        <p:spPr>
          <a:xfrm>
            <a:off x="9372600" y="3538728"/>
            <a:ext cx="1920240" cy="47548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PATCH</a:t>
            </a:r>
            <a:endParaRPr lang="en-US" sz="1300" dirty="0"/>
          </a:p>
        </p:txBody>
      </p:sp>
      <p:sp>
        <p:nvSpPr>
          <p:cNvPr id="22" name="Text 20"/>
          <p:cNvSpPr txBox="1"/>
          <p:nvPr/>
        </p:nvSpPr>
        <p:spPr>
          <a:xfrm>
            <a:off x="777240" y="4087368"/>
            <a:ext cx="822960" cy="621792"/>
          </a:xfrm>
          <a:prstGeom prst="rect">
            <a:avLst/>
          </a:prstGeom>
          <a:noFill/>
          <a:ln/>
        </p:spPr>
        <p:txBody>
          <a:bodyPr wrap="square" rtlCol="0" anchor="ctr"/>
          <a:lstStyle/>
          <a:p>
            <a:pPr indent="0" marL="0">
              <a:buNone/>
            </a:pPr>
            <a:r>
              <a:rPr lang="en-US" sz="1600" b="1" dirty="0">
                <a:solidFill>
                  <a:srgbClr val="1B2B2E"/>
                </a:solidFill>
                <a:latin typeface="Cambria" pitchFamily="34" charset="0"/>
                <a:ea typeface="Cambria" pitchFamily="34" charset="-122"/>
                <a:cs typeface="Cambria" pitchFamily="34" charset="-120"/>
              </a:rPr>
              <a:t>4</a:t>
            </a:r>
            <a:endParaRPr lang="en-US" sz="1600" dirty="0"/>
          </a:p>
        </p:txBody>
      </p:sp>
      <p:sp>
        <p:nvSpPr>
          <p:cNvPr id="23" name="Text 21"/>
          <p:cNvSpPr txBox="1"/>
          <p:nvPr/>
        </p:nvSpPr>
        <p:spPr>
          <a:xfrm>
            <a:off x="1691640" y="4087368"/>
            <a:ext cx="7315200" cy="621792"/>
          </a:xfrm>
          <a:prstGeom prst="rect">
            <a:avLst/>
          </a:prstGeom>
          <a:noFill/>
          <a:ln/>
        </p:spPr>
        <p:txBody>
          <a:bodyPr wrap="square" rtlCol="0" anchor="ctr"/>
          <a:lstStyle/>
          <a:p>
            <a:pPr indent="0" marL="0">
              <a:buNone/>
            </a:pPr>
            <a:r>
              <a:rPr lang="en-US" sz="1400" dirty="0">
                <a:solidFill>
                  <a:srgbClr val="1B2B2E"/>
                </a:solidFill>
                <a:latin typeface="Calibri" pitchFamily="34" charset="0"/>
                <a:ea typeface="Calibri" pitchFamily="34" charset="-122"/>
                <a:cs typeface="Calibri" pitchFamily="34" charset="-120"/>
              </a:rPr>
              <a:t>Cambiar un valor por defecto</a:t>
            </a:r>
            <a:endParaRPr lang="en-US" sz="1400" dirty="0"/>
          </a:p>
        </p:txBody>
      </p:sp>
      <p:sp>
        <p:nvSpPr>
          <p:cNvPr id="24" name="Shape 22"/>
          <p:cNvSpPr/>
          <p:nvPr/>
        </p:nvSpPr>
        <p:spPr>
          <a:xfrm>
            <a:off x="9372600" y="4160520"/>
            <a:ext cx="1920240" cy="475488"/>
          </a:xfrm>
          <a:prstGeom prst="roundRect">
            <a:avLst>
              <a:gd name="adj" fmla="val 11538"/>
            </a:avLst>
          </a:prstGeom>
          <a:solidFill>
            <a:srgbClr val="D7263D"/>
          </a:solidFill>
          <a:ln/>
        </p:spPr>
      </p:sp>
      <p:sp>
        <p:nvSpPr>
          <p:cNvPr id="25" name="Text 23"/>
          <p:cNvSpPr txBox="1"/>
          <p:nvPr/>
        </p:nvSpPr>
        <p:spPr>
          <a:xfrm>
            <a:off x="9372600" y="4160520"/>
            <a:ext cx="1920240" cy="47548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MAJOR</a:t>
            </a:r>
            <a:endParaRPr lang="en-US" sz="1300" dirty="0"/>
          </a:p>
        </p:txBody>
      </p:sp>
      <p:sp>
        <p:nvSpPr>
          <p:cNvPr id="26" name="Shape 24"/>
          <p:cNvSpPr/>
          <p:nvPr/>
        </p:nvSpPr>
        <p:spPr>
          <a:xfrm>
            <a:off x="594360" y="4709160"/>
            <a:ext cx="10972800" cy="621792"/>
          </a:xfrm>
          <a:prstGeom prst="rect">
            <a:avLst/>
          </a:prstGeom>
          <a:solidFill>
            <a:srgbClr val="FFFFFF">
              <a:alpha val="60000"/>
            </a:srgbClr>
          </a:solidFill>
          <a:ln/>
        </p:spPr>
      </p:sp>
      <p:sp>
        <p:nvSpPr>
          <p:cNvPr id="27" name="Text 25"/>
          <p:cNvSpPr txBox="1"/>
          <p:nvPr/>
        </p:nvSpPr>
        <p:spPr>
          <a:xfrm>
            <a:off x="777240" y="4709160"/>
            <a:ext cx="822960" cy="621792"/>
          </a:xfrm>
          <a:prstGeom prst="rect">
            <a:avLst/>
          </a:prstGeom>
          <a:noFill/>
          <a:ln/>
        </p:spPr>
        <p:txBody>
          <a:bodyPr wrap="square" rtlCol="0" anchor="ctr"/>
          <a:lstStyle/>
          <a:p>
            <a:pPr indent="0" marL="0">
              <a:buNone/>
            </a:pPr>
            <a:r>
              <a:rPr lang="en-US" sz="1600" b="1" dirty="0">
                <a:solidFill>
                  <a:srgbClr val="1B2B2E"/>
                </a:solidFill>
                <a:latin typeface="Cambria" pitchFamily="34" charset="0"/>
                <a:ea typeface="Cambria" pitchFamily="34" charset="-122"/>
                <a:cs typeface="Cambria" pitchFamily="34" charset="-120"/>
              </a:rPr>
              <a:t>5</a:t>
            </a:r>
            <a:endParaRPr lang="en-US" sz="1600" dirty="0"/>
          </a:p>
        </p:txBody>
      </p:sp>
      <p:sp>
        <p:nvSpPr>
          <p:cNvPr id="28" name="Text 26"/>
          <p:cNvSpPr txBox="1"/>
          <p:nvPr/>
        </p:nvSpPr>
        <p:spPr>
          <a:xfrm>
            <a:off x="1691640" y="4709160"/>
            <a:ext cx="7315200" cy="621792"/>
          </a:xfrm>
          <a:prstGeom prst="rect">
            <a:avLst/>
          </a:prstGeom>
          <a:noFill/>
          <a:ln/>
        </p:spPr>
        <p:txBody>
          <a:bodyPr wrap="square" rtlCol="0" anchor="ctr"/>
          <a:lstStyle/>
          <a:p>
            <a:pPr indent="0" marL="0">
              <a:buNone/>
            </a:pPr>
            <a:r>
              <a:rPr lang="en-US" sz="1400" dirty="0">
                <a:solidFill>
                  <a:srgbClr val="1B2B2E"/>
                </a:solidFill>
                <a:latin typeface="Calibri" pitchFamily="34" charset="0"/>
                <a:ea typeface="Calibri" pitchFamily="34" charset="-122"/>
                <a:cs typeface="Calibri" pitchFamily="34" charset="-120"/>
              </a:rPr>
              <a:t>Reescribir algoritmo interno (misma firma)</a:t>
            </a:r>
            <a:endParaRPr lang="en-US" sz="1400" dirty="0"/>
          </a:p>
        </p:txBody>
      </p:sp>
      <p:sp>
        <p:nvSpPr>
          <p:cNvPr id="29" name="Shape 27"/>
          <p:cNvSpPr/>
          <p:nvPr/>
        </p:nvSpPr>
        <p:spPr>
          <a:xfrm>
            <a:off x="9372600" y="4782312"/>
            <a:ext cx="1920240" cy="475488"/>
          </a:xfrm>
          <a:prstGeom prst="roundRect">
            <a:avLst>
              <a:gd name="adj" fmla="val 11538"/>
            </a:avLst>
          </a:prstGeom>
          <a:solidFill>
            <a:srgbClr val="02C39A"/>
          </a:solidFill>
          <a:ln/>
        </p:spPr>
      </p:sp>
      <p:sp>
        <p:nvSpPr>
          <p:cNvPr id="30" name="Text 28"/>
          <p:cNvSpPr txBox="1"/>
          <p:nvPr/>
        </p:nvSpPr>
        <p:spPr>
          <a:xfrm>
            <a:off x="9372600" y="4782312"/>
            <a:ext cx="1920240" cy="47548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PATCH</a:t>
            </a:r>
            <a:endParaRPr lang="en-US" sz="1300" dirty="0"/>
          </a:p>
        </p:txBody>
      </p:sp>
      <p:sp>
        <p:nvSpPr>
          <p:cNvPr id="31" name="Text 29"/>
          <p:cNvSpPr txBox="1"/>
          <p:nvPr/>
        </p:nvSpPr>
        <p:spPr>
          <a:xfrm>
            <a:off x="777240" y="5330952"/>
            <a:ext cx="822960" cy="621792"/>
          </a:xfrm>
          <a:prstGeom prst="rect">
            <a:avLst/>
          </a:prstGeom>
          <a:noFill/>
          <a:ln/>
        </p:spPr>
        <p:txBody>
          <a:bodyPr wrap="square" rtlCol="0" anchor="ctr"/>
          <a:lstStyle/>
          <a:p>
            <a:pPr indent="0" marL="0">
              <a:buNone/>
            </a:pPr>
            <a:r>
              <a:rPr lang="en-US" sz="1600" b="1" dirty="0">
                <a:solidFill>
                  <a:srgbClr val="1B2B2E"/>
                </a:solidFill>
                <a:latin typeface="Cambria" pitchFamily="34" charset="0"/>
                <a:ea typeface="Cambria" pitchFamily="34" charset="-122"/>
                <a:cs typeface="Cambria" pitchFamily="34" charset="-120"/>
              </a:rPr>
              <a:t>6</a:t>
            </a:r>
            <a:endParaRPr lang="en-US" sz="1600" dirty="0"/>
          </a:p>
        </p:txBody>
      </p:sp>
      <p:sp>
        <p:nvSpPr>
          <p:cNvPr id="32" name="Text 30"/>
          <p:cNvSpPr txBox="1"/>
          <p:nvPr/>
        </p:nvSpPr>
        <p:spPr>
          <a:xfrm>
            <a:off x="1691640" y="5330952"/>
            <a:ext cx="7315200" cy="621792"/>
          </a:xfrm>
          <a:prstGeom prst="rect">
            <a:avLst/>
          </a:prstGeom>
          <a:noFill/>
          <a:ln/>
        </p:spPr>
        <p:txBody>
          <a:bodyPr wrap="square" rtlCol="0" anchor="ctr"/>
          <a:lstStyle/>
          <a:p>
            <a:pPr indent="0" marL="0">
              <a:buNone/>
            </a:pPr>
            <a:r>
              <a:rPr lang="en-US" sz="1400" dirty="0">
                <a:solidFill>
                  <a:srgbClr val="1B2B2E"/>
                </a:solidFill>
                <a:latin typeface="Calibri" pitchFamily="34" charset="0"/>
                <a:ea typeface="Calibri" pitchFamily="34" charset="-122"/>
                <a:cs typeface="Calibri" pitchFamily="34" charset="-120"/>
              </a:rPr>
              <a:t>Agregar endpoint nuevo, sin tocar el viejo</a:t>
            </a:r>
            <a:endParaRPr lang="en-US" sz="1400" dirty="0"/>
          </a:p>
        </p:txBody>
      </p:sp>
      <p:sp>
        <p:nvSpPr>
          <p:cNvPr id="33" name="Shape 31"/>
          <p:cNvSpPr/>
          <p:nvPr/>
        </p:nvSpPr>
        <p:spPr>
          <a:xfrm>
            <a:off x="9372600" y="5404104"/>
            <a:ext cx="1920240" cy="475488"/>
          </a:xfrm>
          <a:prstGeom prst="roundRect">
            <a:avLst>
              <a:gd name="adj" fmla="val 11538"/>
            </a:avLst>
          </a:prstGeom>
          <a:solidFill>
            <a:srgbClr val="028090"/>
          </a:solidFill>
          <a:ln/>
        </p:spPr>
      </p:sp>
      <p:sp>
        <p:nvSpPr>
          <p:cNvPr id="34" name="Text 32"/>
          <p:cNvSpPr txBox="1"/>
          <p:nvPr/>
        </p:nvSpPr>
        <p:spPr>
          <a:xfrm>
            <a:off x="9372600" y="5404104"/>
            <a:ext cx="1920240" cy="47548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MINOR</a:t>
            </a:r>
            <a:endParaRPr lang="en-US" sz="1300" dirty="0"/>
          </a:p>
        </p:txBody>
      </p:sp>
      <p:sp>
        <p:nvSpPr>
          <p:cNvPr id="35" name="Text 33"/>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09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3D42"/>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02C39A">
              <a:alpha val="45000"/>
            </a:srgbClr>
          </a:solidFill>
          <a:ln/>
        </p:spPr>
      </p:sp>
      <p:sp>
        <p:nvSpPr>
          <p:cNvPr id="3" name="Text 1"/>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PARA LLEVARSE</a:t>
            </a:r>
            <a:endParaRPr lang="en-US" sz="1200" dirty="0"/>
          </a:p>
        </p:txBody>
      </p:sp>
      <p:sp>
        <p:nvSpPr>
          <p:cNvPr id="4" name="Text 2"/>
          <p:cNvSpPr txBox="1"/>
          <p:nvPr/>
        </p:nvSpPr>
        <p:spPr>
          <a:xfrm>
            <a:off x="548640" y="411480"/>
            <a:ext cx="11064240" cy="82296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Cuando dudes, sé conservador</a:t>
            </a:r>
            <a:endParaRPr lang="en-US" sz="3400" dirty="0"/>
          </a:p>
        </p:txBody>
      </p:sp>
      <p:sp>
        <p:nvSpPr>
          <p:cNvPr id="5" name="Text 3"/>
          <p:cNvSpPr txBox="1"/>
          <p:nvPr/>
        </p:nvSpPr>
        <p:spPr>
          <a:xfrm>
            <a:off x="594360" y="2103120"/>
            <a:ext cx="10515600" cy="914400"/>
          </a:xfrm>
          <a:prstGeom prst="rect">
            <a:avLst/>
          </a:prstGeom>
          <a:noFill/>
          <a:ln/>
        </p:spPr>
        <p:txBody>
          <a:bodyPr wrap="square" rtlCol="0" anchor="ctr"/>
          <a:lstStyle/>
          <a:p>
            <a:pPr indent="0" marL="0">
              <a:buNone/>
            </a:pPr>
            <a:r>
              <a:rPr lang="en-US" sz="1700" dirty="0">
                <a:solidFill>
                  <a:srgbClr val="F4FBFA"/>
                </a:solidFill>
                <a:latin typeface="Calibri" pitchFamily="34" charset="0"/>
                <a:ea typeface="Calibri" pitchFamily="34" charset="-122"/>
                <a:cs typeface="Calibri" pitchFamily="34" charset="-120"/>
              </a:rPr>
              <a:t>Si no estás seguro de si un cambio rompe algo para alguien, trátalo como si rompiera algo. Es mucho más barato anunciar un MAJOR de más, que romper producción de alguien sin avisar.</a:t>
            </a:r>
            <a:endParaRPr lang="en-US" sz="1700" dirty="0"/>
          </a:p>
        </p:txBody>
      </p:sp>
      <p:sp>
        <p:nvSpPr>
          <p:cNvPr id="6" name="Shape 4"/>
          <p:cNvSpPr/>
          <p:nvPr/>
        </p:nvSpPr>
        <p:spPr>
          <a:xfrm>
            <a:off x="594360" y="3429000"/>
            <a:ext cx="10515600" cy="2286000"/>
          </a:xfrm>
          <a:prstGeom prst="roundRect">
            <a:avLst>
              <a:gd name="adj" fmla="val 5600"/>
            </a:avLst>
          </a:prstGeom>
          <a:solidFill>
            <a:srgbClr val="028090">
              <a:alpha val="85000"/>
            </a:srgbClr>
          </a:solidFill>
          <a:ln w="19050">
            <a:solidFill>
              <a:srgbClr val="02C39A"/>
            </a:solidFill>
            <a:prstDash val="solid"/>
          </a:ln>
        </p:spPr>
      </p:sp>
      <p:sp>
        <p:nvSpPr>
          <p:cNvPr id="7" name="Text 5"/>
          <p:cNvSpPr txBox="1"/>
          <p:nvPr/>
        </p:nvSpPr>
        <p:spPr>
          <a:xfrm>
            <a:off x="914400" y="3657600"/>
            <a:ext cx="9875520" cy="1828800"/>
          </a:xfrm>
          <a:prstGeom prst="rect">
            <a:avLst/>
          </a:prstGeom>
          <a:noFill/>
          <a:ln/>
        </p:spPr>
        <p:txBody>
          <a:bodyPr wrap="square"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En herramientas como semantic-release, esto no es solo criterio: el mensaje de tu commit (feat:, fix:, BREAKING CHANGE:) decide automáticamente el próximo número de versión.</a:t>
            </a:r>
            <a:endParaRPr lang="en-US" sz="1600" dirty="0"/>
          </a:p>
        </p:txBody>
      </p:sp>
      <p:sp>
        <p:nvSpPr>
          <p:cNvPr id="8" name="Text 6"/>
          <p:cNvSpPr txBox="1"/>
          <p:nvPr/>
        </p:nvSpPr>
        <p:spPr>
          <a:xfrm>
            <a:off x="640080" y="6309360"/>
            <a:ext cx="10058400" cy="365760"/>
          </a:xfrm>
          <a:prstGeom prst="rect">
            <a:avLst/>
          </a:prstGeom>
          <a:noFill/>
          <a:ln/>
        </p:spPr>
        <p:txBody>
          <a:bodyPr wrap="square" rtlCol="0" anchor="ctr"/>
          <a:lstStyle/>
          <a:p>
            <a:pPr indent="0" marL="0">
              <a:buNone/>
            </a:pPr>
            <a:r>
              <a:rPr lang="en-US" sz="1200" dirty="0">
                <a:solidFill>
                  <a:srgbClr val="5C7A7D"/>
                </a:solidFill>
                <a:latin typeface="Calibri" pitchFamily="34" charset="0"/>
                <a:ea typeface="Calibri" pitchFamily="34" charset="-122"/>
                <a:cs typeface="Calibri" pitchFamily="34" charset="-120"/>
              </a:rPr>
              <a:t>Universidad de Medellín  ·  Especialización en Analítica e Inteligencia Artificial</a:t>
            </a:r>
            <a:endParaRPr lang="en-US" sz="1200" dirty="0"/>
          </a:p>
        </p:txBody>
      </p:sp>
      <p:sp>
        <p:nvSpPr>
          <p:cNvPr id="9" name="Text 7"/>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10 / 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2026-09-08T00:36:34Z</dcterms:created>
  <dcterms:modified xsi:type="dcterms:W3CDTF">2026-09-08T00:36:34Z</dcterms:modified>
</cp:coreProperties>
</file>