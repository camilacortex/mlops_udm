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42"/>
        </a:solidFill>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028090">
              <a:alpha val="45000"/>
            </a:srgbClr>
          </a:solidFill>
          <a:ln/>
        </p:spPr>
      </p:sp>
      <p:sp>
        <p:nvSpPr>
          <p:cNvPr id="3" name="Shape 1"/>
          <p:cNvSpPr/>
          <p:nvPr/>
        </p:nvSpPr>
        <p:spPr>
          <a:xfrm>
            <a:off x="10241280" y="4206240"/>
            <a:ext cx="3840480" cy="3840480"/>
          </a:xfrm>
          <a:prstGeom prst="ellipse">
            <a:avLst/>
          </a:prstGeom>
          <a:solidFill>
            <a:srgbClr val="02C39A">
              <a:alpha val="40000"/>
            </a:srgbClr>
          </a:solidFill>
          <a:ln/>
        </p:spPr>
      </p:sp>
      <p:sp>
        <p:nvSpPr>
          <p:cNvPr id="4" name="Shape 2"/>
          <p:cNvSpPr/>
          <p:nvPr/>
        </p:nvSpPr>
        <p:spPr>
          <a:xfrm>
            <a:off x="566928" y="429768"/>
            <a:ext cx="1197864" cy="1197864"/>
          </a:xfrm>
          <a:prstGeom prst="roundRect">
            <a:avLst>
              <a:gd name="adj" fmla="val 10687"/>
            </a:avLst>
          </a:prstGeom>
          <a:solidFill>
            <a:srgbClr val="FFFFFF"/>
          </a:solidFill>
          <a:ln/>
          <a:effectLst>
            <a:outerShdw sx="100000" sy="100000" kx="0" ky="0" algn="bl" rotWithShape="0" blurRad="101600" dist="38100" dir="5400000">
              <a:srgbClr val="000000">
                <a:alpha val="30000"/>
              </a:srgbClr>
            </a:outerShdw>
          </a:effectLst>
        </p:spPr>
      </p:sp>
      <p:pic>
        <p:nvPicPr>
          <p:cNvPr id="5" name="Image 0" descr="udem_logo.png">    </p:cNvPr>
          <p:cNvPicPr>
            <a:picLocks noChangeAspect="1"/>
          </p:cNvPicPr>
          <p:nvPr/>
        </p:nvPicPr>
        <p:blipFill>
          <a:blip r:embed="rId1"/>
          <a:stretch>
            <a:fillRect/>
          </a:stretch>
        </p:blipFill>
        <p:spPr>
          <a:xfrm>
            <a:off x="640080" y="502920"/>
            <a:ext cx="1051560" cy="1051560"/>
          </a:xfrm>
          <a:prstGeom prst="rect">
            <a:avLst/>
          </a:prstGeom>
        </p:spPr>
      </p:pic>
      <p:sp>
        <p:nvSpPr>
          <p:cNvPr id="6" name="Text 3"/>
          <p:cNvSpPr txBox="1"/>
          <p:nvPr/>
        </p:nvSpPr>
        <p:spPr>
          <a:xfrm>
            <a:off x="640080" y="2514600"/>
            <a:ext cx="9144000" cy="365760"/>
          </a:xfrm>
          <a:prstGeom prst="rect">
            <a:avLst/>
          </a:prstGeom>
          <a:noFill/>
          <a:ln/>
        </p:spPr>
        <p:txBody>
          <a:bodyPr wrap="square" rtlCol="0" anchor="ctr"/>
          <a:lstStyle/>
          <a:p>
            <a:pPr indent="0" marL="0">
              <a:buNone/>
            </a:pPr>
            <a:r>
              <a:rPr lang="en-US" sz="1400" b="1" spc="300" kern="0" dirty="0">
                <a:solidFill>
                  <a:srgbClr val="02C39A"/>
                </a:solidFill>
                <a:latin typeface="Calibri" pitchFamily="34" charset="0"/>
                <a:ea typeface="Calibri" pitchFamily="34" charset="-122"/>
                <a:cs typeface="Calibri" pitchFamily="34" charset="-120"/>
              </a:rPr>
              <a:t>CURSO DE MLOPS  ·  VERSIONADO Y RELEASES</a:t>
            </a:r>
            <a:endParaRPr lang="en-US" sz="1400" dirty="0"/>
          </a:p>
        </p:txBody>
      </p:sp>
      <p:sp>
        <p:nvSpPr>
          <p:cNvPr id="7" name="Text 4"/>
          <p:cNvSpPr txBox="1"/>
          <p:nvPr/>
        </p:nvSpPr>
        <p:spPr>
          <a:xfrm>
            <a:off x="594360" y="2880360"/>
            <a:ext cx="10789920" cy="2103120"/>
          </a:xfrm>
          <a:prstGeom prst="rect">
            <a:avLst/>
          </a:prstGeom>
          <a:noFill/>
          <a:ln/>
        </p:spPr>
        <p:txBody>
          <a:bodyPr wrap="square" rtlCol="0" anchor="ctr"/>
          <a:lstStyle/>
          <a:p>
            <a:pPr indent="0" marL="0">
              <a:lnSpc>
                <a:spcPts val="5400"/>
              </a:lnSpc>
              <a:buNone/>
            </a:pPr>
            <a:r>
              <a:rPr lang="en-US" sz="4800" b="1" dirty="0">
                <a:solidFill>
                  <a:srgbClr val="FFFFFF"/>
                </a:solidFill>
                <a:latin typeface="Cambria" pitchFamily="34" charset="0"/>
                <a:ea typeface="Cambria" pitchFamily="34" charset="-122"/>
                <a:cs typeface="Cambria" pitchFamily="34" charset="-120"/>
              </a:rPr>
              <a:t>Semantic Versioning:</a:t>
            </a:r>
            <a:endParaRPr lang="en-US" sz="4800" dirty="0"/>
          </a:p>
          <a:p>
            <a:pPr indent="0" marL="0">
              <a:lnSpc>
                <a:spcPts val="5400"/>
              </a:lnSpc>
              <a:buNone/>
            </a:pPr>
            <a:r>
              <a:rPr lang="en-US" sz="4800" b="1" dirty="0">
                <a:solidFill>
                  <a:srgbClr val="FFFFFF"/>
                </a:solidFill>
                <a:latin typeface="Cambria" pitchFamily="34" charset="0"/>
                <a:ea typeface="Cambria" pitchFamily="34" charset="-122"/>
                <a:cs typeface="Cambria" pitchFamily="34" charset="-120"/>
              </a:rPr>
              <a:t>¿rompiste algo o no?</a:t>
            </a:r>
            <a:endParaRPr lang="en-US" sz="4800" dirty="0"/>
          </a:p>
        </p:txBody>
      </p:sp>
      <p:sp>
        <p:nvSpPr>
          <p:cNvPr id="8" name="Text 5"/>
          <p:cNvSpPr txBox="1"/>
          <p:nvPr/>
        </p:nvSpPr>
        <p:spPr>
          <a:xfrm>
            <a:off x="640080" y="5074920"/>
            <a:ext cx="10058400" cy="640080"/>
          </a:xfrm>
          <a:prstGeom prst="rect">
            <a:avLst/>
          </a:prstGeom>
          <a:noFill/>
          <a:ln/>
        </p:spPr>
        <p:txBody>
          <a:bodyPr wrap="square" rtlCol="0" anchor="ctr"/>
          <a:lstStyle/>
          <a:p>
            <a:pPr indent="0" marL="0">
              <a:buNone/>
            </a:pPr>
            <a:r>
              <a:rPr lang="en-US" sz="1600" i="1" dirty="0">
                <a:solidFill>
                  <a:srgbClr val="F4FBFA"/>
                </a:solidFill>
                <a:latin typeface="Calibri" pitchFamily="34" charset="0"/>
                <a:ea typeface="Calibri" pitchFamily="34" charset="-122"/>
                <a:cs typeface="Calibri" pitchFamily="34" charset="-120"/>
              </a:rPr>
              <a:t>6 casos reales. Tu equipo decide: MAJOR, MINOR o PATCH — y la respuesta llega justo después de cada uno.</a:t>
            </a:r>
            <a:endParaRPr lang="en-US" sz="1600" dirty="0"/>
          </a:p>
        </p:txBody>
      </p:sp>
      <p:sp>
        <p:nvSpPr>
          <p:cNvPr id="9" name="Text 6"/>
          <p:cNvSpPr txBox="1"/>
          <p:nvPr/>
        </p:nvSpPr>
        <p:spPr>
          <a:xfrm>
            <a:off x="640080" y="6263640"/>
            <a:ext cx="10058400" cy="365760"/>
          </a:xfrm>
          <a:prstGeom prst="rect">
            <a:avLst/>
          </a:prstGeom>
          <a:noFill/>
          <a:ln/>
        </p:spPr>
        <p:txBody>
          <a:bodyPr wrap="square" rtlCol="0" anchor="ctr"/>
          <a:lstStyle/>
          <a:p>
            <a:pPr indent="0" marL="0">
              <a:buNone/>
            </a:pPr>
            <a:r>
              <a:rPr lang="en-US" sz="1200" dirty="0">
                <a:solidFill>
                  <a:srgbClr val="5C7A7D"/>
                </a:solidFill>
                <a:latin typeface="Calibri" pitchFamily="34" charset="0"/>
                <a:ea typeface="Calibri" pitchFamily="34" charset="-122"/>
                <a:cs typeface="Calibri" pitchFamily="34" charset="-120"/>
              </a:rPr>
              <a:t>Universidad de Medellín  ·  Especialización en Analítica e Inteligencia Artificial</a:t>
            </a:r>
            <a:endParaRPr lang="en-US" sz="1200" dirty="0"/>
          </a:p>
        </p:txBody>
      </p:sp>
      <p:sp>
        <p:nvSpPr>
          <p:cNvPr id="10" name="Text 7"/>
          <p:cNvSpPr txBox="1"/>
          <p:nvPr/>
        </p:nvSpPr>
        <p:spPr>
          <a:xfrm>
            <a:off x="11155680" y="6473952"/>
            <a:ext cx="822960" cy="274320"/>
          </a:xfrm>
          <a:prstGeom prst="rect">
            <a:avLst/>
          </a:prstGeom>
          <a:noFill/>
          <a:ln/>
        </p:spPr>
        <p:txBody>
          <a:bodyPr wrap="square" rtlCol="0" anchor="ctr"/>
          <a:lstStyle/>
          <a:p>
            <a:pPr algn="r" indent="0" marL="0">
              <a:buNone/>
            </a:pPr>
            <a:r>
              <a:rPr lang="en-US" sz="1000" dirty="0">
                <a:solidFill>
                  <a:srgbClr val="5C7A7D"/>
                </a:solidFill>
                <a:latin typeface="Calibri" pitchFamily="34" charset="0"/>
                <a:ea typeface="Calibri" pitchFamily="34" charset="-122"/>
                <a:cs typeface="Calibri" pitchFamily="34" charset="-120"/>
              </a:rPr>
              <a:t>01 / 19</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8229600" cy="292608"/>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EL GANCHO</a:t>
            </a:r>
            <a:endParaRPr lang="en-US" sz="1200" dirty="0"/>
          </a:p>
        </p:txBody>
      </p:sp>
      <p:sp>
        <p:nvSpPr>
          <p:cNvPr id="3" name="Text 1"/>
          <p:cNvSpPr txBox="1"/>
          <p:nvPr/>
        </p:nvSpPr>
        <p:spPr>
          <a:xfrm>
            <a:off x="548640" y="411480"/>
            <a:ext cx="11064240" cy="822960"/>
          </a:xfrm>
          <a:prstGeom prst="rect">
            <a:avLst/>
          </a:prstGeom>
          <a:noFill/>
          <a:ln/>
        </p:spPr>
        <p:txBody>
          <a:bodyPr wrap="square" rtlCol="0" anchor="ctr"/>
          <a:lstStyle/>
          <a:p>
            <a:pPr algn="l" indent="0" marL="0">
              <a:buNone/>
            </a:pPr>
            <a:r>
              <a:rPr lang="en-US" sz="3200" b="1" dirty="0">
                <a:solidFill>
                  <a:srgbClr val="1B2B2E"/>
                </a:solidFill>
                <a:latin typeface="Cambria" pitchFamily="34" charset="0"/>
                <a:ea typeface="Cambria" pitchFamily="34" charset="-122"/>
                <a:cs typeface="Cambria" pitchFamily="34" charset="-120"/>
              </a:rPr>
              <a:t>"v1.0.1: arreglando cositas"</a:t>
            </a:r>
            <a:endParaRPr lang="en-US" sz="3200" dirty="0"/>
          </a:p>
        </p:txBody>
      </p:sp>
      <p:sp>
        <p:nvSpPr>
          <p:cNvPr id="4" name="Shape 2"/>
          <p:cNvSpPr/>
          <p:nvPr/>
        </p:nvSpPr>
        <p:spPr>
          <a:xfrm rot="-120000">
            <a:off x="594360" y="1737360"/>
            <a:ext cx="5212080" cy="4206240"/>
          </a:xfrm>
          <a:prstGeom prst="roundRect">
            <a:avLst>
              <a:gd name="adj" fmla="val 3043"/>
            </a:avLst>
          </a:prstGeom>
          <a:solidFill>
            <a:srgbClr val="EFF7F6"/>
          </a:solidFill>
          <a:ln w="15875">
            <a:solidFill>
              <a:srgbClr val="CFE3E1"/>
            </a:solidFill>
            <a:prstDash val="solid"/>
          </a:ln>
        </p:spPr>
      </p:sp>
      <p:sp>
        <p:nvSpPr>
          <p:cNvPr id="5" name="Text 3"/>
          <p:cNvSpPr txBox="1"/>
          <p:nvPr/>
        </p:nvSpPr>
        <p:spPr>
          <a:xfrm rot="-120000">
            <a:off x="868680" y="1965960"/>
            <a:ext cx="4663440" cy="365760"/>
          </a:xfrm>
          <a:prstGeom prst="rect">
            <a:avLst/>
          </a:prstGeom>
          <a:noFill/>
          <a:ln/>
        </p:spPr>
        <p:txBody>
          <a:bodyPr wrap="square" rtlCol="0" anchor="ctr"/>
          <a:lstStyle/>
          <a:p>
            <a:pPr indent="0" marL="0">
              <a:buNone/>
            </a:pPr>
            <a:r>
              <a:rPr lang="en-US" sz="1200" b="1" spc="150" kern="0" dirty="0">
                <a:solidFill>
                  <a:srgbClr val="5C7A7D"/>
                </a:solidFill>
                <a:latin typeface="Calibri" pitchFamily="34" charset="0"/>
                <a:ea typeface="Calibri" pitchFamily="34" charset="-122"/>
                <a:cs typeface="Calibri" pitchFamily="34" charset="-120"/>
              </a:rPr>
              <a:t>LO QUE DICE EL COMMIT</a:t>
            </a:r>
            <a:endParaRPr lang="en-US" sz="1200" dirty="0"/>
          </a:p>
        </p:txBody>
      </p:sp>
      <p:sp>
        <p:nvSpPr>
          <p:cNvPr id="6" name="Shape 4"/>
          <p:cNvSpPr/>
          <p:nvPr/>
        </p:nvSpPr>
        <p:spPr>
          <a:xfrm rot="-120000">
            <a:off x="868680" y="2468880"/>
            <a:ext cx="4663440" cy="1005840"/>
          </a:xfrm>
          <a:prstGeom prst="roundRect">
            <a:avLst>
              <a:gd name="adj" fmla="val 7273"/>
            </a:avLst>
          </a:prstGeom>
          <a:solidFill>
            <a:srgbClr val="1B2B2E"/>
          </a:solidFill>
          <a:ln/>
        </p:spPr>
      </p:sp>
      <p:sp>
        <p:nvSpPr>
          <p:cNvPr id="7" name="Text 5"/>
          <p:cNvSpPr txBox="1"/>
          <p:nvPr/>
        </p:nvSpPr>
        <p:spPr>
          <a:xfrm rot="-120000">
            <a:off x="1051560" y="2697480"/>
            <a:ext cx="4297680" cy="548640"/>
          </a:xfrm>
          <a:prstGeom prst="rect">
            <a:avLst/>
          </a:prstGeom>
          <a:noFill/>
          <a:ln/>
        </p:spPr>
        <p:txBody>
          <a:bodyPr wrap="square" rtlCol="0" anchor="ctr"/>
          <a:lstStyle/>
          <a:p>
            <a:pPr indent="0" marL="0">
              <a:buNone/>
            </a:pPr>
            <a:r>
              <a:rPr lang="en-US" sz="1600" dirty="0">
                <a:solidFill>
                  <a:srgbClr val="02C39A"/>
                </a:solidFill>
                <a:latin typeface="Consolas" pitchFamily="34" charset="0"/>
                <a:ea typeface="Consolas" pitchFamily="34" charset="-122"/>
                <a:cs typeface="Consolas" pitchFamily="34" charset="-120"/>
              </a:rPr>
              <a:t>git commit -m "fix"</a:t>
            </a:r>
            <a:endParaRPr lang="en-US" sz="1600" dirty="0"/>
          </a:p>
        </p:txBody>
      </p:sp>
      <p:sp>
        <p:nvSpPr>
          <p:cNvPr id="8" name="Text 6"/>
          <p:cNvSpPr txBox="1"/>
          <p:nvPr/>
        </p:nvSpPr>
        <p:spPr>
          <a:xfrm rot="-120000">
            <a:off x="868680" y="3703320"/>
            <a:ext cx="4663440" cy="457200"/>
          </a:xfrm>
          <a:prstGeom prst="rect">
            <a:avLst/>
          </a:prstGeom>
          <a:noFill/>
          <a:ln/>
        </p:spPr>
        <p:txBody>
          <a:bodyPr wrap="square" rtlCol="0" anchor="ctr"/>
          <a:lstStyle/>
          <a:p>
            <a:pPr indent="0" marL="0">
              <a:buNone/>
            </a:pPr>
            <a:r>
              <a:rPr lang="en-US" sz="1500" b="1" dirty="0">
                <a:solidFill>
                  <a:srgbClr val="00A896"/>
                </a:solidFill>
                <a:latin typeface="Consolas" pitchFamily="34" charset="0"/>
                <a:ea typeface="Consolas" pitchFamily="34" charset="-122"/>
                <a:cs typeface="Consolas" pitchFamily="34" charset="-120"/>
              </a:rPr>
              <a:t>version: 1.0.0 -&gt; 1.0.1</a:t>
            </a:r>
            <a:endParaRPr lang="en-US" sz="1500" dirty="0"/>
          </a:p>
        </p:txBody>
      </p:sp>
      <p:sp>
        <p:nvSpPr>
          <p:cNvPr id="9" name="Text 7"/>
          <p:cNvSpPr txBox="1"/>
          <p:nvPr/>
        </p:nvSpPr>
        <p:spPr>
          <a:xfrm rot="-120000">
            <a:off x="868680" y="4297680"/>
            <a:ext cx="4663440" cy="1280160"/>
          </a:xfrm>
          <a:prstGeom prst="rect">
            <a:avLst/>
          </a:prstGeom>
          <a:noFill/>
          <a:ln/>
        </p:spPr>
        <p:txBody>
          <a:bodyPr wrap="square" rtlCol="0" anchor="ctr"/>
          <a:lstStyle/>
          <a:p>
            <a:pPr indent="0" marL="0">
              <a:buNone/>
            </a:pPr>
            <a:r>
              <a:rPr lang="en-US" sz="1500" i="1" dirty="0">
                <a:solidFill>
                  <a:srgbClr val="5C7A7D"/>
                </a:solidFill>
                <a:latin typeface="Calibri" pitchFamily="34" charset="0"/>
                <a:ea typeface="Calibri" pitchFamily="34" charset="-122"/>
                <a:cs typeface="Calibri" pitchFamily="34" charset="-120"/>
              </a:rPr>
              <a:t>"Solo fue un fix, no pasa nada"</a:t>
            </a:r>
            <a:endParaRPr lang="en-US" sz="1500" dirty="0"/>
          </a:p>
        </p:txBody>
      </p:sp>
      <p:sp>
        <p:nvSpPr>
          <p:cNvPr id="10" name="Shape 8"/>
          <p:cNvSpPr/>
          <p:nvPr/>
        </p:nvSpPr>
        <p:spPr>
          <a:xfrm rot="120000">
            <a:off x="6309360" y="1737360"/>
            <a:ext cx="5257800" cy="4206240"/>
          </a:xfrm>
          <a:prstGeom prst="roundRect">
            <a:avLst>
              <a:gd name="adj" fmla="val 3043"/>
            </a:avLst>
          </a:prstGeom>
          <a:solidFill>
            <a:srgbClr val="FDECEE"/>
          </a:solidFill>
          <a:ln w="19050">
            <a:solidFill>
              <a:srgbClr val="D7263D"/>
            </a:solidFill>
            <a:prstDash val="solid"/>
          </a:ln>
        </p:spPr>
      </p:sp>
      <p:sp>
        <p:nvSpPr>
          <p:cNvPr id="11" name="Text 9"/>
          <p:cNvSpPr txBox="1"/>
          <p:nvPr/>
        </p:nvSpPr>
        <p:spPr>
          <a:xfrm rot="120000">
            <a:off x="6583680" y="1965960"/>
            <a:ext cx="4663440" cy="365760"/>
          </a:xfrm>
          <a:prstGeom prst="rect">
            <a:avLst/>
          </a:prstGeom>
          <a:noFill/>
          <a:ln/>
        </p:spPr>
        <p:txBody>
          <a:bodyPr wrap="square" rtlCol="0" anchor="ctr"/>
          <a:lstStyle/>
          <a:p>
            <a:pPr indent="0" marL="0">
              <a:buNone/>
            </a:pPr>
            <a:r>
              <a:rPr lang="en-US" sz="1200" b="1" spc="150" kern="0" dirty="0">
                <a:solidFill>
                  <a:srgbClr val="D7263D"/>
                </a:solidFill>
                <a:latin typeface="Calibri" pitchFamily="34" charset="0"/>
                <a:ea typeface="Calibri" pitchFamily="34" charset="-122"/>
                <a:cs typeface="Calibri" pitchFamily="34" charset="-120"/>
              </a:rPr>
              <a:t>LO QUE EN VERDAD PASÓ</a:t>
            </a:r>
            <a:endParaRPr lang="en-US" sz="1200" dirty="0"/>
          </a:p>
        </p:txBody>
      </p:sp>
      <p:sp>
        <p:nvSpPr>
          <p:cNvPr id="12" name="Shape 10"/>
          <p:cNvSpPr/>
          <p:nvPr/>
        </p:nvSpPr>
        <p:spPr>
          <a:xfrm rot="120000">
            <a:off x="6583680" y="2468880"/>
            <a:ext cx="4709160" cy="1417320"/>
          </a:xfrm>
          <a:prstGeom prst="roundRect">
            <a:avLst>
              <a:gd name="adj" fmla="val 5161"/>
            </a:avLst>
          </a:prstGeom>
          <a:solidFill>
            <a:srgbClr val="1B2B2E"/>
          </a:solidFill>
          <a:ln/>
        </p:spPr>
      </p:sp>
      <p:sp>
        <p:nvSpPr>
          <p:cNvPr id="13" name="Text 11"/>
          <p:cNvSpPr txBox="1"/>
          <p:nvPr/>
        </p:nvSpPr>
        <p:spPr>
          <a:xfrm rot="120000">
            <a:off x="6766560" y="2606040"/>
            <a:ext cx="4343400" cy="1143000"/>
          </a:xfrm>
          <a:prstGeom prst="rect">
            <a:avLst/>
          </a:prstGeom>
          <a:noFill/>
          <a:ln/>
        </p:spPr>
        <p:txBody>
          <a:bodyPr wrap="square" rtlCol="0" anchor="ctr"/>
          <a:lstStyle/>
          <a:p>
            <a:pPr indent="0" marL="0">
              <a:buNone/>
            </a:pPr>
            <a:r>
              <a:rPr lang="en-US" sz="1250" dirty="0">
                <a:solidFill>
                  <a:srgbClr val="D7263D"/>
                </a:solidFill>
                <a:latin typeface="Consolas" pitchFamily="34" charset="0"/>
                <a:ea typeface="Consolas" pitchFamily="34" charset="-122"/>
                <a:cs typeface="Consolas" pitchFamily="34" charset="-120"/>
              </a:rPr>
              <a:t>- def predecir(datos, umbral=0.5):</a:t>
            </a:r>
            <a:endParaRPr lang="en-US" sz="1250" dirty="0"/>
          </a:p>
          <a:p>
            <a:pPr indent="0" marL="0">
              <a:buNone/>
            </a:pPr>
            <a:r>
              <a:rPr lang="en-US" sz="1250" dirty="0">
                <a:solidFill>
                  <a:srgbClr val="D7263D"/>
                </a:solidFill>
                <a:latin typeface="Consolas" pitchFamily="34" charset="0"/>
                <a:ea typeface="Consolas" pitchFamily="34" charset="-122"/>
                <a:cs typeface="Consolas" pitchFamily="34" charset="-120"/>
              </a:rPr>
              <a:t>+ def predecir(datos, umbral=0.8):</a:t>
            </a:r>
            <a:endParaRPr lang="en-US" sz="1250" dirty="0"/>
          </a:p>
        </p:txBody>
      </p:sp>
      <p:sp>
        <p:nvSpPr>
          <p:cNvPr id="14" name="Text 12"/>
          <p:cNvSpPr txBox="1"/>
          <p:nvPr/>
        </p:nvSpPr>
        <p:spPr>
          <a:xfrm rot="120000">
            <a:off x="6583680" y="4114800"/>
            <a:ext cx="4709160" cy="640080"/>
          </a:xfrm>
          <a:prstGeom prst="rect">
            <a:avLst/>
          </a:prstGeom>
          <a:noFill/>
          <a:ln/>
        </p:spPr>
        <p:txBody>
          <a:bodyPr wrap="square" rtlCol="0" anchor="ctr"/>
          <a:lstStyle/>
          <a:p>
            <a:pPr indent="0" marL="0">
              <a:buNone/>
            </a:pPr>
            <a:r>
              <a:rPr lang="en-US" sz="1450" b="1" dirty="0">
                <a:solidFill>
                  <a:srgbClr val="1B2B2E"/>
                </a:solidFill>
                <a:latin typeface="Calibri" pitchFamily="34" charset="0"/>
                <a:ea typeface="Calibri" pitchFamily="34" charset="-122"/>
                <a:cs typeface="Calibri" pitchFamily="34" charset="-120"/>
              </a:rPr>
              <a:t>Cambiaste el comportamiento por defecto de la función.</a:t>
            </a:r>
            <a:endParaRPr lang="en-US" sz="1450" dirty="0"/>
          </a:p>
        </p:txBody>
      </p:sp>
      <p:sp>
        <p:nvSpPr>
          <p:cNvPr id="15" name="Text 13"/>
          <p:cNvSpPr txBox="1"/>
          <p:nvPr/>
        </p:nvSpPr>
        <p:spPr>
          <a:xfrm rot="120000">
            <a:off x="6583680" y="4709160"/>
            <a:ext cx="4709160" cy="1097280"/>
          </a:xfrm>
          <a:prstGeom prst="rect">
            <a:avLst/>
          </a:prstGeom>
          <a:noFill/>
          <a:ln/>
        </p:spPr>
        <p:txBody>
          <a:bodyPr wrap="square" rtlCol="0" anchor="ctr"/>
          <a:lstStyle/>
          <a:p>
            <a:pPr indent="0" marL="0">
              <a:buNone/>
            </a:pPr>
            <a:r>
              <a:rPr lang="en-US" sz="1350" i="1" dirty="0">
                <a:solidFill>
                  <a:srgbClr val="5C7A7D"/>
                </a:solidFill>
                <a:latin typeface="Calibri" pitchFamily="34" charset="0"/>
                <a:ea typeface="Calibri" pitchFamily="34" charset="-122"/>
                <a:cs typeface="Calibri" pitchFamily="34" charset="-120"/>
              </a:rPr>
              <a:t>Todo el que la usaba sin pasar 'umbral' ahora obtiene resultados distintos. Eso rompe cosas.</a:t>
            </a:r>
            <a:endParaRPr lang="en-US" sz="1350" dirty="0"/>
          </a:p>
        </p:txBody>
      </p:sp>
      <p:sp>
        <p:nvSpPr>
          <p:cNvPr id="16" name="Text 14"/>
          <p:cNvSpPr txBox="1"/>
          <p:nvPr/>
        </p:nvSpPr>
        <p:spPr>
          <a:xfrm>
            <a:off x="594360" y="6172200"/>
            <a:ext cx="10972800" cy="457200"/>
          </a:xfrm>
          <a:prstGeom prst="rect">
            <a:avLst/>
          </a:prstGeom>
          <a:noFill/>
          <a:ln/>
        </p:spPr>
        <p:txBody>
          <a:bodyPr wrap="square" rtlCol="0" anchor="ctr"/>
          <a:lstStyle/>
          <a:p>
            <a:pPr algn="ctr" indent="0" marL="0">
              <a:buNone/>
            </a:pPr>
            <a:r>
              <a:rPr lang="en-US" sz="1400" i="1" dirty="0">
                <a:solidFill>
                  <a:srgbClr val="5C7A7D"/>
                </a:solidFill>
                <a:latin typeface="Calibri" pitchFamily="34" charset="0"/>
                <a:ea typeface="Calibri" pitchFamily="34" charset="-122"/>
                <a:cs typeface="Calibri" pitchFamily="34" charset="-120"/>
              </a:rPr>
              <a:t>El número de versión no es decorativo: es una promesa a quien usa tu código.</a:t>
            </a:r>
            <a:endParaRPr lang="en-US" sz="1400" dirty="0"/>
          </a:p>
        </p:txBody>
      </p:sp>
      <p:sp>
        <p:nvSpPr>
          <p:cNvPr id="17" name="Text 15"/>
          <p:cNvSpPr txBox="1"/>
          <p:nvPr/>
        </p:nvSpPr>
        <p:spPr>
          <a:xfrm>
            <a:off x="11155680" y="6473952"/>
            <a:ext cx="822960" cy="274320"/>
          </a:xfrm>
          <a:prstGeom prst="rect">
            <a:avLst/>
          </a:prstGeom>
          <a:noFill/>
          <a:ln/>
        </p:spPr>
        <p:txBody>
          <a:bodyPr wrap="square" rtlCol="0" anchor="ctr"/>
          <a:lstStyle/>
          <a:p>
            <a:pPr algn="r" indent="0" marL="0">
              <a:buNone/>
            </a:pPr>
            <a:r>
              <a:rPr lang="en-US" sz="1000" dirty="0">
                <a:solidFill>
                  <a:srgbClr val="5C7A7D"/>
                </a:solidFill>
                <a:latin typeface="Calibri" pitchFamily="34" charset="0"/>
                <a:ea typeface="Calibri" pitchFamily="34" charset="-122"/>
                <a:cs typeface="Calibri" pitchFamily="34" charset="-120"/>
              </a:rPr>
              <a:t>02 / 19</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8229600" cy="292608"/>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EL CONCEPTO</a:t>
            </a:r>
            <a:endParaRPr lang="en-US" sz="1200" dirty="0"/>
          </a:p>
        </p:txBody>
      </p:sp>
      <p:sp>
        <p:nvSpPr>
          <p:cNvPr id="3" name="Text 1"/>
          <p:cNvSpPr txBox="1"/>
          <p:nvPr/>
        </p:nvSpPr>
        <p:spPr>
          <a:xfrm>
            <a:off x="548640" y="411480"/>
            <a:ext cx="11064240" cy="822960"/>
          </a:xfrm>
          <a:prstGeom prst="rect">
            <a:avLst/>
          </a:prstGeom>
          <a:noFill/>
          <a:ln/>
        </p:spPr>
        <p:txBody>
          <a:bodyPr wrap="square" rtlCol="0" anchor="ctr"/>
          <a:lstStyle/>
          <a:p>
            <a:pPr algn="l" indent="0" marL="0">
              <a:buNone/>
            </a:pPr>
            <a:r>
              <a:rPr lang="en-US" sz="3200" b="1" dirty="0">
                <a:solidFill>
                  <a:srgbClr val="1B2B2E"/>
                </a:solidFill>
                <a:latin typeface="Cambria" pitchFamily="34" charset="0"/>
                <a:ea typeface="Cambria" pitchFamily="34" charset="-122"/>
                <a:cs typeface="Cambria" pitchFamily="34" charset="-120"/>
              </a:rPr>
              <a:t>Tres números, una promesa: MAJOR.MINOR.PATCH</a:t>
            </a:r>
            <a:endParaRPr lang="en-US" sz="3200" dirty="0"/>
          </a:p>
        </p:txBody>
      </p:sp>
      <p:sp>
        <p:nvSpPr>
          <p:cNvPr id="4" name="Text 2"/>
          <p:cNvSpPr txBox="1"/>
          <p:nvPr/>
        </p:nvSpPr>
        <p:spPr>
          <a:xfrm>
            <a:off x="548640" y="1417320"/>
            <a:ext cx="10789920" cy="731520"/>
          </a:xfrm>
          <a:prstGeom prst="rect">
            <a:avLst/>
          </a:prstGeom>
          <a:noFill/>
          <a:ln/>
        </p:spPr>
        <p:txBody>
          <a:bodyPr wrap="square" rtlCol="0" anchor="ctr"/>
          <a:lstStyle/>
          <a:p>
            <a:pPr indent="0" marL="0">
              <a:buNone/>
            </a:pPr>
            <a:r>
              <a:rPr lang="en-US" sz="1550" dirty="0">
                <a:solidFill>
                  <a:srgbClr val="5C7A7D"/>
                </a:solidFill>
                <a:latin typeface="Calibri" pitchFamily="34" charset="0"/>
                <a:ea typeface="Calibri" pitchFamily="34" charset="-122"/>
                <a:cs typeface="Calibri" pitchFamily="34" charset="-120"/>
              </a:rPr>
              <a:t>Semantic Versioning (semver) es una convención: el número de versión le dice a quien usa tu librería, sin leer una línea de código, qué tan peligroso es actualizar.</a:t>
            </a:r>
            <a:endParaRPr lang="en-US" sz="1550" dirty="0"/>
          </a:p>
        </p:txBody>
      </p:sp>
      <p:sp>
        <p:nvSpPr>
          <p:cNvPr id="5" name="Shape 3"/>
          <p:cNvSpPr/>
          <p:nvPr/>
        </p:nvSpPr>
        <p:spPr>
          <a:xfrm>
            <a:off x="548640" y="2423160"/>
            <a:ext cx="3520440" cy="3566160"/>
          </a:xfrm>
          <a:prstGeom prst="roundRect">
            <a:avLst>
              <a:gd name="adj" fmla="val 3636"/>
            </a:avLst>
          </a:prstGeom>
          <a:solidFill>
            <a:srgbClr val="0B3D42"/>
          </a:solidFill>
          <a:ln/>
        </p:spPr>
      </p:sp>
      <p:sp>
        <p:nvSpPr>
          <p:cNvPr id="6" name="Text 4"/>
          <p:cNvSpPr txBox="1"/>
          <p:nvPr/>
        </p:nvSpPr>
        <p:spPr>
          <a:xfrm>
            <a:off x="731520" y="2606040"/>
            <a:ext cx="3154680" cy="1188720"/>
          </a:xfrm>
          <a:prstGeom prst="rect">
            <a:avLst/>
          </a:prstGeom>
          <a:noFill/>
          <a:ln/>
        </p:spPr>
        <p:txBody>
          <a:bodyPr wrap="square" rtlCol="0" anchor="ctr"/>
          <a:lstStyle/>
          <a:p>
            <a:pPr algn="ctr" indent="0" marL="0">
              <a:buNone/>
            </a:pPr>
            <a:r>
              <a:rPr lang="en-US" sz="6800" b="1" dirty="0">
                <a:solidFill>
                  <a:srgbClr val="D7263D"/>
                </a:solidFill>
                <a:latin typeface="Cambria" pitchFamily="34" charset="0"/>
                <a:ea typeface="Cambria" pitchFamily="34" charset="-122"/>
                <a:cs typeface="Cambria" pitchFamily="34" charset="-120"/>
              </a:rPr>
              <a:t>2</a:t>
            </a:r>
            <a:endParaRPr lang="en-US" sz="6800" dirty="0"/>
          </a:p>
        </p:txBody>
      </p:sp>
      <p:sp>
        <p:nvSpPr>
          <p:cNvPr id="7" name="Text 5"/>
          <p:cNvSpPr txBox="1"/>
          <p:nvPr/>
        </p:nvSpPr>
        <p:spPr>
          <a:xfrm>
            <a:off x="731520" y="3794760"/>
            <a:ext cx="3154680" cy="457200"/>
          </a:xfrm>
          <a:prstGeom prst="rect">
            <a:avLst/>
          </a:prstGeom>
          <a:noFill/>
          <a:ln/>
        </p:spPr>
        <p:txBody>
          <a:bodyPr wrap="square" rtlCol="0" anchor="ctr"/>
          <a:lstStyle/>
          <a:p>
            <a:pPr algn="ctr" indent="0" marL="0">
              <a:buNone/>
            </a:pPr>
            <a:r>
              <a:rPr lang="en-US" sz="1800" b="1" spc="200" kern="0" dirty="0">
                <a:solidFill>
                  <a:srgbClr val="FFFFFF"/>
                </a:solidFill>
                <a:latin typeface="Calibri" pitchFamily="34" charset="0"/>
                <a:ea typeface="Calibri" pitchFamily="34" charset="-122"/>
                <a:cs typeface="Calibri" pitchFamily="34" charset="-120"/>
              </a:rPr>
              <a:t>MAJOR</a:t>
            </a:r>
            <a:endParaRPr lang="en-US" sz="1800" dirty="0"/>
          </a:p>
        </p:txBody>
      </p:sp>
      <p:sp>
        <p:nvSpPr>
          <p:cNvPr id="8" name="Text 6"/>
          <p:cNvSpPr txBox="1"/>
          <p:nvPr/>
        </p:nvSpPr>
        <p:spPr>
          <a:xfrm>
            <a:off x="868680" y="4343400"/>
            <a:ext cx="2880360" cy="1508760"/>
          </a:xfrm>
          <a:prstGeom prst="rect">
            <a:avLst/>
          </a:prstGeom>
          <a:noFill/>
          <a:ln/>
        </p:spPr>
        <p:txBody>
          <a:bodyPr wrap="square" rtlCol="0" anchor="ctr"/>
          <a:lstStyle/>
          <a:p>
            <a:pPr algn="ctr" indent="0" marL="0">
              <a:buNone/>
            </a:pPr>
            <a:r>
              <a:rPr lang="en-US" sz="1300" dirty="0">
                <a:solidFill>
                  <a:srgbClr val="F4FBFA"/>
                </a:solidFill>
                <a:latin typeface="Calibri" pitchFamily="34" charset="0"/>
                <a:ea typeface="Calibri" pitchFamily="34" charset="-122"/>
                <a:cs typeface="Calibri" pitchFamily="34" charset="-120"/>
              </a:rPr>
              <a:t>Cambios que rompen compatibilidad. Actualizar puede tronar tu código.</a:t>
            </a:r>
            <a:endParaRPr lang="en-US" sz="1300" dirty="0"/>
          </a:p>
        </p:txBody>
      </p:sp>
      <p:sp>
        <p:nvSpPr>
          <p:cNvPr id="9" name="Shape 7"/>
          <p:cNvSpPr/>
          <p:nvPr/>
        </p:nvSpPr>
        <p:spPr>
          <a:xfrm>
            <a:off x="4297680" y="2423160"/>
            <a:ext cx="3520440" cy="3566160"/>
          </a:xfrm>
          <a:prstGeom prst="roundRect">
            <a:avLst>
              <a:gd name="adj" fmla="val 3636"/>
            </a:avLst>
          </a:prstGeom>
          <a:solidFill>
            <a:srgbClr val="0B3D42"/>
          </a:solidFill>
          <a:ln/>
        </p:spPr>
      </p:sp>
      <p:sp>
        <p:nvSpPr>
          <p:cNvPr id="10" name="Text 8"/>
          <p:cNvSpPr txBox="1"/>
          <p:nvPr/>
        </p:nvSpPr>
        <p:spPr>
          <a:xfrm>
            <a:off x="4480560" y="2606040"/>
            <a:ext cx="3154680" cy="1188720"/>
          </a:xfrm>
          <a:prstGeom prst="rect">
            <a:avLst/>
          </a:prstGeom>
          <a:noFill/>
          <a:ln/>
        </p:spPr>
        <p:txBody>
          <a:bodyPr wrap="square" rtlCol="0" anchor="ctr"/>
          <a:lstStyle/>
          <a:p>
            <a:pPr algn="ctr" indent="0" marL="0">
              <a:buNone/>
            </a:pPr>
            <a:r>
              <a:rPr lang="en-US" sz="6800" b="1" dirty="0">
                <a:solidFill>
                  <a:srgbClr val="028090"/>
                </a:solidFill>
                <a:latin typeface="Cambria" pitchFamily="34" charset="0"/>
                <a:ea typeface="Cambria" pitchFamily="34" charset="-122"/>
                <a:cs typeface="Cambria" pitchFamily="34" charset="-120"/>
              </a:rPr>
              <a:t>5</a:t>
            </a:r>
            <a:endParaRPr lang="en-US" sz="6800" dirty="0"/>
          </a:p>
        </p:txBody>
      </p:sp>
      <p:sp>
        <p:nvSpPr>
          <p:cNvPr id="11" name="Text 9"/>
          <p:cNvSpPr txBox="1"/>
          <p:nvPr/>
        </p:nvSpPr>
        <p:spPr>
          <a:xfrm>
            <a:off x="4480560" y="3794760"/>
            <a:ext cx="3154680" cy="457200"/>
          </a:xfrm>
          <a:prstGeom prst="rect">
            <a:avLst/>
          </a:prstGeom>
          <a:noFill/>
          <a:ln/>
        </p:spPr>
        <p:txBody>
          <a:bodyPr wrap="square" rtlCol="0" anchor="ctr"/>
          <a:lstStyle/>
          <a:p>
            <a:pPr algn="ctr" indent="0" marL="0">
              <a:buNone/>
            </a:pPr>
            <a:r>
              <a:rPr lang="en-US" sz="1800" b="1" spc="200" kern="0" dirty="0">
                <a:solidFill>
                  <a:srgbClr val="FFFFFF"/>
                </a:solidFill>
                <a:latin typeface="Calibri" pitchFamily="34" charset="0"/>
                <a:ea typeface="Calibri" pitchFamily="34" charset="-122"/>
                <a:cs typeface="Calibri" pitchFamily="34" charset="-120"/>
              </a:rPr>
              <a:t>MINOR</a:t>
            </a:r>
            <a:endParaRPr lang="en-US" sz="1800" dirty="0"/>
          </a:p>
        </p:txBody>
      </p:sp>
      <p:sp>
        <p:nvSpPr>
          <p:cNvPr id="12" name="Text 10"/>
          <p:cNvSpPr txBox="1"/>
          <p:nvPr/>
        </p:nvSpPr>
        <p:spPr>
          <a:xfrm>
            <a:off x="4617720" y="4343400"/>
            <a:ext cx="2880360" cy="1508760"/>
          </a:xfrm>
          <a:prstGeom prst="rect">
            <a:avLst/>
          </a:prstGeom>
          <a:noFill/>
          <a:ln/>
        </p:spPr>
        <p:txBody>
          <a:bodyPr wrap="square" rtlCol="0" anchor="ctr"/>
          <a:lstStyle/>
          <a:p>
            <a:pPr algn="ctr" indent="0" marL="0">
              <a:buNone/>
            </a:pPr>
            <a:r>
              <a:rPr lang="en-US" sz="1300" dirty="0">
                <a:solidFill>
                  <a:srgbClr val="F4FBFA"/>
                </a:solidFill>
                <a:latin typeface="Calibri" pitchFamily="34" charset="0"/>
                <a:ea typeface="Calibri" pitchFamily="34" charset="-122"/>
                <a:cs typeface="Calibri" pitchFamily="34" charset="-120"/>
              </a:rPr>
              <a:t>Funcionalidad nueva, compatible con lo anterior. Debería ser seguro actualizar.</a:t>
            </a:r>
            <a:endParaRPr lang="en-US" sz="1300" dirty="0"/>
          </a:p>
        </p:txBody>
      </p:sp>
      <p:sp>
        <p:nvSpPr>
          <p:cNvPr id="13" name="Shape 11"/>
          <p:cNvSpPr/>
          <p:nvPr/>
        </p:nvSpPr>
        <p:spPr>
          <a:xfrm>
            <a:off x="8046720" y="2423160"/>
            <a:ext cx="3520440" cy="3566160"/>
          </a:xfrm>
          <a:prstGeom prst="roundRect">
            <a:avLst>
              <a:gd name="adj" fmla="val 3636"/>
            </a:avLst>
          </a:prstGeom>
          <a:solidFill>
            <a:srgbClr val="0B3D42"/>
          </a:solidFill>
          <a:ln/>
        </p:spPr>
      </p:sp>
      <p:sp>
        <p:nvSpPr>
          <p:cNvPr id="14" name="Text 12"/>
          <p:cNvSpPr txBox="1"/>
          <p:nvPr/>
        </p:nvSpPr>
        <p:spPr>
          <a:xfrm>
            <a:off x="8229600" y="2606040"/>
            <a:ext cx="3154680" cy="1188720"/>
          </a:xfrm>
          <a:prstGeom prst="rect">
            <a:avLst/>
          </a:prstGeom>
          <a:noFill/>
          <a:ln/>
        </p:spPr>
        <p:txBody>
          <a:bodyPr wrap="square" rtlCol="0" anchor="ctr"/>
          <a:lstStyle/>
          <a:p>
            <a:pPr algn="ctr" indent="0" marL="0">
              <a:buNone/>
            </a:pPr>
            <a:r>
              <a:rPr lang="en-US" sz="6800" b="1" dirty="0">
                <a:solidFill>
                  <a:srgbClr val="02C39A"/>
                </a:solidFill>
                <a:latin typeface="Cambria" pitchFamily="34" charset="0"/>
                <a:ea typeface="Cambria" pitchFamily="34" charset="-122"/>
                <a:cs typeface="Cambria" pitchFamily="34" charset="-120"/>
              </a:rPr>
              <a:t>3</a:t>
            </a:r>
            <a:endParaRPr lang="en-US" sz="6800" dirty="0"/>
          </a:p>
        </p:txBody>
      </p:sp>
      <p:sp>
        <p:nvSpPr>
          <p:cNvPr id="15" name="Text 13"/>
          <p:cNvSpPr txBox="1"/>
          <p:nvPr/>
        </p:nvSpPr>
        <p:spPr>
          <a:xfrm>
            <a:off x="8229600" y="3794760"/>
            <a:ext cx="3154680" cy="457200"/>
          </a:xfrm>
          <a:prstGeom prst="rect">
            <a:avLst/>
          </a:prstGeom>
          <a:noFill/>
          <a:ln/>
        </p:spPr>
        <p:txBody>
          <a:bodyPr wrap="square" rtlCol="0" anchor="ctr"/>
          <a:lstStyle/>
          <a:p>
            <a:pPr algn="ctr" indent="0" marL="0">
              <a:buNone/>
            </a:pPr>
            <a:r>
              <a:rPr lang="en-US" sz="1800" b="1" spc="200" kern="0" dirty="0">
                <a:solidFill>
                  <a:srgbClr val="FFFFFF"/>
                </a:solidFill>
                <a:latin typeface="Calibri" pitchFamily="34" charset="0"/>
                <a:ea typeface="Calibri" pitchFamily="34" charset="-122"/>
                <a:cs typeface="Calibri" pitchFamily="34" charset="-120"/>
              </a:rPr>
              <a:t>PATCH</a:t>
            </a:r>
            <a:endParaRPr lang="en-US" sz="1800" dirty="0"/>
          </a:p>
        </p:txBody>
      </p:sp>
      <p:sp>
        <p:nvSpPr>
          <p:cNvPr id="16" name="Text 14"/>
          <p:cNvSpPr txBox="1"/>
          <p:nvPr/>
        </p:nvSpPr>
        <p:spPr>
          <a:xfrm>
            <a:off x="8366760" y="4343400"/>
            <a:ext cx="2880360" cy="1508760"/>
          </a:xfrm>
          <a:prstGeom prst="rect">
            <a:avLst/>
          </a:prstGeom>
          <a:noFill/>
          <a:ln/>
        </p:spPr>
        <p:txBody>
          <a:bodyPr wrap="square" rtlCol="0" anchor="ctr"/>
          <a:lstStyle/>
          <a:p>
            <a:pPr algn="ctr" indent="0" marL="0">
              <a:buNone/>
            </a:pPr>
            <a:r>
              <a:rPr lang="en-US" sz="1300" dirty="0">
                <a:solidFill>
                  <a:srgbClr val="F4FBFA"/>
                </a:solidFill>
                <a:latin typeface="Calibri" pitchFamily="34" charset="0"/>
                <a:ea typeface="Calibri" pitchFamily="34" charset="-122"/>
                <a:cs typeface="Calibri" pitchFamily="34" charset="-120"/>
              </a:rPr>
              <a:t>Correcciones de bugs, sin cambiar la interfaz. Siempre seguro actualizar.</a:t>
            </a:r>
            <a:endParaRPr lang="en-US" sz="1300" dirty="0"/>
          </a:p>
        </p:txBody>
      </p:sp>
      <p:sp>
        <p:nvSpPr>
          <p:cNvPr id="17" name="Text 15"/>
          <p:cNvSpPr txBox="1"/>
          <p:nvPr/>
        </p:nvSpPr>
        <p:spPr>
          <a:xfrm>
            <a:off x="548640" y="6172200"/>
            <a:ext cx="10972800" cy="457200"/>
          </a:xfrm>
          <a:prstGeom prst="rect">
            <a:avLst/>
          </a:prstGeom>
          <a:noFill/>
          <a:ln/>
        </p:spPr>
        <p:txBody>
          <a:bodyPr wrap="square" rtlCol="0" anchor="ctr"/>
          <a:lstStyle/>
          <a:p>
            <a:pPr indent="0" marL="0">
              <a:buNone/>
            </a:pPr>
            <a:r>
              <a:rPr lang="en-US" sz="1300" i="1" dirty="0">
                <a:solidFill>
                  <a:srgbClr val="5C7A7D"/>
                </a:solidFill>
                <a:latin typeface="Calibri" pitchFamily="34" charset="0"/>
                <a:ea typeface="Calibri" pitchFamily="34" charset="-122"/>
                <a:cs typeface="Calibri" pitchFamily="34" charset="-120"/>
              </a:rPr>
              <a:t>Ejemplo real: pandas pasó de 1.5.3 a 2.0.0 (MAJOR) cuando cambió el manejo interno de índices y rompió código existente.</a:t>
            </a:r>
            <a:endParaRPr lang="en-US" sz="1300" dirty="0"/>
          </a:p>
        </p:txBody>
      </p:sp>
      <p:sp>
        <p:nvSpPr>
          <p:cNvPr id="18" name="Text 16"/>
          <p:cNvSpPr txBox="1"/>
          <p:nvPr/>
        </p:nvSpPr>
        <p:spPr>
          <a:xfrm>
            <a:off x="11155680" y="6473952"/>
            <a:ext cx="822960" cy="274320"/>
          </a:xfrm>
          <a:prstGeom prst="rect">
            <a:avLst/>
          </a:prstGeom>
          <a:noFill/>
          <a:ln/>
        </p:spPr>
        <p:txBody>
          <a:bodyPr wrap="square" rtlCol="0" anchor="ctr"/>
          <a:lstStyle/>
          <a:p>
            <a:pPr algn="r" indent="0" marL="0">
              <a:buNone/>
            </a:pPr>
            <a:r>
              <a:rPr lang="en-US" sz="1000" dirty="0">
                <a:solidFill>
                  <a:srgbClr val="5C7A7D"/>
                </a:solidFill>
                <a:latin typeface="Calibri" pitchFamily="34" charset="0"/>
                <a:ea typeface="Calibri" pitchFamily="34" charset="-122"/>
                <a:cs typeface="Calibri" pitchFamily="34" charset="-120"/>
              </a:rPr>
              <a:t>03 / 19</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8229600" cy="292608"/>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LAS REGLAS DE ORO</a:t>
            </a:r>
            <a:endParaRPr lang="en-US" sz="1200" dirty="0"/>
          </a:p>
        </p:txBody>
      </p:sp>
      <p:sp>
        <p:nvSpPr>
          <p:cNvPr id="3" name="Text 1"/>
          <p:cNvSpPr txBox="1"/>
          <p:nvPr/>
        </p:nvSpPr>
        <p:spPr>
          <a:xfrm>
            <a:off x="548640" y="411480"/>
            <a:ext cx="11064240" cy="822960"/>
          </a:xfrm>
          <a:prstGeom prst="rect">
            <a:avLst/>
          </a:prstGeom>
          <a:noFill/>
          <a:ln/>
        </p:spPr>
        <p:txBody>
          <a:bodyPr wrap="square" rtlCol="0" anchor="ctr"/>
          <a:lstStyle/>
          <a:p>
            <a:pPr algn="l" indent="0" marL="0">
              <a:buNone/>
            </a:pPr>
            <a:r>
              <a:rPr lang="en-US" sz="3200" b="1" dirty="0">
                <a:solidFill>
                  <a:srgbClr val="1B2B2E"/>
                </a:solidFill>
                <a:latin typeface="Cambria" pitchFamily="34" charset="0"/>
                <a:ea typeface="Cambria" pitchFamily="34" charset="-122"/>
                <a:cs typeface="Cambria" pitchFamily="34" charset="-120"/>
              </a:rPr>
              <a:t>Una sola pregunta decide todo</a:t>
            </a:r>
            <a:endParaRPr lang="en-US" sz="3200" dirty="0"/>
          </a:p>
        </p:txBody>
      </p:sp>
      <p:sp>
        <p:nvSpPr>
          <p:cNvPr id="4" name="Text 2"/>
          <p:cNvSpPr txBox="1"/>
          <p:nvPr/>
        </p:nvSpPr>
        <p:spPr>
          <a:xfrm>
            <a:off x="548640" y="1417320"/>
            <a:ext cx="10789920" cy="548640"/>
          </a:xfrm>
          <a:prstGeom prst="rect">
            <a:avLst/>
          </a:prstGeom>
          <a:noFill/>
          <a:ln/>
        </p:spPr>
        <p:txBody>
          <a:bodyPr wrap="square" rtlCol="0" anchor="ctr"/>
          <a:lstStyle/>
          <a:p>
            <a:pPr indent="0" marL="0">
              <a:buNone/>
            </a:pPr>
            <a:r>
              <a:rPr lang="en-US" sz="1700" b="1" i="1" dirty="0">
                <a:solidFill>
                  <a:srgbClr val="1B2B2E"/>
                </a:solidFill>
                <a:latin typeface="Calibri" pitchFamily="34" charset="0"/>
                <a:ea typeface="Calibri" pitchFamily="34" charset="-122"/>
                <a:cs typeface="Calibri" pitchFamily="34" charset="-120"/>
              </a:rPr>
              <a:t>¿Alguien que use tu código tal como está hoy, se rompe si actualiza?</a:t>
            </a:r>
            <a:endParaRPr lang="en-US" sz="1700" dirty="0"/>
          </a:p>
        </p:txBody>
      </p:sp>
      <p:sp>
        <p:nvSpPr>
          <p:cNvPr id="5" name="Shape 3"/>
          <p:cNvSpPr/>
          <p:nvPr/>
        </p:nvSpPr>
        <p:spPr>
          <a:xfrm>
            <a:off x="548640" y="2148840"/>
            <a:ext cx="7772400" cy="1325880"/>
          </a:xfrm>
          <a:prstGeom prst="roundRect">
            <a:avLst>
              <a:gd name="adj" fmla="val 8276"/>
            </a:avLst>
          </a:prstGeom>
          <a:solidFill>
            <a:srgbClr val="EFF7F6"/>
          </a:solidFill>
          <a:ln w="22225">
            <a:solidFill>
              <a:srgbClr val="02C39A"/>
            </a:solidFill>
            <a:prstDash val="solid"/>
          </a:ln>
        </p:spPr>
      </p:sp>
      <p:sp>
        <p:nvSpPr>
          <p:cNvPr id="6" name="Shape 4"/>
          <p:cNvSpPr/>
          <p:nvPr/>
        </p:nvSpPr>
        <p:spPr>
          <a:xfrm>
            <a:off x="777240" y="2491740"/>
            <a:ext cx="640080" cy="640080"/>
          </a:xfrm>
          <a:prstGeom prst="ellipse">
            <a:avLst/>
          </a:prstGeom>
          <a:solidFill>
            <a:srgbClr val="02C39A"/>
          </a:solidFill>
          <a:ln/>
        </p:spPr>
      </p:sp>
      <p:sp>
        <p:nvSpPr>
          <p:cNvPr id="7" name="Text 5"/>
          <p:cNvSpPr txBox="1"/>
          <p:nvPr/>
        </p:nvSpPr>
        <p:spPr>
          <a:xfrm>
            <a:off x="777240" y="2491740"/>
            <a:ext cx="640080" cy="64008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6"/>
          <p:cNvSpPr txBox="1"/>
          <p:nvPr/>
        </p:nvSpPr>
        <p:spPr>
          <a:xfrm>
            <a:off x="1600200" y="2286000"/>
            <a:ext cx="4480560" cy="502920"/>
          </a:xfrm>
          <a:prstGeom prst="rect">
            <a:avLst/>
          </a:prstGeom>
          <a:noFill/>
          <a:ln/>
        </p:spPr>
        <p:txBody>
          <a:bodyPr wrap="square" rtlCol="0" anchor="ctr"/>
          <a:lstStyle/>
          <a:p>
            <a:pPr indent="0" marL="0">
              <a:buNone/>
            </a:pPr>
            <a:r>
              <a:rPr lang="en-US" sz="1600" b="1" dirty="0">
                <a:solidFill>
                  <a:srgbClr val="1B2B2E"/>
                </a:solidFill>
                <a:latin typeface="Calibri" pitchFamily="34" charset="0"/>
                <a:ea typeface="Calibri" pitchFamily="34" charset="-122"/>
                <a:cs typeface="Calibri" pitchFamily="34" charset="-120"/>
              </a:rPr>
              <a:t>NO cambia nada observable</a:t>
            </a:r>
            <a:endParaRPr lang="en-US" sz="1600" dirty="0"/>
          </a:p>
        </p:txBody>
      </p:sp>
      <p:sp>
        <p:nvSpPr>
          <p:cNvPr id="9" name="Text 7"/>
          <p:cNvSpPr txBox="1"/>
          <p:nvPr/>
        </p:nvSpPr>
        <p:spPr>
          <a:xfrm>
            <a:off x="1600200" y="2770632"/>
            <a:ext cx="4480560" cy="594360"/>
          </a:xfrm>
          <a:prstGeom prst="rect">
            <a:avLst/>
          </a:prstGeom>
          <a:noFill/>
          <a:ln/>
        </p:spPr>
        <p:txBody>
          <a:bodyPr wrap="square" rtlCol="0" anchor="ctr"/>
          <a:lstStyle/>
          <a:p>
            <a:pPr indent="0" marL="0">
              <a:buNone/>
            </a:pPr>
            <a:r>
              <a:rPr lang="en-US" sz="1250" i="1" dirty="0">
                <a:solidFill>
                  <a:srgbClr val="5C7A7D"/>
                </a:solidFill>
                <a:latin typeface="Calibri" pitchFamily="34" charset="0"/>
                <a:ea typeface="Calibri" pitchFamily="34" charset="-122"/>
                <a:cs typeface="Calibri" pitchFamily="34" charset="-120"/>
              </a:rPr>
              <a:t>Corregiste un bug, mejoraste performance interna</a:t>
            </a:r>
            <a:endParaRPr lang="en-US" sz="1250" dirty="0"/>
          </a:p>
        </p:txBody>
      </p:sp>
      <p:sp>
        <p:nvSpPr>
          <p:cNvPr id="10" name="Shape 8"/>
          <p:cNvSpPr/>
          <p:nvPr/>
        </p:nvSpPr>
        <p:spPr>
          <a:xfrm>
            <a:off x="6355080" y="2464308"/>
            <a:ext cx="1234440" cy="694944"/>
          </a:xfrm>
          <a:prstGeom prst="roundRect">
            <a:avLst>
              <a:gd name="adj" fmla="val 10526"/>
            </a:avLst>
          </a:prstGeom>
          <a:solidFill>
            <a:srgbClr val="02C39A"/>
          </a:solidFill>
          <a:ln/>
        </p:spPr>
      </p:sp>
      <p:sp>
        <p:nvSpPr>
          <p:cNvPr id="11" name="Text 9"/>
          <p:cNvSpPr txBox="1"/>
          <p:nvPr/>
        </p:nvSpPr>
        <p:spPr>
          <a:xfrm>
            <a:off x="6355080" y="2464308"/>
            <a:ext cx="1234440" cy="694944"/>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PATCH</a:t>
            </a:r>
            <a:endParaRPr lang="en-US" sz="1500" dirty="0"/>
          </a:p>
        </p:txBody>
      </p:sp>
      <p:sp>
        <p:nvSpPr>
          <p:cNvPr id="12" name="Shape 10"/>
          <p:cNvSpPr/>
          <p:nvPr/>
        </p:nvSpPr>
        <p:spPr>
          <a:xfrm>
            <a:off x="548640" y="3611880"/>
            <a:ext cx="8961120" cy="1325880"/>
          </a:xfrm>
          <a:prstGeom prst="roundRect">
            <a:avLst>
              <a:gd name="adj" fmla="val 8276"/>
            </a:avLst>
          </a:prstGeom>
          <a:solidFill>
            <a:srgbClr val="EFF7F6"/>
          </a:solidFill>
          <a:ln w="22225">
            <a:solidFill>
              <a:srgbClr val="028090"/>
            </a:solidFill>
            <a:prstDash val="solid"/>
          </a:ln>
        </p:spPr>
      </p:sp>
      <p:sp>
        <p:nvSpPr>
          <p:cNvPr id="13" name="Shape 11"/>
          <p:cNvSpPr/>
          <p:nvPr/>
        </p:nvSpPr>
        <p:spPr>
          <a:xfrm>
            <a:off x="777240" y="3954780"/>
            <a:ext cx="640080" cy="640080"/>
          </a:xfrm>
          <a:prstGeom prst="ellipse">
            <a:avLst/>
          </a:prstGeom>
          <a:solidFill>
            <a:srgbClr val="028090"/>
          </a:solidFill>
          <a:ln/>
        </p:spPr>
      </p:sp>
      <p:sp>
        <p:nvSpPr>
          <p:cNvPr id="14" name="Text 12"/>
          <p:cNvSpPr txBox="1"/>
          <p:nvPr/>
        </p:nvSpPr>
        <p:spPr>
          <a:xfrm>
            <a:off x="777240" y="3954780"/>
            <a:ext cx="640080" cy="64008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5" name="Text 13"/>
          <p:cNvSpPr txBox="1"/>
          <p:nvPr/>
        </p:nvSpPr>
        <p:spPr>
          <a:xfrm>
            <a:off x="1600200" y="3749040"/>
            <a:ext cx="5669280" cy="502920"/>
          </a:xfrm>
          <a:prstGeom prst="rect">
            <a:avLst/>
          </a:prstGeom>
          <a:noFill/>
          <a:ln/>
        </p:spPr>
        <p:txBody>
          <a:bodyPr wrap="square" rtlCol="0" anchor="ctr"/>
          <a:lstStyle/>
          <a:p>
            <a:pPr indent="0" marL="0">
              <a:buNone/>
            </a:pPr>
            <a:r>
              <a:rPr lang="en-US" sz="1600" b="1" dirty="0">
                <a:solidFill>
                  <a:srgbClr val="1B2B2E"/>
                </a:solidFill>
                <a:latin typeface="Calibri" pitchFamily="34" charset="0"/>
                <a:ea typeface="Calibri" pitchFamily="34" charset="-122"/>
                <a:cs typeface="Calibri" pitchFamily="34" charset="-120"/>
              </a:rPr>
              <a:t>SÍ agrega algo nuevo, sin tocar lo viejo</a:t>
            </a:r>
            <a:endParaRPr lang="en-US" sz="1600" dirty="0"/>
          </a:p>
        </p:txBody>
      </p:sp>
      <p:sp>
        <p:nvSpPr>
          <p:cNvPr id="16" name="Text 14"/>
          <p:cNvSpPr txBox="1"/>
          <p:nvPr/>
        </p:nvSpPr>
        <p:spPr>
          <a:xfrm>
            <a:off x="1600200" y="4233672"/>
            <a:ext cx="5669280" cy="594360"/>
          </a:xfrm>
          <a:prstGeom prst="rect">
            <a:avLst/>
          </a:prstGeom>
          <a:noFill/>
          <a:ln/>
        </p:spPr>
        <p:txBody>
          <a:bodyPr wrap="square" rtlCol="0" anchor="ctr"/>
          <a:lstStyle/>
          <a:p>
            <a:pPr indent="0" marL="0">
              <a:buNone/>
            </a:pPr>
            <a:r>
              <a:rPr lang="en-US" sz="1250" i="1" dirty="0">
                <a:solidFill>
                  <a:srgbClr val="5C7A7D"/>
                </a:solidFill>
                <a:latin typeface="Calibri" pitchFamily="34" charset="0"/>
                <a:ea typeface="Calibri" pitchFamily="34" charset="-122"/>
                <a:cs typeface="Calibri" pitchFamily="34" charset="-120"/>
              </a:rPr>
              <a:t>Nuevo parámetro opcional, nueva función, nuevo endpoint</a:t>
            </a:r>
            <a:endParaRPr lang="en-US" sz="1250" dirty="0"/>
          </a:p>
        </p:txBody>
      </p:sp>
      <p:sp>
        <p:nvSpPr>
          <p:cNvPr id="17" name="Shape 15"/>
          <p:cNvSpPr/>
          <p:nvPr/>
        </p:nvSpPr>
        <p:spPr>
          <a:xfrm>
            <a:off x="7543800" y="3927348"/>
            <a:ext cx="1234440" cy="694944"/>
          </a:xfrm>
          <a:prstGeom prst="roundRect">
            <a:avLst>
              <a:gd name="adj" fmla="val 10526"/>
            </a:avLst>
          </a:prstGeom>
          <a:solidFill>
            <a:srgbClr val="028090"/>
          </a:solidFill>
          <a:ln/>
        </p:spPr>
      </p:sp>
      <p:sp>
        <p:nvSpPr>
          <p:cNvPr id="18" name="Text 16"/>
          <p:cNvSpPr txBox="1"/>
          <p:nvPr/>
        </p:nvSpPr>
        <p:spPr>
          <a:xfrm>
            <a:off x="7543800" y="3927348"/>
            <a:ext cx="1234440" cy="694944"/>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MINOR</a:t>
            </a:r>
            <a:endParaRPr lang="en-US" sz="1500" dirty="0"/>
          </a:p>
        </p:txBody>
      </p:sp>
      <p:sp>
        <p:nvSpPr>
          <p:cNvPr id="19" name="Shape 17"/>
          <p:cNvSpPr/>
          <p:nvPr/>
        </p:nvSpPr>
        <p:spPr>
          <a:xfrm>
            <a:off x="548640" y="5074920"/>
            <a:ext cx="10149840" cy="1325880"/>
          </a:xfrm>
          <a:prstGeom prst="roundRect">
            <a:avLst>
              <a:gd name="adj" fmla="val 8276"/>
            </a:avLst>
          </a:prstGeom>
          <a:solidFill>
            <a:srgbClr val="EFF7F6"/>
          </a:solidFill>
          <a:ln w="22225">
            <a:solidFill>
              <a:srgbClr val="D7263D"/>
            </a:solidFill>
            <a:prstDash val="solid"/>
          </a:ln>
        </p:spPr>
      </p:sp>
      <p:sp>
        <p:nvSpPr>
          <p:cNvPr id="20" name="Shape 18"/>
          <p:cNvSpPr/>
          <p:nvPr/>
        </p:nvSpPr>
        <p:spPr>
          <a:xfrm>
            <a:off x="777240" y="5417820"/>
            <a:ext cx="640080" cy="640080"/>
          </a:xfrm>
          <a:prstGeom prst="ellipse">
            <a:avLst/>
          </a:prstGeom>
          <a:solidFill>
            <a:srgbClr val="D7263D"/>
          </a:solidFill>
          <a:ln/>
        </p:spPr>
      </p:sp>
      <p:sp>
        <p:nvSpPr>
          <p:cNvPr id="21" name="Text 19"/>
          <p:cNvSpPr txBox="1"/>
          <p:nvPr/>
        </p:nvSpPr>
        <p:spPr>
          <a:xfrm>
            <a:off x="777240" y="5417820"/>
            <a:ext cx="640080" cy="64008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2" name="Text 20"/>
          <p:cNvSpPr txBox="1"/>
          <p:nvPr/>
        </p:nvSpPr>
        <p:spPr>
          <a:xfrm>
            <a:off x="1600200" y="5212080"/>
            <a:ext cx="6858000" cy="502920"/>
          </a:xfrm>
          <a:prstGeom prst="rect">
            <a:avLst/>
          </a:prstGeom>
          <a:noFill/>
          <a:ln/>
        </p:spPr>
        <p:txBody>
          <a:bodyPr wrap="square" rtlCol="0" anchor="ctr"/>
          <a:lstStyle/>
          <a:p>
            <a:pPr indent="0" marL="0">
              <a:buNone/>
            </a:pPr>
            <a:r>
              <a:rPr lang="en-US" sz="1600" b="1" dirty="0">
                <a:solidFill>
                  <a:srgbClr val="1B2B2E"/>
                </a:solidFill>
                <a:latin typeface="Calibri" pitchFamily="34" charset="0"/>
                <a:ea typeface="Calibri" pitchFamily="34" charset="-122"/>
                <a:cs typeface="Calibri" pitchFamily="34" charset="-120"/>
              </a:rPr>
              <a:t>SÍ cambia o elimina algo que ya existía</a:t>
            </a:r>
            <a:endParaRPr lang="en-US" sz="1600" dirty="0"/>
          </a:p>
        </p:txBody>
      </p:sp>
      <p:sp>
        <p:nvSpPr>
          <p:cNvPr id="23" name="Text 21"/>
          <p:cNvSpPr txBox="1"/>
          <p:nvPr/>
        </p:nvSpPr>
        <p:spPr>
          <a:xfrm>
            <a:off x="1600200" y="5696712"/>
            <a:ext cx="6858000" cy="594360"/>
          </a:xfrm>
          <a:prstGeom prst="rect">
            <a:avLst/>
          </a:prstGeom>
          <a:noFill/>
          <a:ln/>
        </p:spPr>
        <p:txBody>
          <a:bodyPr wrap="square" rtlCol="0" anchor="ctr"/>
          <a:lstStyle/>
          <a:p>
            <a:pPr indent="0" marL="0">
              <a:buNone/>
            </a:pPr>
            <a:r>
              <a:rPr lang="en-US" sz="1250" i="1" dirty="0">
                <a:solidFill>
                  <a:srgbClr val="5C7A7D"/>
                </a:solidFill>
                <a:latin typeface="Calibri" pitchFamily="34" charset="0"/>
                <a:ea typeface="Calibri" pitchFamily="34" charset="-122"/>
                <a:cs typeface="Calibri" pitchFamily="34" charset="-120"/>
              </a:rPr>
              <a:t>Quitaste una función, cambiaste un default, cambiaste un tipo de retorno</a:t>
            </a:r>
            <a:endParaRPr lang="en-US" sz="1250" dirty="0"/>
          </a:p>
        </p:txBody>
      </p:sp>
      <p:sp>
        <p:nvSpPr>
          <p:cNvPr id="24" name="Shape 22"/>
          <p:cNvSpPr/>
          <p:nvPr/>
        </p:nvSpPr>
        <p:spPr>
          <a:xfrm>
            <a:off x="8732520" y="5390388"/>
            <a:ext cx="1234440" cy="694944"/>
          </a:xfrm>
          <a:prstGeom prst="roundRect">
            <a:avLst>
              <a:gd name="adj" fmla="val 10526"/>
            </a:avLst>
          </a:prstGeom>
          <a:solidFill>
            <a:srgbClr val="D7263D"/>
          </a:solidFill>
          <a:ln/>
        </p:spPr>
      </p:sp>
      <p:sp>
        <p:nvSpPr>
          <p:cNvPr id="25" name="Text 23"/>
          <p:cNvSpPr txBox="1"/>
          <p:nvPr/>
        </p:nvSpPr>
        <p:spPr>
          <a:xfrm>
            <a:off x="8732520" y="5390388"/>
            <a:ext cx="1234440" cy="694944"/>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MAJOR</a:t>
            </a:r>
            <a:endParaRPr lang="en-US" sz="1500" dirty="0"/>
          </a:p>
        </p:txBody>
      </p:sp>
      <p:sp>
        <p:nvSpPr>
          <p:cNvPr id="26" name="Text 24"/>
          <p:cNvSpPr txBox="1"/>
          <p:nvPr/>
        </p:nvSpPr>
        <p:spPr>
          <a:xfrm>
            <a:off x="11155680" y="6473952"/>
            <a:ext cx="822960" cy="274320"/>
          </a:xfrm>
          <a:prstGeom prst="rect">
            <a:avLst/>
          </a:prstGeom>
          <a:noFill/>
          <a:ln/>
        </p:spPr>
        <p:txBody>
          <a:bodyPr wrap="square" rtlCol="0" anchor="ctr"/>
          <a:lstStyle/>
          <a:p>
            <a:pPr algn="r" indent="0" marL="0">
              <a:buNone/>
            </a:pPr>
            <a:r>
              <a:rPr lang="en-US" sz="1000" dirty="0">
                <a:solidFill>
                  <a:srgbClr val="5C7A7D"/>
                </a:solidFill>
                <a:latin typeface="Calibri" pitchFamily="34" charset="0"/>
                <a:ea typeface="Calibri" pitchFamily="34" charset="-122"/>
                <a:cs typeface="Calibri" pitchFamily="34" charset="-120"/>
              </a:rPr>
              <a:t>04 / 19</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3D42"/>
        </a:solidFill>
      </p:bgPr>
    </p:bg>
    <p:spTree>
      <p:nvGrpSpPr>
        <p:cNvPr id="1" name=""/>
        <p:cNvGrpSpPr/>
        <p:nvPr/>
      </p:nvGrpSpPr>
      <p:grpSpPr>
        <a:xfrm>
          <a:off x="0" y="0"/>
          <a:ext cx="0" cy="0"/>
          <a:chOff x="0" y="0"/>
          <a:chExt cx="0" cy="0"/>
        </a:xfrm>
      </p:grpSpPr>
      <p:sp>
        <p:nvSpPr>
          <p:cNvPr id="2" name="Text 0"/>
          <p:cNvSpPr txBox="1"/>
          <p:nvPr/>
        </p:nvSpPr>
        <p:spPr>
          <a:xfrm>
            <a:off x="548640" y="164592"/>
            <a:ext cx="8229600" cy="292608"/>
          </a:xfrm>
          <a:prstGeom prst="rect">
            <a:avLst/>
          </a:prstGeom>
          <a:noFill/>
          <a:ln/>
        </p:spPr>
        <p:txBody>
          <a:bodyPr wrap="square"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EJERCICIO DE EQUIPO</a:t>
            </a:r>
            <a:endParaRPr lang="en-US" sz="1200" dirty="0"/>
          </a:p>
        </p:txBody>
      </p:sp>
      <p:sp>
        <p:nvSpPr>
          <p:cNvPr id="3" name="Text 1"/>
          <p:cNvSpPr txBox="1"/>
          <p:nvPr/>
        </p:nvSpPr>
        <p:spPr>
          <a:xfrm>
            <a:off x="548640" y="411480"/>
            <a:ext cx="11064240" cy="822960"/>
          </a:xfrm>
          <a:prstGeom prst="rect">
            <a:avLst/>
          </a:prstGeom>
          <a:noFill/>
          <a:ln/>
        </p:spPr>
        <p:txBody>
          <a:bodyPr wrap="square"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El juego: adivina la versión</a:t>
            </a:r>
            <a:endParaRPr lang="en-US" sz="3200" dirty="0"/>
          </a:p>
        </p:txBody>
      </p:sp>
      <p:sp>
        <p:nvSpPr>
          <p:cNvPr id="4" name="Shape 2"/>
          <p:cNvSpPr/>
          <p:nvPr/>
        </p:nvSpPr>
        <p:spPr>
          <a:xfrm>
            <a:off x="640080" y="1920240"/>
            <a:ext cx="777240" cy="777240"/>
          </a:xfrm>
          <a:prstGeom prst="roundRect">
            <a:avLst>
              <a:gd name="adj" fmla="val 49412"/>
            </a:avLst>
          </a:prstGeom>
          <a:solidFill>
            <a:srgbClr val="028090"/>
          </a:solidFill>
          <a:ln/>
        </p:spPr>
      </p:sp>
      <p:sp>
        <p:nvSpPr>
          <p:cNvPr id="5" name="Text 3"/>
          <p:cNvSpPr txBox="1"/>
          <p:nvPr/>
        </p:nvSpPr>
        <p:spPr>
          <a:xfrm>
            <a:off x="640080" y="1920240"/>
            <a:ext cx="777240" cy="777240"/>
          </a:xfrm>
          <a:prstGeom prst="rect">
            <a:avLst/>
          </a:prstGeom>
          <a:noFill/>
          <a:ln/>
        </p:spPr>
        <p:txBody>
          <a:bodyPr wrap="square"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1</a:t>
            </a:r>
            <a:endParaRPr lang="en-US" sz="2600" dirty="0"/>
          </a:p>
        </p:txBody>
      </p:sp>
      <p:sp>
        <p:nvSpPr>
          <p:cNvPr id="6" name="Text 4"/>
          <p:cNvSpPr txBox="1"/>
          <p:nvPr/>
        </p:nvSpPr>
        <p:spPr>
          <a:xfrm>
            <a:off x="1691640" y="1901952"/>
            <a:ext cx="9601200" cy="457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Formen equipos de 2-3 personas</a:t>
            </a:r>
            <a:endParaRPr lang="en-US" sz="1700" dirty="0"/>
          </a:p>
        </p:txBody>
      </p:sp>
      <p:sp>
        <p:nvSpPr>
          <p:cNvPr id="7" name="Text 5"/>
          <p:cNvSpPr txBox="1"/>
          <p:nvPr/>
        </p:nvSpPr>
        <p:spPr>
          <a:xfrm>
            <a:off x="1691640" y="2304288"/>
            <a:ext cx="9601200" cy="457200"/>
          </a:xfrm>
          <a:prstGeom prst="rect">
            <a:avLst/>
          </a:prstGeom>
          <a:noFill/>
          <a:ln/>
        </p:spPr>
        <p:txBody>
          <a:bodyPr wrap="square" rtlCol="0" anchor="ctr"/>
          <a:lstStyle/>
          <a:p>
            <a:pPr indent="0" marL="0">
              <a:buNone/>
            </a:pPr>
            <a:r>
              <a:rPr lang="en-US" sz="1350" dirty="0">
                <a:solidFill>
                  <a:srgbClr val="F4FBFA"/>
                </a:solidFill>
                <a:latin typeface="Calibri" pitchFamily="34" charset="0"/>
                <a:ea typeface="Calibri" pitchFamily="34" charset="-122"/>
                <a:cs typeface="Calibri" pitchFamily="34" charset="-120"/>
              </a:rPr>
              <a:t>Cada sala de Zoom es un equipo.</a:t>
            </a:r>
            <a:endParaRPr lang="en-US" sz="1350" dirty="0"/>
          </a:p>
        </p:txBody>
      </p:sp>
      <p:sp>
        <p:nvSpPr>
          <p:cNvPr id="8" name="Shape 6"/>
          <p:cNvSpPr/>
          <p:nvPr/>
        </p:nvSpPr>
        <p:spPr>
          <a:xfrm>
            <a:off x="640080" y="2971800"/>
            <a:ext cx="777240" cy="777240"/>
          </a:xfrm>
          <a:prstGeom prst="roundRect">
            <a:avLst>
              <a:gd name="adj" fmla="val 49412"/>
            </a:avLst>
          </a:prstGeom>
          <a:solidFill>
            <a:srgbClr val="028090"/>
          </a:solidFill>
          <a:ln/>
        </p:spPr>
      </p:sp>
      <p:sp>
        <p:nvSpPr>
          <p:cNvPr id="9" name="Text 7"/>
          <p:cNvSpPr txBox="1"/>
          <p:nvPr/>
        </p:nvSpPr>
        <p:spPr>
          <a:xfrm>
            <a:off x="640080" y="2971800"/>
            <a:ext cx="777240" cy="777240"/>
          </a:xfrm>
          <a:prstGeom prst="rect">
            <a:avLst/>
          </a:prstGeom>
          <a:noFill/>
          <a:ln/>
        </p:spPr>
        <p:txBody>
          <a:bodyPr wrap="square"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2</a:t>
            </a:r>
            <a:endParaRPr lang="en-US" sz="2600" dirty="0"/>
          </a:p>
        </p:txBody>
      </p:sp>
      <p:sp>
        <p:nvSpPr>
          <p:cNvPr id="10" name="Text 8"/>
          <p:cNvSpPr txBox="1"/>
          <p:nvPr/>
        </p:nvSpPr>
        <p:spPr>
          <a:xfrm>
            <a:off x="1691640" y="2953512"/>
            <a:ext cx="9601200" cy="457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Para cada caso, voten antes de avanzar</a:t>
            </a:r>
            <a:endParaRPr lang="en-US" sz="1700" dirty="0"/>
          </a:p>
        </p:txBody>
      </p:sp>
      <p:sp>
        <p:nvSpPr>
          <p:cNvPr id="11" name="Text 9"/>
          <p:cNvSpPr txBox="1"/>
          <p:nvPr/>
        </p:nvSpPr>
        <p:spPr>
          <a:xfrm>
            <a:off x="1691640" y="3355848"/>
            <a:ext cx="9601200" cy="457200"/>
          </a:xfrm>
          <a:prstGeom prst="rect">
            <a:avLst/>
          </a:prstGeom>
          <a:noFill/>
          <a:ln/>
        </p:spPr>
        <p:txBody>
          <a:bodyPr wrap="square" rtlCol="0" anchor="ctr"/>
          <a:lstStyle/>
          <a:p>
            <a:pPr indent="0" marL="0">
              <a:buNone/>
            </a:pPr>
            <a:r>
              <a:rPr lang="en-US" sz="1350" dirty="0">
                <a:solidFill>
                  <a:srgbClr val="F4FBFA"/>
                </a:solidFill>
                <a:latin typeface="Calibri" pitchFamily="34" charset="0"/>
                <a:ea typeface="Calibri" pitchFamily="34" charset="-122"/>
                <a:cs typeface="Calibri" pitchFamily="34" charset="-120"/>
              </a:rPr>
              <a:t>MAJOR, MINOR o PATCH — discutan si no están de acuerdo.</a:t>
            </a:r>
            <a:endParaRPr lang="en-US" sz="1350" dirty="0"/>
          </a:p>
        </p:txBody>
      </p:sp>
      <p:sp>
        <p:nvSpPr>
          <p:cNvPr id="12" name="Shape 10"/>
          <p:cNvSpPr/>
          <p:nvPr/>
        </p:nvSpPr>
        <p:spPr>
          <a:xfrm>
            <a:off x="640080" y="4023360"/>
            <a:ext cx="777240" cy="777240"/>
          </a:xfrm>
          <a:prstGeom prst="roundRect">
            <a:avLst>
              <a:gd name="adj" fmla="val 49412"/>
            </a:avLst>
          </a:prstGeom>
          <a:solidFill>
            <a:srgbClr val="028090"/>
          </a:solidFill>
          <a:ln/>
        </p:spPr>
      </p:sp>
      <p:sp>
        <p:nvSpPr>
          <p:cNvPr id="13" name="Text 11"/>
          <p:cNvSpPr txBox="1"/>
          <p:nvPr/>
        </p:nvSpPr>
        <p:spPr>
          <a:xfrm>
            <a:off x="640080" y="4023360"/>
            <a:ext cx="777240" cy="777240"/>
          </a:xfrm>
          <a:prstGeom prst="rect">
            <a:avLst/>
          </a:prstGeom>
          <a:noFill/>
          <a:ln/>
        </p:spPr>
        <p:txBody>
          <a:bodyPr wrap="square"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3</a:t>
            </a:r>
            <a:endParaRPr lang="en-US" sz="2600" dirty="0"/>
          </a:p>
        </p:txBody>
      </p:sp>
      <p:sp>
        <p:nvSpPr>
          <p:cNvPr id="14" name="Text 12"/>
          <p:cNvSpPr txBox="1"/>
          <p:nvPr/>
        </p:nvSpPr>
        <p:spPr>
          <a:xfrm>
            <a:off x="1691640" y="4005072"/>
            <a:ext cx="9601200" cy="457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Revisen la respuesta en la siguiente diapositiva</a:t>
            </a:r>
            <a:endParaRPr lang="en-US" sz="1700" dirty="0"/>
          </a:p>
        </p:txBody>
      </p:sp>
      <p:sp>
        <p:nvSpPr>
          <p:cNvPr id="15" name="Text 13"/>
          <p:cNvSpPr txBox="1"/>
          <p:nvPr/>
        </p:nvSpPr>
        <p:spPr>
          <a:xfrm>
            <a:off x="1691640" y="4407408"/>
            <a:ext cx="9601200" cy="457200"/>
          </a:xfrm>
          <a:prstGeom prst="rect">
            <a:avLst/>
          </a:prstGeom>
          <a:noFill/>
          <a:ln/>
        </p:spPr>
        <p:txBody>
          <a:bodyPr wrap="square" rtlCol="0" anchor="ctr"/>
          <a:lstStyle/>
          <a:p>
            <a:pPr indent="0" marL="0">
              <a:buNone/>
            </a:pPr>
            <a:r>
              <a:rPr lang="en-US" sz="1350" dirty="0">
                <a:solidFill>
                  <a:srgbClr val="F4FBFA"/>
                </a:solidFill>
                <a:latin typeface="Calibri" pitchFamily="34" charset="0"/>
                <a:ea typeface="Calibri" pitchFamily="34" charset="-122"/>
                <a:cs typeface="Calibri" pitchFamily="34" charset="-120"/>
              </a:rPr>
              <a:t>No la miren antes de votar: primero decidan en equipo.</a:t>
            </a:r>
            <a:endParaRPr lang="en-US" sz="1350" dirty="0"/>
          </a:p>
        </p:txBody>
      </p:sp>
      <p:sp>
        <p:nvSpPr>
          <p:cNvPr id="16" name="Shape 14"/>
          <p:cNvSpPr/>
          <p:nvPr/>
        </p:nvSpPr>
        <p:spPr>
          <a:xfrm>
            <a:off x="640080" y="5074920"/>
            <a:ext cx="777240" cy="777240"/>
          </a:xfrm>
          <a:prstGeom prst="roundRect">
            <a:avLst>
              <a:gd name="adj" fmla="val 49412"/>
            </a:avLst>
          </a:prstGeom>
          <a:solidFill>
            <a:srgbClr val="028090"/>
          </a:solidFill>
          <a:ln/>
        </p:spPr>
      </p:sp>
      <p:sp>
        <p:nvSpPr>
          <p:cNvPr id="17" name="Text 15"/>
          <p:cNvSpPr txBox="1"/>
          <p:nvPr/>
        </p:nvSpPr>
        <p:spPr>
          <a:xfrm>
            <a:off x="640080" y="5074920"/>
            <a:ext cx="777240" cy="777240"/>
          </a:xfrm>
          <a:prstGeom prst="rect">
            <a:avLst/>
          </a:prstGeom>
          <a:noFill/>
          <a:ln/>
        </p:spPr>
        <p:txBody>
          <a:bodyPr wrap="square"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4</a:t>
            </a:r>
            <a:endParaRPr lang="en-US" sz="2600" dirty="0"/>
          </a:p>
        </p:txBody>
      </p:sp>
      <p:sp>
        <p:nvSpPr>
          <p:cNvPr id="18" name="Text 16"/>
          <p:cNvSpPr txBox="1"/>
          <p:nvPr/>
        </p:nvSpPr>
        <p:spPr>
          <a:xfrm>
            <a:off x="1691640" y="5056632"/>
            <a:ext cx="9601200" cy="457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Comparen su acierto con el resto del curso</a:t>
            </a:r>
            <a:endParaRPr lang="en-US" sz="1700" dirty="0"/>
          </a:p>
        </p:txBody>
      </p:sp>
      <p:sp>
        <p:nvSpPr>
          <p:cNvPr id="19" name="Text 17"/>
          <p:cNvSpPr txBox="1"/>
          <p:nvPr/>
        </p:nvSpPr>
        <p:spPr>
          <a:xfrm>
            <a:off x="1691640" y="5458968"/>
            <a:ext cx="9601200" cy="457200"/>
          </a:xfrm>
          <a:prstGeom prst="rect">
            <a:avLst/>
          </a:prstGeom>
          <a:noFill/>
          <a:ln/>
        </p:spPr>
        <p:txBody>
          <a:bodyPr wrap="square" rtlCol="0" anchor="ctr"/>
          <a:lstStyle/>
          <a:p>
            <a:pPr indent="0" marL="0">
              <a:buNone/>
            </a:pPr>
            <a:r>
              <a:rPr lang="en-US" sz="1350" dirty="0">
                <a:solidFill>
                  <a:srgbClr val="F4FBFA"/>
                </a:solidFill>
                <a:latin typeface="Calibri" pitchFamily="34" charset="0"/>
                <a:ea typeface="Calibri" pitchFamily="34" charset="-122"/>
                <a:cs typeface="Calibri" pitchFamily="34" charset="-120"/>
              </a:rPr>
              <a:t>Al final hay una tabla resumen de los 6 casos.</a:t>
            </a:r>
            <a:endParaRPr lang="en-US" sz="1350" dirty="0"/>
          </a:p>
        </p:txBody>
      </p:sp>
      <p:sp>
        <p:nvSpPr>
          <p:cNvPr id="20" name="Shape 18"/>
          <p:cNvSpPr/>
          <p:nvPr/>
        </p:nvSpPr>
        <p:spPr>
          <a:xfrm>
            <a:off x="640080" y="6080760"/>
            <a:ext cx="10881360" cy="594360"/>
          </a:xfrm>
          <a:prstGeom prst="roundRect">
            <a:avLst>
              <a:gd name="adj" fmla="val 15385"/>
            </a:avLst>
          </a:prstGeom>
          <a:solidFill>
            <a:srgbClr val="02C39A"/>
          </a:solidFill>
          <a:ln/>
        </p:spPr>
      </p:sp>
      <p:sp>
        <p:nvSpPr>
          <p:cNvPr id="21" name="Text 19"/>
          <p:cNvSpPr txBox="1"/>
          <p:nvPr/>
        </p:nvSpPr>
        <p:spPr>
          <a:xfrm>
            <a:off x="640080" y="6080760"/>
            <a:ext cx="10881360" cy="594360"/>
          </a:xfrm>
          <a:prstGeom prst="rect">
            <a:avLst/>
          </a:prstGeom>
          <a:noFill/>
          <a:ln/>
        </p:spPr>
        <p:txBody>
          <a:bodyPr wrap="square" rtlCol="0" anchor="ctr"/>
          <a:lstStyle/>
          <a:p>
            <a:pPr algn="ctr" indent="0" marL="0">
              <a:buNone/>
            </a:pPr>
            <a:r>
              <a:rPr lang="en-US" sz="1500" b="1" dirty="0">
                <a:solidFill>
                  <a:srgbClr val="0B3D42"/>
                </a:solidFill>
                <a:latin typeface="Cambria" pitchFamily="34" charset="0"/>
                <a:ea typeface="Cambria" pitchFamily="34" charset="-122"/>
                <a:cs typeface="Cambria" pitchFamily="34" charset="-120"/>
              </a:rPr>
              <a:t>Tiempo sugerido: 10-12 minutos para los 6 casos</a:t>
            </a:r>
            <a:endParaRPr lang="en-US" sz="1500" dirty="0"/>
          </a:p>
        </p:txBody>
      </p:sp>
      <p:sp>
        <p:nvSpPr>
          <p:cNvPr id="22" name="Text 20"/>
          <p:cNvSpPr txBox="1"/>
          <p:nvPr/>
        </p:nvSpPr>
        <p:spPr>
          <a:xfrm>
            <a:off x="11155680" y="6473952"/>
            <a:ext cx="822960" cy="274320"/>
          </a:xfrm>
          <a:prstGeom prst="rect">
            <a:avLst/>
          </a:prstGeom>
          <a:noFill/>
          <a:ln/>
        </p:spPr>
        <p:txBody>
          <a:bodyPr wrap="square" rtlCol="0" anchor="ctr"/>
          <a:lstStyle/>
          <a:p>
            <a:pPr algn="r" indent="0" marL="0">
              <a:buNone/>
            </a:pPr>
            <a:r>
              <a:rPr lang="en-US" sz="1000" dirty="0">
                <a:solidFill>
                  <a:srgbClr val="5C7A7D"/>
                </a:solidFill>
                <a:latin typeface="Calibri" pitchFamily="34" charset="0"/>
                <a:ea typeface="Calibri" pitchFamily="34" charset="-122"/>
                <a:cs typeface="Calibri" pitchFamily="34" charset="-120"/>
              </a:rPr>
              <a:t>05 / 19</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8229600" cy="292608"/>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CASO 1 DE 6</a:t>
            </a:r>
            <a:endParaRPr lang="en-US" sz="1200" dirty="0"/>
          </a:p>
        </p:txBody>
      </p:sp>
      <p:sp>
        <p:nvSpPr>
          <p:cNvPr id="3" name="Text 1"/>
          <p:cNvSpPr txBox="1"/>
          <p:nvPr/>
        </p:nvSpPr>
        <p:spPr>
          <a:xfrm>
            <a:off x="548640" y="411480"/>
            <a:ext cx="11064240" cy="1005840"/>
          </a:xfrm>
          <a:prstGeom prst="rect">
            <a:avLst/>
          </a:prstGeom>
          <a:noFill/>
          <a:ln/>
        </p:spPr>
        <p:txBody>
          <a:bodyPr wrap="square" rtlCol="0" anchor="ctr"/>
          <a:lstStyle/>
          <a:p>
            <a:pPr algn="l" indent="0" marL="0">
              <a:buNone/>
            </a:pPr>
            <a:r>
              <a:rPr lang="en-US" sz="2600" b="1" dirty="0">
                <a:solidFill>
                  <a:srgbClr val="1B2B2E"/>
                </a:solidFill>
                <a:latin typeface="Cambria" pitchFamily="34" charset="0"/>
                <a:ea typeface="Cambria" pitchFamily="34" charset="-122"/>
                <a:cs typeface="Cambria" pitchFamily="34" charset="-120"/>
              </a:rPr>
              <a:t>Elimina una función "vieja" marcada como deprecated</a:t>
            </a:r>
            <a:endParaRPr lang="en-US" sz="2600" dirty="0"/>
          </a:p>
        </p:txBody>
      </p:sp>
      <p:sp>
        <p:nvSpPr>
          <p:cNvPr id="4" name="Shape 2"/>
          <p:cNvSpPr/>
          <p:nvPr/>
        </p:nvSpPr>
        <p:spPr>
          <a:xfrm>
            <a:off x="548640" y="1920240"/>
            <a:ext cx="11064240" cy="1600200"/>
          </a:xfrm>
          <a:prstGeom prst="roundRect">
            <a:avLst>
              <a:gd name="adj" fmla="val 6857"/>
            </a:avLst>
          </a:prstGeom>
          <a:solidFill>
            <a:srgbClr val="1B2B2E"/>
          </a:solidFill>
          <a:ln/>
        </p:spPr>
      </p:sp>
      <p:sp>
        <p:nvSpPr>
          <p:cNvPr id="5" name="Text 3"/>
          <p:cNvSpPr txBox="1"/>
          <p:nvPr/>
        </p:nvSpPr>
        <p:spPr>
          <a:xfrm>
            <a:off x="822960" y="2103120"/>
            <a:ext cx="10515600" cy="1234440"/>
          </a:xfrm>
          <a:prstGeom prst="rect">
            <a:avLst/>
          </a:prstGeom>
          <a:noFill/>
          <a:ln/>
        </p:spPr>
        <p:txBody>
          <a:bodyPr wrap="square" rtlCol="0" anchor="ctr"/>
          <a:lstStyle/>
          <a:p>
            <a:pPr indent="0" marL="0">
              <a:buNone/>
            </a:pPr>
            <a:r>
              <a:rPr lang="en-US" sz="1550" dirty="0">
                <a:solidFill>
                  <a:srgbClr val="02C39A"/>
                </a:solidFill>
                <a:latin typeface="Consolas" pitchFamily="34" charset="0"/>
                <a:ea typeface="Consolas" pitchFamily="34" charset="-122"/>
                <a:cs typeface="Consolas" pitchFamily="34" charset="-120"/>
              </a:rPr>
              <a:t># Llevaba 2 versiones marcada @deprecated</a:t>
            </a:r>
            <a:endParaRPr lang="en-US" sz="1550" dirty="0"/>
          </a:p>
          <a:p>
            <a:pPr indent="0" marL="0">
              <a:buNone/>
            </a:pPr>
            <a:r>
              <a:rPr lang="en-US" sz="1550" dirty="0">
                <a:solidFill>
                  <a:srgbClr val="02C39A"/>
                </a:solidFill>
                <a:latin typeface="Consolas" pitchFamily="34" charset="0"/>
                <a:ea typeface="Consolas" pitchFamily="34" charset="-122"/>
                <a:cs typeface="Consolas" pitchFamily="34" charset="-120"/>
              </a:rPr>
              <a:t>- def calcular_metricas_viejas(df):</a:t>
            </a:r>
            <a:endParaRPr lang="en-US" sz="1550" dirty="0"/>
          </a:p>
          <a:p>
            <a:pPr indent="0" marL="0">
              <a:buNone/>
            </a:pPr>
            <a:r>
              <a:rPr lang="en-US" sz="1550" dirty="0">
                <a:solidFill>
                  <a:srgbClr val="02C39A"/>
                </a:solidFill>
                <a:latin typeface="Consolas" pitchFamily="34" charset="0"/>
                <a:ea typeface="Consolas" pitchFamily="34" charset="-122"/>
                <a:cs typeface="Consolas" pitchFamily="34" charset="-120"/>
              </a:rPr>
              <a:t>-     ...</a:t>
            </a:r>
            <a:endParaRPr lang="en-US" sz="1550" dirty="0"/>
          </a:p>
          <a:p>
            <a:pPr indent="0" marL="0">
              <a:buNone/>
            </a:pPr>
            <a:endParaRPr lang="en-US" sz="1550" dirty="0"/>
          </a:p>
          <a:p>
            <a:pPr indent="0" marL="0">
              <a:buNone/>
            </a:pPr>
            <a:r>
              <a:rPr lang="en-US" sz="1550" dirty="0">
                <a:solidFill>
                  <a:srgbClr val="02C39A"/>
                </a:solidFill>
                <a:latin typeface="Consolas" pitchFamily="34" charset="0"/>
                <a:ea typeface="Consolas" pitchFamily="34" charset="-122"/>
                <a:cs typeface="Consolas" pitchFamily="34" charset="-120"/>
              </a:rPr>
              <a:t># En esta versión, se elimina por completo</a:t>
            </a:r>
            <a:endParaRPr lang="en-US" sz="1550" dirty="0"/>
          </a:p>
        </p:txBody>
      </p:sp>
      <p:sp>
        <p:nvSpPr>
          <p:cNvPr id="6" name="Text 4"/>
          <p:cNvSpPr txBox="1"/>
          <p:nvPr/>
        </p:nvSpPr>
        <p:spPr>
          <a:xfrm>
            <a:off x="548640" y="3657600"/>
            <a:ext cx="11064240" cy="548640"/>
          </a:xfrm>
          <a:prstGeom prst="rect">
            <a:avLst/>
          </a:prstGeom>
          <a:noFill/>
          <a:ln/>
        </p:spPr>
        <p:txBody>
          <a:bodyPr wrap="square" rtlCol="0" anchor="ctr"/>
          <a:lstStyle/>
          <a:p>
            <a:pPr indent="0" marL="0">
              <a:buNone/>
            </a:pPr>
            <a:r>
              <a:rPr lang="en-US" sz="1350" i="1" dirty="0">
                <a:solidFill>
                  <a:srgbClr val="5C7A7D"/>
                </a:solidFill>
                <a:latin typeface="Calibri" pitchFamily="34" charset="0"/>
                <a:ea typeface="Calibri" pitchFamily="34" charset="-122"/>
                <a:cs typeface="Calibri" pitchFamily="34" charset="-120"/>
              </a:rPr>
              <a:t>Nadie debería estar usándola ya... pero, ¿y si alguien no actualizó su código?</a:t>
            </a:r>
            <a:endParaRPr lang="en-US" sz="1350" dirty="0"/>
          </a:p>
        </p:txBody>
      </p:sp>
      <p:sp>
        <p:nvSpPr>
          <p:cNvPr id="7" name="Text 5"/>
          <p:cNvSpPr txBox="1"/>
          <p:nvPr/>
        </p:nvSpPr>
        <p:spPr>
          <a:xfrm>
            <a:off x="548640" y="4434840"/>
            <a:ext cx="11064240" cy="548640"/>
          </a:xfrm>
          <a:prstGeom prst="rect">
            <a:avLst/>
          </a:prstGeom>
          <a:noFill/>
          <a:ln/>
        </p:spPr>
        <p:txBody>
          <a:bodyPr wrap="square" rtlCol="0" anchor="ctr"/>
          <a:lstStyle/>
          <a:p>
            <a:pPr algn="ctr" indent="0" marL="0">
              <a:buNone/>
            </a:pPr>
            <a:r>
              <a:rPr lang="en-US" sz="2200" b="1" dirty="0">
                <a:solidFill>
                  <a:srgbClr val="028090"/>
                </a:solidFill>
                <a:latin typeface="Cambria" pitchFamily="34" charset="0"/>
                <a:ea typeface="Cambria" pitchFamily="34" charset="-122"/>
                <a:cs typeface="Cambria" pitchFamily="34" charset="-120"/>
              </a:rPr>
              <a:t>¿MAJOR, MINOR o PATCH?</a:t>
            </a:r>
            <a:endParaRPr lang="en-US" sz="2200" dirty="0"/>
          </a:p>
        </p:txBody>
      </p:sp>
      <p:sp>
        <p:nvSpPr>
          <p:cNvPr id="8" name="Shape 6"/>
          <p:cNvSpPr/>
          <p:nvPr/>
        </p:nvSpPr>
        <p:spPr>
          <a:xfrm>
            <a:off x="914400" y="5166360"/>
            <a:ext cx="3200400" cy="1051560"/>
          </a:xfrm>
          <a:prstGeom prst="roundRect">
            <a:avLst>
              <a:gd name="adj" fmla="val 10435"/>
            </a:avLst>
          </a:prstGeom>
          <a:solidFill>
            <a:srgbClr val="EFF7F6"/>
          </a:solidFill>
          <a:ln w="25400">
            <a:solidFill>
              <a:srgbClr val="D7263D"/>
            </a:solidFill>
            <a:prstDash val="solid"/>
          </a:ln>
        </p:spPr>
      </p:sp>
      <p:sp>
        <p:nvSpPr>
          <p:cNvPr id="9" name="Text 7"/>
          <p:cNvSpPr txBox="1"/>
          <p:nvPr/>
        </p:nvSpPr>
        <p:spPr>
          <a:xfrm>
            <a:off x="914400" y="5166360"/>
            <a:ext cx="3200400" cy="1051560"/>
          </a:xfrm>
          <a:prstGeom prst="rect">
            <a:avLst/>
          </a:prstGeom>
          <a:noFill/>
          <a:ln/>
        </p:spPr>
        <p:txBody>
          <a:bodyPr wrap="square" rtlCol="0" anchor="ctr"/>
          <a:lstStyle/>
          <a:p>
            <a:pPr algn="ctr" indent="0" marL="0">
              <a:buNone/>
            </a:pPr>
            <a:r>
              <a:rPr lang="en-US" sz="2400" b="1" dirty="0">
                <a:solidFill>
                  <a:srgbClr val="D7263D"/>
                </a:solidFill>
                <a:latin typeface="Cambria" pitchFamily="34" charset="0"/>
                <a:ea typeface="Cambria" pitchFamily="34" charset="-122"/>
                <a:cs typeface="Cambria" pitchFamily="34" charset="-120"/>
              </a:rPr>
              <a:t>MAJOR</a:t>
            </a:r>
            <a:endParaRPr lang="en-US" sz="2400" dirty="0"/>
          </a:p>
        </p:txBody>
      </p:sp>
      <p:sp>
        <p:nvSpPr>
          <p:cNvPr id="10" name="Shape 8"/>
          <p:cNvSpPr/>
          <p:nvPr/>
        </p:nvSpPr>
        <p:spPr>
          <a:xfrm>
            <a:off x="4480560" y="5166360"/>
            <a:ext cx="3200400" cy="1051560"/>
          </a:xfrm>
          <a:prstGeom prst="roundRect">
            <a:avLst>
              <a:gd name="adj" fmla="val 10435"/>
            </a:avLst>
          </a:prstGeom>
          <a:solidFill>
            <a:srgbClr val="EFF7F6"/>
          </a:solidFill>
          <a:ln w="25400">
            <a:solidFill>
              <a:srgbClr val="028090"/>
            </a:solidFill>
            <a:prstDash val="solid"/>
          </a:ln>
        </p:spPr>
      </p:sp>
      <p:sp>
        <p:nvSpPr>
          <p:cNvPr id="11" name="Text 9"/>
          <p:cNvSpPr txBox="1"/>
          <p:nvPr/>
        </p:nvSpPr>
        <p:spPr>
          <a:xfrm>
            <a:off x="4480560" y="5166360"/>
            <a:ext cx="3200400" cy="1051560"/>
          </a:xfrm>
          <a:prstGeom prst="rect">
            <a:avLst/>
          </a:prstGeom>
          <a:noFill/>
          <a:ln/>
        </p:spPr>
        <p:txBody>
          <a:bodyPr wrap="square" rtlCol="0" anchor="ctr"/>
          <a:lstStyle/>
          <a:p>
            <a:pPr algn="ctr" indent="0" marL="0">
              <a:buNone/>
            </a:pPr>
            <a:r>
              <a:rPr lang="en-US" sz="2400" b="1" dirty="0">
                <a:solidFill>
                  <a:srgbClr val="028090"/>
                </a:solidFill>
                <a:latin typeface="Cambria" pitchFamily="34" charset="0"/>
                <a:ea typeface="Cambria" pitchFamily="34" charset="-122"/>
                <a:cs typeface="Cambria" pitchFamily="34" charset="-120"/>
              </a:rPr>
              <a:t>MINOR</a:t>
            </a:r>
            <a:endParaRPr lang="en-US" sz="2400" dirty="0"/>
          </a:p>
        </p:txBody>
      </p:sp>
      <p:sp>
        <p:nvSpPr>
          <p:cNvPr id="12" name="Shape 10"/>
          <p:cNvSpPr/>
          <p:nvPr/>
        </p:nvSpPr>
        <p:spPr>
          <a:xfrm>
            <a:off x="8046720" y="5166360"/>
            <a:ext cx="3200400" cy="1051560"/>
          </a:xfrm>
          <a:prstGeom prst="roundRect">
            <a:avLst>
              <a:gd name="adj" fmla="val 10435"/>
            </a:avLst>
          </a:prstGeom>
          <a:solidFill>
            <a:srgbClr val="EFF7F6"/>
          </a:solidFill>
          <a:ln w="25400">
            <a:solidFill>
              <a:srgbClr val="02C39A"/>
            </a:solidFill>
            <a:prstDash val="solid"/>
          </a:ln>
        </p:spPr>
      </p:sp>
      <p:sp>
        <p:nvSpPr>
          <p:cNvPr id="13" name="Text 11"/>
          <p:cNvSpPr txBox="1"/>
          <p:nvPr/>
        </p:nvSpPr>
        <p:spPr>
          <a:xfrm>
            <a:off x="8046720" y="5166360"/>
            <a:ext cx="3200400" cy="1051560"/>
          </a:xfrm>
          <a:prstGeom prst="rect">
            <a:avLst/>
          </a:prstGeom>
          <a:noFill/>
          <a:ln/>
        </p:spPr>
        <p:txBody>
          <a:bodyPr wrap="square" rtlCol="0" anchor="ctr"/>
          <a:lstStyle/>
          <a:p>
            <a:pPr algn="ctr" indent="0" marL="0">
              <a:buNone/>
            </a:pPr>
            <a:r>
              <a:rPr lang="en-US" sz="2400" b="1" dirty="0">
                <a:solidFill>
                  <a:srgbClr val="02C39A"/>
                </a:solidFill>
                <a:latin typeface="Cambria" pitchFamily="34" charset="0"/>
                <a:ea typeface="Cambria" pitchFamily="34" charset="-122"/>
                <a:cs typeface="Cambria" pitchFamily="34" charset="-120"/>
              </a:rPr>
              <a:t>PATCH</a:t>
            </a:r>
            <a:endParaRPr lang="en-US" sz="2400" dirty="0"/>
          </a:p>
        </p:txBody>
      </p:sp>
      <p:sp>
        <p:nvSpPr>
          <p:cNvPr id="14" name="Text 12"/>
          <p:cNvSpPr txBox="1"/>
          <p:nvPr/>
        </p:nvSpPr>
        <p:spPr>
          <a:xfrm>
            <a:off x="11155680" y="6473952"/>
            <a:ext cx="822960" cy="274320"/>
          </a:xfrm>
          <a:prstGeom prst="rect">
            <a:avLst/>
          </a:prstGeom>
          <a:noFill/>
          <a:ln/>
        </p:spPr>
        <p:txBody>
          <a:bodyPr wrap="square" rtlCol="0" anchor="ctr"/>
          <a:lstStyle/>
          <a:p>
            <a:pPr algn="r" indent="0" marL="0">
              <a:buNone/>
            </a:pPr>
            <a:r>
              <a:rPr lang="en-US" sz="1000" dirty="0">
                <a:solidFill>
                  <a:srgbClr val="5C7A7D"/>
                </a:solidFill>
                <a:latin typeface="Calibri" pitchFamily="34" charset="0"/>
                <a:ea typeface="Calibri" pitchFamily="34" charset="-122"/>
                <a:cs typeface="Calibri" pitchFamily="34" charset="-120"/>
              </a:rPr>
              <a:t>06 / 19</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8229600" cy="292608"/>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CASO 1 DE 6 · RESPUESTA</a:t>
            </a:r>
            <a:endParaRPr lang="en-US" sz="1200" dirty="0"/>
          </a:p>
        </p:txBody>
      </p:sp>
      <p:sp>
        <p:nvSpPr>
          <p:cNvPr id="3" name="Text 1"/>
          <p:cNvSpPr txBox="1"/>
          <p:nvPr/>
        </p:nvSpPr>
        <p:spPr>
          <a:xfrm>
            <a:off x="548640" y="411480"/>
            <a:ext cx="7863840" cy="914400"/>
          </a:xfrm>
          <a:prstGeom prst="rect">
            <a:avLst/>
          </a:prstGeom>
          <a:noFill/>
          <a:ln/>
        </p:spPr>
        <p:txBody>
          <a:bodyPr wrap="square" rtlCol="0" anchor="ctr"/>
          <a:lstStyle/>
          <a:p>
            <a:pPr algn="l" indent="0" marL="0">
              <a:buNone/>
            </a:pPr>
            <a:r>
              <a:rPr lang="en-US" sz="2400" b="1" dirty="0">
                <a:solidFill>
                  <a:srgbClr val="1B2B2E"/>
                </a:solidFill>
                <a:latin typeface="Cambria" pitchFamily="34" charset="0"/>
                <a:ea typeface="Cambria" pitchFamily="34" charset="-122"/>
                <a:cs typeface="Cambria" pitchFamily="34" charset="-120"/>
              </a:rPr>
              <a:t>Elimina una función "vieja" marcada como deprecated</a:t>
            </a:r>
            <a:endParaRPr lang="en-US" sz="2400" dirty="0"/>
          </a:p>
        </p:txBody>
      </p:sp>
      <p:sp>
        <p:nvSpPr>
          <p:cNvPr id="4" name="Shape 2"/>
          <p:cNvSpPr/>
          <p:nvPr/>
        </p:nvSpPr>
        <p:spPr>
          <a:xfrm>
            <a:off x="8778240" y="438912"/>
            <a:ext cx="2834640" cy="868680"/>
          </a:xfrm>
          <a:prstGeom prst="roundRect">
            <a:avLst>
              <a:gd name="adj" fmla="val 12632"/>
            </a:avLst>
          </a:prstGeom>
          <a:solidFill>
            <a:srgbClr val="D7263D"/>
          </a:solidFill>
          <a:ln/>
        </p:spPr>
      </p:sp>
      <p:sp>
        <p:nvSpPr>
          <p:cNvPr id="5" name="Text 3"/>
          <p:cNvSpPr txBox="1"/>
          <p:nvPr/>
        </p:nvSpPr>
        <p:spPr>
          <a:xfrm>
            <a:off x="8778240" y="438912"/>
            <a:ext cx="2834640" cy="868680"/>
          </a:xfrm>
          <a:prstGeom prst="rect">
            <a:avLst/>
          </a:prstGeom>
          <a:noFill/>
          <a:ln/>
        </p:spPr>
        <p:txBody>
          <a:bodyPr wrap="square"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MAJOR</a:t>
            </a:r>
            <a:endParaRPr lang="en-US" sz="2400" dirty="0"/>
          </a:p>
        </p:txBody>
      </p:sp>
      <p:sp>
        <p:nvSpPr>
          <p:cNvPr id="6" name="Shape 4"/>
          <p:cNvSpPr/>
          <p:nvPr/>
        </p:nvSpPr>
        <p:spPr>
          <a:xfrm>
            <a:off x="548640" y="1508760"/>
            <a:ext cx="11064240" cy="1417320"/>
          </a:xfrm>
          <a:prstGeom prst="roundRect">
            <a:avLst>
              <a:gd name="adj" fmla="val 7742"/>
            </a:avLst>
          </a:prstGeom>
          <a:solidFill>
            <a:srgbClr val="1B2B2E"/>
          </a:solidFill>
          <a:ln/>
        </p:spPr>
      </p:sp>
      <p:sp>
        <p:nvSpPr>
          <p:cNvPr id="7" name="Text 5"/>
          <p:cNvSpPr txBox="1"/>
          <p:nvPr/>
        </p:nvSpPr>
        <p:spPr>
          <a:xfrm>
            <a:off x="822960" y="1645920"/>
            <a:ext cx="10515600" cy="1143000"/>
          </a:xfrm>
          <a:prstGeom prst="rect">
            <a:avLst/>
          </a:prstGeom>
          <a:noFill/>
          <a:ln/>
        </p:spPr>
        <p:txBody>
          <a:bodyPr wrap="square" rtlCol="0" anchor="ctr"/>
          <a:lstStyle/>
          <a:p>
            <a:pPr indent="0" marL="0">
              <a:buNone/>
            </a:pPr>
            <a:r>
              <a:rPr lang="en-US" sz="1450" dirty="0">
                <a:solidFill>
                  <a:srgbClr val="D7263D"/>
                </a:solidFill>
                <a:latin typeface="Consolas" pitchFamily="34" charset="0"/>
                <a:ea typeface="Consolas" pitchFamily="34" charset="-122"/>
                <a:cs typeface="Consolas" pitchFamily="34" charset="-120"/>
              </a:rPr>
              <a:t># Llevaba 2 versiones marcada @deprecated</a:t>
            </a:r>
            <a:endParaRPr lang="en-US" sz="1450" dirty="0"/>
          </a:p>
          <a:p>
            <a:pPr indent="0" marL="0">
              <a:buNone/>
            </a:pPr>
            <a:r>
              <a:rPr lang="en-US" sz="1450" dirty="0">
                <a:solidFill>
                  <a:srgbClr val="D7263D"/>
                </a:solidFill>
                <a:latin typeface="Consolas" pitchFamily="34" charset="0"/>
                <a:ea typeface="Consolas" pitchFamily="34" charset="-122"/>
                <a:cs typeface="Consolas" pitchFamily="34" charset="-120"/>
              </a:rPr>
              <a:t>- def calcular_metricas_viejas(df):</a:t>
            </a:r>
            <a:endParaRPr lang="en-US" sz="1450" dirty="0"/>
          </a:p>
          <a:p>
            <a:pPr indent="0" marL="0">
              <a:buNone/>
            </a:pPr>
            <a:r>
              <a:rPr lang="en-US" sz="1450" dirty="0">
                <a:solidFill>
                  <a:srgbClr val="D7263D"/>
                </a:solidFill>
                <a:latin typeface="Consolas" pitchFamily="34" charset="0"/>
                <a:ea typeface="Consolas" pitchFamily="34" charset="-122"/>
                <a:cs typeface="Consolas" pitchFamily="34" charset="-120"/>
              </a:rPr>
              <a:t>-     ...</a:t>
            </a:r>
            <a:endParaRPr lang="en-US" sz="1450" dirty="0"/>
          </a:p>
          <a:p>
            <a:pPr indent="0" marL="0">
              <a:buNone/>
            </a:pPr>
            <a:endParaRPr lang="en-US" sz="1450" dirty="0"/>
          </a:p>
          <a:p>
            <a:pPr indent="0" marL="0">
              <a:buNone/>
            </a:pPr>
            <a:r>
              <a:rPr lang="en-US" sz="1450" dirty="0">
                <a:solidFill>
                  <a:srgbClr val="D7263D"/>
                </a:solidFill>
                <a:latin typeface="Consolas" pitchFamily="34" charset="0"/>
                <a:ea typeface="Consolas" pitchFamily="34" charset="-122"/>
                <a:cs typeface="Consolas" pitchFamily="34" charset="-120"/>
              </a:rPr>
              <a:t># En esta versión, se elimina por completo</a:t>
            </a:r>
            <a:endParaRPr lang="en-US" sz="1450" dirty="0"/>
          </a:p>
        </p:txBody>
      </p:sp>
      <p:sp>
        <p:nvSpPr>
          <p:cNvPr id="8" name="Shape 6"/>
          <p:cNvSpPr/>
          <p:nvPr/>
        </p:nvSpPr>
        <p:spPr>
          <a:xfrm>
            <a:off x="548640" y="3154680"/>
            <a:ext cx="11064240" cy="1417320"/>
          </a:xfrm>
          <a:prstGeom prst="roundRect">
            <a:avLst>
              <a:gd name="adj" fmla="val 7742"/>
            </a:avLst>
          </a:prstGeom>
          <a:solidFill>
            <a:srgbClr val="EFF7F6"/>
          </a:solidFill>
          <a:ln w="19050">
            <a:solidFill>
              <a:srgbClr val="D7263D"/>
            </a:solidFill>
            <a:prstDash val="solid"/>
          </a:ln>
        </p:spPr>
      </p:sp>
      <p:sp>
        <p:nvSpPr>
          <p:cNvPr id="9" name="Text 7"/>
          <p:cNvSpPr txBox="1"/>
          <p:nvPr/>
        </p:nvSpPr>
        <p:spPr>
          <a:xfrm>
            <a:off x="822960" y="3291840"/>
            <a:ext cx="10515600" cy="320040"/>
          </a:xfrm>
          <a:prstGeom prst="rect">
            <a:avLst/>
          </a:prstGeom>
          <a:noFill/>
          <a:ln/>
        </p:spPr>
        <p:txBody>
          <a:bodyPr wrap="square" rtlCol="0" anchor="ctr"/>
          <a:lstStyle/>
          <a:p>
            <a:pPr indent="0" marL="0">
              <a:buNone/>
            </a:pPr>
            <a:r>
              <a:rPr lang="en-US" sz="1200" b="1" spc="150" kern="0" dirty="0">
                <a:solidFill>
                  <a:srgbClr val="D7263D"/>
                </a:solidFill>
                <a:latin typeface="Calibri" pitchFamily="34" charset="0"/>
                <a:ea typeface="Calibri" pitchFamily="34" charset="-122"/>
                <a:cs typeface="Calibri" pitchFamily="34" charset="-120"/>
              </a:rPr>
              <a:t>¿POR QUÉ?</a:t>
            </a:r>
            <a:endParaRPr lang="en-US" sz="1200" dirty="0"/>
          </a:p>
        </p:txBody>
      </p:sp>
      <p:sp>
        <p:nvSpPr>
          <p:cNvPr id="10" name="Text 8"/>
          <p:cNvSpPr txBox="1"/>
          <p:nvPr/>
        </p:nvSpPr>
        <p:spPr>
          <a:xfrm>
            <a:off x="822960" y="3611880"/>
            <a:ext cx="10515600" cy="868680"/>
          </a:xfrm>
          <a:prstGeom prst="rect">
            <a:avLst/>
          </a:prstGeom>
          <a:noFill/>
          <a:ln/>
        </p:spPr>
        <p:txBody>
          <a:bodyPr wrap="square" rtlCol="0" anchor="ctr"/>
          <a:lstStyle/>
          <a:p>
            <a:pPr indent="0" marL="0">
              <a:buNone/>
            </a:pPr>
            <a:r>
              <a:rPr lang="en-US" sz="1500" dirty="0">
                <a:solidFill>
                  <a:srgbClr val="1B2B2E"/>
                </a:solidFill>
                <a:latin typeface="Calibri" pitchFamily="34" charset="0"/>
                <a:ea typeface="Calibri" pitchFamily="34" charset="-122"/>
                <a:cs typeface="Calibri" pitchFamily="34" charset="-120"/>
              </a:rPr>
              <a:t>Estar deprecated es una advertencia, no una eliminación. Quien no haya migrado todavía, se rompe apenas actualice. Eliminar código público siempre es un cambio incompatible, sin importar cuánto tiempo llevaba avisado.</a:t>
            </a:r>
            <a:endParaRPr lang="en-US" sz="1500" dirty="0"/>
          </a:p>
        </p:txBody>
      </p:sp>
      <p:sp>
        <p:nvSpPr>
          <p:cNvPr id="11" name="Shape 9"/>
          <p:cNvSpPr/>
          <p:nvPr/>
        </p:nvSpPr>
        <p:spPr>
          <a:xfrm>
            <a:off x="548640" y="4800600"/>
            <a:ext cx="11064240" cy="1417320"/>
          </a:xfrm>
          <a:prstGeom prst="roundRect">
            <a:avLst>
              <a:gd name="adj" fmla="val 7742"/>
            </a:avLst>
          </a:prstGeom>
          <a:solidFill>
            <a:srgbClr val="0B3D42"/>
          </a:solidFill>
          <a:ln/>
        </p:spPr>
      </p:sp>
      <p:sp>
        <p:nvSpPr>
          <p:cNvPr id="12" name="Text 10"/>
          <p:cNvSpPr txBox="1"/>
          <p:nvPr/>
        </p:nvSpPr>
        <p:spPr>
          <a:xfrm>
            <a:off x="822960" y="4937760"/>
            <a:ext cx="10515600" cy="320040"/>
          </a:xfrm>
          <a:prstGeom prst="rect">
            <a:avLst/>
          </a:prstGeom>
          <a:noFill/>
          <a:ln/>
        </p:spPr>
        <p:txBody>
          <a:bodyPr wrap="square" rtlCol="0" anchor="ctr"/>
          <a:lstStyle/>
          <a:p>
            <a:pPr indent="0" marL="0">
              <a:buNone/>
            </a:pPr>
            <a:r>
              <a:rPr lang="en-US" sz="1150" b="1" spc="100" kern="0" dirty="0">
                <a:solidFill>
                  <a:srgbClr val="02C39A"/>
                </a:solidFill>
                <a:latin typeface="Calibri" pitchFamily="34" charset="0"/>
                <a:ea typeface="Calibri" pitchFamily="34" charset="-122"/>
                <a:cs typeface="Calibri" pitchFamily="34" charset="-120"/>
              </a:rPr>
              <a:t>SI TU EQUIPO VOTÓ DISTINTO...</a:t>
            </a:r>
            <a:endParaRPr lang="en-US" sz="1150" dirty="0"/>
          </a:p>
        </p:txBody>
      </p:sp>
      <p:sp>
        <p:nvSpPr>
          <p:cNvPr id="13" name="Text 11"/>
          <p:cNvSpPr txBox="1"/>
          <p:nvPr/>
        </p:nvSpPr>
        <p:spPr>
          <a:xfrm>
            <a:off x="822960" y="5257800"/>
            <a:ext cx="10515600" cy="868680"/>
          </a:xfrm>
          <a:prstGeom prst="rect">
            <a:avLst/>
          </a:prstGeom>
          <a:noFill/>
          <a:ln/>
        </p:spPr>
        <p:txBody>
          <a:bodyPr wrap="square" rtlCol="0" anchor="ctr"/>
          <a:lstStyle/>
          <a:p>
            <a:pPr indent="0" marL="0">
              <a:buNone/>
            </a:pPr>
            <a:r>
              <a:rPr lang="en-US" sz="1450" i="1" dirty="0">
                <a:solidFill>
                  <a:srgbClr val="F4FBFA"/>
                </a:solidFill>
                <a:latin typeface="Calibri" pitchFamily="34" charset="0"/>
                <a:ea typeface="Calibri" pitchFamily="34" charset="-122"/>
                <a:cs typeface="Calibri" pitchFamily="34" charset="-120"/>
              </a:rPr>
              <a:t>"¡Pero si llevaba 2 versiones avisando que la iban a quitar!" — Sí, y aun así rompió producción de alguien el viernes a las 5pm.</a:t>
            </a:r>
            <a:endParaRPr lang="en-US" sz="1450" dirty="0"/>
          </a:p>
        </p:txBody>
      </p:sp>
      <p:sp>
        <p:nvSpPr>
          <p:cNvPr id="14" name="Text 12"/>
          <p:cNvSpPr txBox="1"/>
          <p:nvPr/>
        </p:nvSpPr>
        <p:spPr>
          <a:xfrm>
            <a:off x="11155680" y="6473952"/>
            <a:ext cx="822960" cy="274320"/>
          </a:xfrm>
          <a:prstGeom prst="rect">
            <a:avLst/>
          </a:prstGeom>
          <a:noFill/>
          <a:ln/>
        </p:spPr>
        <p:txBody>
          <a:bodyPr wrap="square" rtlCol="0" anchor="ctr"/>
          <a:lstStyle/>
          <a:p>
            <a:pPr algn="r" indent="0" marL="0">
              <a:buNone/>
            </a:pPr>
            <a:r>
              <a:rPr lang="en-US" sz="1000" dirty="0">
                <a:solidFill>
                  <a:srgbClr val="5C7A7D"/>
                </a:solidFill>
                <a:latin typeface="Calibri" pitchFamily="34" charset="0"/>
                <a:ea typeface="Calibri" pitchFamily="34" charset="-122"/>
                <a:cs typeface="Calibri" pitchFamily="34" charset="-120"/>
              </a:rPr>
              <a:t>07 / 19</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8229600" cy="292608"/>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CASO 2 DE 6</a:t>
            </a:r>
            <a:endParaRPr lang="en-US" sz="1200" dirty="0"/>
          </a:p>
        </p:txBody>
      </p:sp>
      <p:sp>
        <p:nvSpPr>
          <p:cNvPr id="3" name="Text 1"/>
          <p:cNvSpPr txBox="1"/>
          <p:nvPr/>
        </p:nvSpPr>
        <p:spPr>
          <a:xfrm>
            <a:off x="548640" y="411480"/>
            <a:ext cx="11064240" cy="1005840"/>
          </a:xfrm>
          <a:prstGeom prst="rect">
            <a:avLst/>
          </a:prstGeom>
          <a:noFill/>
          <a:ln/>
        </p:spPr>
        <p:txBody>
          <a:bodyPr wrap="square" rtlCol="0" anchor="ctr"/>
          <a:lstStyle/>
          <a:p>
            <a:pPr algn="l" indent="0" marL="0">
              <a:buNone/>
            </a:pPr>
            <a:r>
              <a:rPr lang="en-US" sz="2600" b="1" dirty="0">
                <a:solidFill>
                  <a:srgbClr val="1B2B2E"/>
                </a:solidFill>
                <a:latin typeface="Cambria" pitchFamily="34" charset="0"/>
                <a:ea typeface="Cambria" pitchFamily="34" charset="-122"/>
                <a:cs typeface="Cambria" pitchFamily="34" charset="-120"/>
              </a:rPr>
              <a:t>Agrega un parámetro opcional nuevo</a:t>
            </a:r>
            <a:endParaRPr lang="en-US" sz="2600" dirty="0"/>
          </a:p>
        </p:txBody>
      </p:sp>
      <p:sp>
        <p:nvSpPr>
          <p:cNvPr id="4" name="Shape 2"/>
          <p:cNvSpPr/>
          <p:nvPr/>
        </p:nvSpPr>
        <p:spPr>
          <a:xfrm>
            <a:off x="548640" y="1920240"/>
            <a:ext cx="11064240" cy="1600200"/>
          </a:xfrm>
          <a:prstGeom prst="roundRect">
            <a:avLst>
              <a:gd name="adj" fmla="val 6857"/>
            </a:avLst>
          </a:prstGeom>
          <a:solidFill>
            <a:srgbClr val="1B2B2E"/>
          </a:solidFill>
          <a:ln/>
        </p:spPr>
      </p:sp>
      <p:sp>
        <p:nvSpPr>
          <p:cNvPr id="5" name="Text 3"/>
          <p:cNvSpPr txBox="1"/>
          <p:nvPr/>
        </p:nvSpPr>
        <p:spPr>
          <a:xfrm>
            <a:off x="822960" y="2103120"/>
            <a:ext cx="10515600" cy="1234440"/>
          </a:xfrm>
          <a:prstGeom prst="rect">
            <a:avLst/>
          </a:prstGeom>
          <a:noFill/>
          <a:ln/>
        </p:spPr>
        <p:txBody>
          <a:bodyPr wrap="square" rtlCol="0" anchor="ctr"/>
          <a:lstStyle/>
          <a:p>
            <a:pPr indent="0" marL="0">
              <a:buNone/>
            </a:pPr>
            <a:r>
              <a:rPr lang="en-US" sz="1550" dirty="0">
                <a:solidFill>
                  <a:srgbClr val="02C39A"/>
                </a:solidFill>
                <a:latin typeface="Consolas" pitchFamily="34" charset="0"/>
                <a:ea typeface="Consolas" pitchFamily="34" charset="-122"/>
                <a:cs typeface="Consolas" pitchFamily="34" charset="-120"/>
              </a:rPr>
              <a:t>  def predecir(datos, umbral=0.5):</a:t>
            </a:r>
            <a:endParaRPr lang="en-US" sz="1550" dirty="0"/>
          </a:p>
          <a:p>
            <a:pPr indent="0" marL="0">
              <a:buNone/>
            </a:pPr>
            <a:r>
              <a:rPr lang="en-US" sz="1550" dirty="0">
                <a:solidFill>
                  <a:srgbClr val="02C39A"/>
                </a:solidFill>
                <a:latin typeface="Consolas" pitchFamily="34" charset="0"/>
                <a:ea typeface="Consolas" pitchFamily="34" charset="-122"/>
                <a:cs typeface="Consolas" pitchFamily="34" charset="-120"/>
              </a:rPr>
              <a:t>+     def predecir(datos, umbral=0.5, verbose=False):</a:t>
            </a:r>
            <a:endParaRPr lang="en-US" sz="1550" dirty="0"/>
          </a:p>
          <a:p>
            <a:pPr indent="0" marL="0">
              <a:buNone/>
            </a:pPr>
            <a:r>
              <a:rPr lang="en-US" sz="1550" dirty="0">
                <a:solidFill>
                  <a:srgbClr val="02C39A"/>
                </a:solidFill>
                <a:latin typeface="Consolas" pitchFamily="34" charset="0"/>
                <a:ea typeface="Consolas" pitchFamily="34" charset="-122"/>
                <a:cs typeface="Consolas" pitchFamily="34" charset="-120"/>
              </a:rPr>
              <a:t>          ...</a:t>
            </a:r>
            <a:endParaRPr lang="en-US" sz="1550" dirty="0"/>
          </a:p>
        </p:txBody>
      </p:sp>
      <p:sp>
        <p:nvSpPr>
          <p:cNvPr id="6" name="Text 4"/>
          <p:cNvSpPr txBox="1"/>
          <p:nvPr/>
        </p:nvSpPr>
        <p:spPr>
          <a:xfrm>
            <a:off x="548640" y="3657600"/>
            <a:ext cx="11064240" cy="548640"/>
          </a:xfrm>
          <a:prstGeom prst="rect">
            <a:avLst/>
          </a:prstGeom>
          <a:noFill/>
          <a:ln/>
        </p:spPr>
        <p:txBody>
          <a:bodyPr wrap="square" rtlCol="0" anchor="ctr"/>
          <a:lstStyle/>
          <a:p>
            <a:pPr indent="0" marL="0">
              <a:buNone/>
            </a:pPr>
            <a:r>
              <a:rPr lang="en-US" sz="1350" i="1" dirty="0">
                <a:solidFill>
                  <a:srgbClr val="5C7A7D"/>
                </a:solidFill>
                <a:latin typeface="Calibri" pitchFamily="34" charset="0"/>
                <a:ea typeface="Calibri" pitchFamily="34" charset="-122"/>
                <a:cs typeface="Calibri" pitchFamily="34" charset="-120"/>
              </a:rPr>
              <a:t>Quien no pase 'verbose' sigue obteniendo exactamente el mismo resultado de siempre.</a:t>
            </a:r>
            <a:endParaRPr lang="en-US" sz="1350" dirty="0"/>
          </a:p>
        </p:txBody>
      </p:sp>
      <p:sp>
        <p:nvSpPr>
          <p:cNvPr id="7" name="Text 5"/>
          <p:cNvSpPr txBox="1"/>
          <p:nvPr/>
        </p:nvSpPr>
        <p:spPr>
          <a:xfrm>
            <a:off x="548640" y="4434840"/>
            <a:ext cx="11064240" cy="548640"/>
          </a:xfrm>
          <a:prstGeom prst="rect">
            <a:avLst/>
          </a:prstGeom>
          <a:noFill/>
          <a:ln/>
        </p:spPr>
        <p:txBody>
          <a:bodyPr wrap="square" rtlCol="0" anchor="ctr"/>
          <a:lstStyle/>
          <a:p>
            <a:pPr algn="ctr" indent="0" marL="0">
              <a:buNone/>
            </a:pPr>
            <a:r>
              <a:rPr lang="en-US" sz="2200" b="1" dirty="0">
                <a:solidFill>
                  <a:srgbClr val="028090"/>
                </a:solidFill>
                <a:latin typeface="Cambria" pitchFamily="34" charset="0"/>
                <a:ea typeface="Cambria" pitchFamily="34" charset="-122"/>
                <a:cs typeface="Cambria" pitchFamily="34" charset="-120"/>
              </a:rPr>
              <a:t>¿MAJOR, MINOR o PATCH?</a:t>
            </a:r>
            <a:endParaRPr lang="en-US" sz="2200" dirty="0"/>
          </a:p>
        </p:txBody>
      </p:sp>
      <p:sp>
        <p:nvSpPr>
          <p:cNvPr id="8" name="Shape 6"/>
          <p:cNvSpPr/>
          <p:nvPr/>
        </p:nvSpPr>
        <p:spPr>
          <a:xfrm>
            <a:off x="914400" y="5166360"/>
            <a:ext cx="3200400" cy="1051560"/>
          </a:xfrm>
          <a:prstGeom prst="roundRect">
            <a:avLst>
              <a:gd name="adj" fmla="val 10435"/>
            </a:avLst>
          </a:prstGeom>
          <a:solidFill>
            <a:srgbClr val="EFF7F6"/>
          </a:solidFill>
          <a:ln w="25400">
            <a:solidFill>
              <a:srgbClr val="D7263D"/>
            </a:solidFill>
            <a:prstDash val="solid"/>
          </a:ln>
        </p:spPr>
      </p:sp>
      <p:sp>
        <p:nvSpPr>
          <p:cNvPr id="9" name="Text 7"/>
          <p:cNvSpPr txBox="1"/>
          <p:nvPr/>
        </p:nvSpPr>
        <p:spPr>
          <a:xfrm>
            <a:off x="914400" y="5166360"/>
            <a:ext cx="3200400" cy="1051560"/>
          </a:xfrm>
          <a:prstGeom prst="rect">
            <a:avLst/>
          </a:prstGeom>
          <a:noFill/>
          <a:ln/>
        </p:spPr>
        <p:txBody>
          <a:bodyPr wrap="square" rtlCol="0" anchor="ctr"/>
          <a:lstStyle/>
          <a:p>
            <a:pPr algn="ctr" indent="0" marL="0">
              <a:buNone/>
            </a:pPr>
            <a:r>
              <a:rPr lang="en-US" sz="2400" b="1" dirty="0">
                <a:solidFill>
                  <a:srgbClr val="D7263D"/>
                </a:solidFill>
                <a:latin typeface="Cambria" pitchFamily="34" charset="0"/>
                <a:ea typeface="Cambria" pitchFamily="34" charset="-122"/>
                <a:cs typeface="Cambria" pitchFamily="34" charset="-120"/>
              </a:rPr>
              <a:t>MAJOR</a:t>
            </a:r>
            <a:endParaRPr lang="en-US" sz="2400" dirty="0"/>
          </a:p>
        </p:txBody>
      </p:sp>
      <p:sp>
        <p:nvSpPr>
          <p:cNvPr id="10" name="Shape 8"/>
          <p:cNvSpPr/>
          <p:nvPr/>
        </p:nvSpPr>
        <p:spPr>
          <a:xfrm>
            <a:off x="4480560" y="5166360"/>
            <a:ext cx="3200400" cy="1051560"/>
          </a:xfrm>
          <a:prstGeom prst="roundRect">
            <a:avLst>
              <a:gd name="adj" fmla="val 10435"/>
            </a:avLst>
          </a:prstGeom>
          <a:solidFill>
            <a:srgbClr val="EFF7F6"/>
          </a:solidFill>
          <a:ln w="25400">
            <a:solidFill>
              <a:srgbClr val="028090"/>
            </a:solidFill>
            <a:prstDash val="solid"/>
          </a:ln>
        </p:spPr>
      </p:sp>
      <p:sp>
        <p:nvSpPr>
          <p:cNvPr id="11" name="Text 9"/>
          <p:cNvSpPr txBox="1"/>
          <p:nvPr/>
        </p:nvSpPr>
        <p:spPr>
          <a:xfrm>
            <a:off x="4480560" y="5166360"/>
            <a:ext cx="3200400" cy="1051560"/>
          </a:xfrm>
          <a:prstGeom prst="rect">
            <a:avLst/>
          </a:prstGeom>
          <a:noFill/>
          <a:ln/>
        </p:spPr>
        <p:txBody>
          <a:bodyPr wrap="square" rtlCol="0" anchor="ctr"/>
          <a:lstStyle/>
          <a:p>
            <a:pPr algn="ctr" indent="0" marL="0">
              <a:buNone/>
            </a:pPr>
            <a:r>
              <a:rPr lang="en-US" sz="2400" b="1" dirty="0">
                <a:solidFill>
                  <a:srgbClr val="028090"/>
                </a:solidFill>
                <a:latin typeface="Cambria" pitchFamily="34" charset="0"/>
                <a:ea typeface="Cambria" pitchFamily="34" charset="-122"/>
                <a:cs typeface="Cambria" pitchFamily="34" charset="-120"/>
              </a:rPr>
              <a:t>MINOR</a:t>
            </a:r>
            <a:endParaRPr lang="en-US" sz="2400" dirty="0"/>
          </a:p>
        </p:txBody>
      </p:sp>
      <p:sp>
        <p:nvSpPr>
          <p:cNvPr id="12" name="Shape 10"/>
          <p:cNvSpPr/>
          <p:nvPr/>
        </p:nvSpPr>
        <p:spPr>
          <a:xfrm>
            <a:off x="8046720" y="5166360"/>
            <a:ext cx="3200400" cy="1051560"/>
          </a:xfrm>
          <a:prstGeom prst="roundRect">
            <a:avLst>
              <a:gd name="adj" fmla="val 10435"/>
            </a:avLst>
          </a:prstGeom>
          <a:solidFill>
            <a:srgbClr val="EFF7F6"/>
          </a:solidFill>
          <a:ln w="25400">
            <a:solidFill>
              <a:srgbClr val="02C39A"/>
            </a:solidFill>
            <a:prstDash val="solid"/>
          </a:ln>
        </p:spPr>
      </p:sp>
      <p:sp>
        <p:nvSpPr>
          <p:cNvPr id="13" name="Text 11"/>
          <p:cNvSpPr txBox="1"/>
          <p:nvPr/>
        </p:nvSpPr>
        <p:spPr>
          <a:xfrm>
            <a:off x="8046720" y="5166360"/>
            <a:ext cx="3200400" cy="1051560"/>
          </a:xfrm>
          <a:prstGeom prst="rect">
            <a:avLst/>
          </a:prstGeom>
          <a:noFill/>
          <a:ln/>
        </p:spPr>
        <p:txBody>
          <a:bodyPr wrap="square" rtlCol="0" anchor="ctr"/>
          <a:lstStyle/>
          <a:p>
            <a:pPr algn="ctr" indent="0" marL="0">
              <a:buNone/>
            </a:pPr>
            <a:r>
              <a:rPr lang="en-US" sz="2400" b="1" dirty="0">
                <a:solidFill>
                  <a:srgbClr val="02C39A"/>
                </a:solidFill>
                <a:latin typeface="Cambria" pitchFamily="34" charset="0"/>
                <a:ea typeface="Cambria" pitchFamily="34" charset="-122"/>
                <a:cs typeface="Cambria" pitchFamily="34" charset="-120"/>
              </a:rPr>
              <a:t>PATCH</a:t>
            </a:r>
            <a:endParaRPr lang="en-US" sz="2400" dirty="0"/>
          </a:p>
        </p:txBody>
      </p:sp>
      <p:sp>
        <p:nvSpPr>
          <p:cNvPr id="14" name="Text 12"/>
          <p:cNvSpPr txBox="1"/>
          <p:nvPr/>
        </p:nvSpPr>
        <p:spPr>
          <a:xfrm>
            <a:off x="11155680" y="6473952"/>
            <a:ext cx="822960" cy="274320"/>
          </a:xfrm>
          <a:prstGeom prst="rect">
            <a:avLst/>
          </a:prstGeom>
          <a:noFill/>
          <a:ln/>
        </p:spPr>
        <p:txBody>
          <a:bodyPr wrap="square" rtlCol="0" anchor="ctr"/>
          <a:lstStyle/>
          <a:p>
            <a:pPr algn="r" indent="0" marL="0">
              <a:buNone/>
            </a:pPr>
            <a:r>
              <a:rPr lang="en-US" sz="1000" dirty="0">
                <a:solidFill>
                  <a:srgbClr val="5C7A7D"/>
                </a:solidFill>
                <a:latin typeface="Calibri" pitchFamily="34" charset="0"/>
                <a:ea typeface="Calibri" pitchFamily="34" charset="-122"/>
                <a:cs typeface="Calibri" pitchFamily="34" charset="-120"/>
              </a:rPr>
              <a:t>08 / 19</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8229600" cy="292608"/>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CASO 2 DE 6 · RESPUESTA</a:t>
            </a:r>
            <a:endParaRPr lang="en-US" sz="1200" dirty="0"/>
          </a:p>
        </p:txBody>
      </p:sp>
      <p:sp>
        <p:nvSpPr>
          <p:cNvPr id="3" name="Text 1"/>
          <p:cNvSpPr txBox="1"/>
          <p:nvPr/>
        </p:nvSpPr>
        <p:spPr>
          <a:xfrm>
            <a:off x="548640" y="411480"/>
            <a:ext cx="7863840" cy="914400"/>
          </a:xfrm>
          <a:prstGeom prst="rect">
            <a:avLst/>
          </a:prstGeom>
          <a:noFill/>
          <a:ln/>
        </p:spPr>
        <p:txBody>
          <a:bodyPr wrap="square" rtlCol="0" anchor="ctr"/>
          <a:lstStyle/>
          <a:p>
            <a:pPr algn="l" indent="0" marL="0">
              <a:buNone/>
            </a:pPr>
            <a:r>
              <a:rPr lang="en-US" sz="2400" b="1" dirty="0">
                <a:solidFill>
                  <a:srgbClr val="1B2B2E"/>
                </a:solidFill>
                <a:latin typeface="Cambria" pitchFamily="34" charset="0"/>
                <a:ea typeface="Cambria" pitchFamily="34" charset="-122"/>
                <a:cs typeface="Cambria" pitchFamily="34" charset="-120"/>
              </a:rPr>
              <a:t>Agrega un parámetro opcional nuevo</a:t>
            </a:r>
            <a:endParaRPr lang="en-US" sz="2400" dirty="0"/>
          </a:p>
        </p:txBody>
      </p:sp>
      <p:sp>
        <p:nvSpPr>
          <p:cNvPr id="4" name="Shape 2"/>
          <p:cNvSpPr/>
          <p:nvPr/>
        </p:nvSpPr>
        <p:spPr>
          <a:xfrm>
            <a:off x="8778240" y="438912"/>
            <a:ext cx="2834640" cy="868680"/>
          </a:xfrm>
          <a:prstGeom prst="roundRect">
            <a:avLst>
              <a:gd name="adj" fmla="val 12632"/>
            </a:avLst>
          </a:prstGeom>
          <a:solidFill>
            <a:srgbClr val="028090"/>
          </a:solidFill>
          <a:ln/>
        </p:spPr>
      </p:sp>
      <p:sp>
        <p:nvSpPr>
          <p:cNvPr id="5" name="Text 3"/>
          <p:cNvSpPr txBox="1"/>
          <p:nvPr/>
        </p:nvSpPr>
        <p:spPr>
          <a:xfrm>
            <a:off x="8778240" y="438912"/>
            <a:ext cx="2834640" cy="868680"/>
          </a:xfrm>
          <a:prstGeom prst="rect">
            <a:avLst/>
          </a:prstGeom>
          <a:noFill/>
          <a:ln/>
        </p:spPr>
        <p:txBody>
          <a:bodyPr wrap="square"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MINOR</a:t>
            </a:r>
            <a:endParaRPr lang="en-US" sz="2400" dirty="0"/>
          </a:p>
        </p:txBody>
      </p:sp>
      <p:sp>
        <p:nvSpPr>
          <p:cNvPr id="6" name="Shape 4"/>
          <p:cNvSpPr/>
          <p:nvPr/>
        </p:nvSpPr>
        <p:spPr>
          <a:xfrm>
            <a:off x="548640" y="1508760"/>
            <a:ext cx="11064240" cy="1417320"/>
          </a:xfrm>
          <a:prstGeom prst="roundRect">
            <a:avLst>
              <a:gd name="adj" fmla="val 7742"/>
            </a:avLst>
          </a:prstGeom>
          <a:solidFill>
            <a:srgbClr val="1B2B2E"/>
          </a:solidFill>
          <a:ln/>
        </p:spPr>
      </p:sp>
      <p:sp>
        <p:nvSpPr>
          <p:cNvPr id="7" name="Text 5"/>
          <p:cNvSpPr txBox="1"/>
          <p:nvPr/>
        </p:nvSpPr>
        <p:spPr>
          <a:xfrm>
            <a:off x="822960" y="1645920"/>
            <a:ext cx="10515600" cy="1143000"/>
          </a:xfrm>
          <a:prstGeom prst="rect">
            <a:avLst/>
          </a:prstGeom>
          <a:noFill/>
          <a:ln/>
        </p:spPr>
        <p:txBody>
          <a:bodyPr wrap="square" rtlCol="0" anchor="ctr"/>
          <a:lstStyle/>
          <a:p>
            <a:pPr indent="0" marL="0">
              <a:buNone/>
            </a:pPr>
            <a:r>
              <a:rPr lang="en-US" sz="1450" dirty="0">
                <a:solidFill>
                  <a:srgbClr val="028090"/>
                </a:solidFill>
                <a:latin typeface="Consolas" pitchFamily="34" charset="0"/>
                <a:ea typeface="Consolas" pitchFamily="34" charset="-122"/>
                <a:cs typeface="Consolas" pitchFamily="34" charset="-120"/>
              </a:rPr>
              <a:t>  def predecir(datos, umbral=0.5):</a:t>
            </a:r>
            <a:endParaRPr lang="en-US" sz="1450" dirty="0"/>
          </a:p>
          <a:p>
            <a:pPr indent="0" marL="0">
              <a:buNone/>
            </a:pPr>
            <a:r>
              <a:rPr lang="en-US" sz="1450" dirty="0">
                <a:solidFill>
                  <a:srgbClr val="028090"/>
                </a:solidFill>
                <a:latin typeface="Consolas" pitchFamily="34" charset="0"/>
                <a:ea typeface="Consolas" pitchFamily="34" charset="-122"/>
                <a:cs typeface="Consolas" pitchFamily="34" charset="-120"/>
              </a:rPr>
              <a:t>+     def predecir(datos, umbral=0.5, verbose=False):</a:t>
            </a:r>
            <a:endParaRPr lang="en-US" sz="1450" dirty="0"/>
          </a:p>
          <a:p>
            <a:pPr indent="0" marL="0">
              <a:buNone/>
            </a:pPr>
            <a:r>
              <a:rPr lang="en-US" sz="1450" dirty="0">
                <a:solidFill>
                  <a:srgbClr val="028090"/>
                </a:solidFill>
                <a:latin typeface="Consolas" pitchFamily="34" charset="0"/>
                <a:ea typeface="Consolas" pitchFamily="34" charset="-122"/>
                <a:cs typeface="Consolas" pitchFamily="34" charset="-120"/>
              </a:rPr>
              <a:t>          ...</a:t>
            </a:r>
            <a:endParaRPr lang="en-US" sz="1450" dirty="0"/>
          </a:p>
        </p:txBody>
      </p:sp>
      <p:sp>
        <p:nvSpPr>
          <p:cNvPr id="8" name="Shape 6"/>
          <p:cNvSpPr/>
          <p:nvPr/>
        </p:nvSpPr>
        <p:spPr>
          <a:xfrm>
            <a:off x="548640" y="3154680"/>
            <a:ext cx="11064240" cy="1417320"/>
          </a:xfrm>
          <a:prstGeom prst="roundRect">
            <a:avLst>
              <a:gd name="adj" fmla="val 7742"/>
            </a:avLst>
          </a:prstGeom>
          <a:solidFill>
            <a:srgbClr val="EFF7F6"/>
          </a:solidFill>
          <a:ln w="19050">
            <a:solidFill>
              <a:srgbClr val="028090"/>
            </a:solidFill>
            <a:prstDash val="solid"/>
          </a:ln>
        </p:spPr>
      </p:sp>
      <p:sp>
        <p:nvSpPr>
          <p:cNvPr id="9" name="Text 7"/>
          <p:cNvSpPr txBox="1"/>
          <p:nvPr/>
        </p:nvSpPr>
        <p:spPr>
          <a:xfrm>
            <a:off x="822960" y="3291840"/>
            <a:ext cx="10515600" cy="320040"/>
          </a:xfrm>
          <a:prstGeom prst="rect">
            <a:avLst/>
          </a:prstGeom>
          <a:noFill/>
          <a:ln/>
        </p:spPr>
        <p:txBody>
          <a:bodyPr wrap="square" rtlCol="0" anchor="ctr"/>
          <a:lstStyle/>
          <a:p>
            <a:pPr indent="0" marL="0">
              <a:buNone/>
            </a:pPr>
            <a:r>
              <a:rPr lang="en-US" sz="1200" b="1" spc="150" kern="0" dirty="0">
                <a:solidFill>
                  <a:srgbClr val="028090"/>
                </a:solidFill>
                <a:latin typeface="Calibri" pitchFamily="34" charset="0"/>
                <a:ea typeface="Calibri" pitchFamily="34" charset="-122"/>
                <a:cs typeface="Calibri" pitchFamily="34" charset="-120"/>
              </a:rPr>
              <a:t>¿POR QUÉ?</a:t>
            </a:r>
            <a:endParaRPr lang="en-US" sz="1200" dirty="0"/>
          </a:p>
        </p:txBody>
      </p:sp>
      <p:sp>
        <p:nvSpPr>
          <p:cNvPr id="10" name="Text 8"/>
          <p:cNvSpPr txBox="1"/>
          <p:nvPr/>
        </p:nvSpPr>
        <p:spPr>
          <a:xfrm>
            <a:off x="822960" y="3611880"/>
            <a:ext cx="10515600" cy="868680"/>
          </a:xfrm>
          <a:prstGeom prst="rect">
            <a:avLst/>
          </a:prstGeom>
          <a:noFill/>
          <a:ln/>
        </p:spPr>
        <p:txBody>
          <a:bodyPr wrap="square" rtlCol="0" anchor="ctr"/>
          <a:lstStyle/>
          <a:p>
            <a:pPr indent="0" marL="0">
              <a:buNone/>
            </a:pPr>
            <a:r>
              <a:rPr lang="en-US" sz="1500" dirty="0">
                <a:solidFill>
                  <a:srgbClr val="1B2B2E"/>
                </a:solidFill>
                <a:latin typeface="Calibri" pitchFamily="34" charset="0"/>
                <a:ea typeface="Calibri" pitchFamily="34" charset="-122"/>
                <a:cs typeface="Calibri" pitchFamily="34" charset="-120"/>
              </a:rPr>
              <a:t>Todo el código que ya llamaba a predecir(datos) sigue funcionando exactamente igual, porque 'verbose' tiene un valor por defecto. Se agregó capacidad nueva sin quitar ni cambiar nada existente.</a:t>
            </a:r>
            <a:endParaRPr lang="en-US" sz="1500" dirty="0"/>
          </a:p>
        </p:txBody>
      </p:sp>
      <p:sp>
        <p:nvSpPr>
          <p:cNvPr id="11" name="Shape 9"/>
          <p:cNvSpPr/>
          <p:nvPr/>
        </p:nvSpPr>
        <p:spPr>
          <a:xfrm>
            <a:off x="548640" y="4800600"/>
            <a:ext cx="11064240" cy="1417320"/>
          </a:xfrm>
          <a:prstGeom prst="roundRect">
            <a:avLst>
              <a:gd name="adj" fmla="val 7742"/>
            </a:avLst>
          </a:prstGeom>
          <a:solidFill>
            <a:srgbClr val="0B3D42"/>
          </a:solidFill>
          <a:ln/>
        </p:spPr>
      </p:sp>
      <p:sp>
        <p:nvSpPr>
          <p:cNvPr id="12" name="Text 10"/>
          <p:cNvSpPr txBox="1"/>
          <p:nvPr/>
        </p:nvSpPr>
        <p:spPr>
          <a:xfrm>
            <a:off x="822960" y="4937760"/>
            <a:ext cx="10515600" cy="320040"/>
          </a:xfrm>
          <a:prstGeom prst="rect">
            <a:avLst/>
          </a:prstGeom>
          <a:noFill/>
          <a:ln/>
        </p:spPr>
        <p:txBody>
          <a:bodyPr wrap="square" rtlCol="0" anchor="ctr"/>
          <a:lstStyle/>
          <a:p>
            <a:pPr indent="0" marL="0">
              <a:buNone/>
            </a:pPr>
            <a:r>
              <a:rPr lang="en-US" sz="1150" b="1" spc="100" kern="0" dirty="0">
                <a:solidFill>
                  <a:srgbClr val="02C39A"/>
                </a:solidFill>
                <a:latin typeface="Calibri" pitchFamily="34" charset="0"/>
                <a:ea typeface="Calibri" pitchFamily="34" charset="-122"/>
                <a:cs typeface="Calibri" pitchFamily="34" charset="-120"/>
              </a:rPr>
              <a:t>SI TU EQUIPO VOTÓ DISTINTO...</a:t>
            </a:r>
            <a:endParaRPr lang="en-US" sz="1150" dirty="0"/>
          </a:p>
        </p:txBody>
      </p:sp>
      <p:sp>
        <p:nvSpPr>
          <p:cNvPr id="13" name="Text 11"/>
          <p:cNvSpPr txBox="1"/>
          <p:nvPr/>
        </p:nvSpPr>
        <p:spPr>
          <a:xfrm>
            <a:off x="822960" y="5257800"/>
            <a:ext cx="10515600" cy="868680"/>
          </a:xfrm>
          <a:prstGeom prst="rect">
            <a:avLst/>
          </a:prstGeom>
          <a:noFill/>
          <a:ln/>
        </p:spPr>
        <p:txBody>
          <a:bodyPr wrap="square" rtlCol="0" anchor="ctr"/>
          <a:lstStyle/>
          <a:p>
            <a:pPr indent="0" marL="0">
              <a:buNone/>
            </a:pPr>
            <a:r>
              <a:rPr lang="en-US" sz="1450" i="1" dirty="0">
                <a:solidFill>
                  <a:srgbClr val="F4FBFA"/>
                </a:solidFill>
                <a:latin typeface="Calibri" pitchFamily="34" charset="0"/>
                <a:ea typeface="Calibri" pitchFamily="34" charset="-122"/>
                <a:cs typeface="Calibri" pitchFamily="34" charset="-120"/>
              </a:rPr>
              <a:t>El equipo que dijo PATCH: cerca, pero agregar una funcionalidad nueva (aunque sea opcional) siempre es MINOR, no PATCH.</a:t>
            </a:r>
            <a:endParaRPr lang="en-US" sz="1450" dirty="0"/>
          </a:p>
        </p:txBody>
      </p:sp>
      <p:sp>
        <p:nvSpPr>
          <p:cNvPr id="14" name="Text 12"/>
          <p:cNvSpPr txBox="1"/>
          <p:nvPr/>
        </p:nvSpPr>
        <p:spPr>
          <a:xfrm>
            <a:off x="11155680" y="6473952"/>
            <a:ext cx="822960" cy="274320"/>
          </a:xfrm>
          <a:prstGeom prst="rect">
            <a:avLst/>
          </a:prstGeom>
          <a:noFill/>
          <a:ln/>
        </p:spPr>
        <p:txBody>
          <a:bodyPr wrap="square" rtlCol="0" anchor="ctr"/>
          <a:lstStyle/>
          <a:p>
            <a:pPr algn="r" indent="0" marL="0">
              <a:buNone/>
            </a:pPr>
            <a:r>
              <a:rPr lang="en-US" sz="1000" dirty="0">
                <a:solidFill>
                  <a:srgbClr val="5C7A7D"/>
                </a:solidFill>
                <a:latin typeface="Calibri" pitchFamily="34" charset="0"/>
                <a:ea typeface="Calibri" pitchFamily="34" charset="-122"/>
                <a:cs typeface="Calibri" pitchFamily="34" charset="-120"/>
              </a:rPr>
              <a:t>09 / 19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8229600" cy="292608"/>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CASO 3 DE 6</a:t>
            </a:r>
            <a:endParaRPr lang="en-US" sz="1200" dirty="0"/>
          </a:p>
        </p:txBody>
      </p:sp>
      <p:sp>
        <p:nvSpPr>
          <p:cNvPr id="3" name="Text 1"/>
          <p:cNvSpPr txBox="1"/>
          <p:nvPr/>
        </p:nvSpPr>
        <p:spPr>
          <a:xfrm>
            <a:off x="548640" y="411480"/>
            <a:ext cx="11064240" cy="1005840"/>
          </a:xfrm>
          <a:prstGeom prst="rect">
            <a:avLst/>
          </a:prstGeom>
          <a:noFill/>
          <a:ln/>
        </p:spPr>
        <p:txBody>
          <a:bodyPr wrap="square" rtlCol="0" anchor="ctr"/>
          <a:lstStyle/>
          <a:p>
            <a:pPr algn="l" indent="0" marL="0">
              <a:buNone/>
            </a:pPr>
            <a:r>
              <a:rPr lang="en-US" sz="2600" b="1" dirty="0">
                <a:solidFill>
                  <a:srgbClr val="1B2B2E"/>
                </a:solidFill>
                <a:latin typeface="Cambria" pitchFamily="34" charset="0"/>
                <a:ea typeface="Cambria" pitchFamily="34" charset="-122"/>
                <a:cs typeface="Cambria" pitchFamily="34" charset="-120"/>
              </a:rPr>
              <a:t>Corrige un error de tipeo en un mensaje de log</a:t>
            </a:r>
            <a:endParaRPr lang="en-US" sz="2600" dirty="0"/>
          </a:p>
        </p:txBody>
      </p:sp>
      <p:sp>
        <p:nvSpPr>
          <p:cNvPr id="4" name="Shape 2"/>
          <p:cNvSpPr/>
          <p:nvPr/>
        </p:nvSpPr>
        <p:spPr>
          <a:xfrm>
            <a:off x="548640" y="1920240"/>
            <a:ext cx="11064240" cy="1600200"/>
          </a:xfrm>
          <a:prstGeom prst="roundRect">
            <a:avLst>
              <a:gd name="adj" fmla="val 6857"/>
            </a:avLst>
          </a:prstGeom>
          <a:solidFill>
            <a:srgbClr val="1B2B2E"/>
          </a:solidFill>
          <a:ln/>
        </p:spPr>
      </p:sp>
      <p:sp>
        <p:nvSpPr>
          <p:cNvPr id="5" name="Text 3"/>
          <p:cNvSpPr txBox="1"/>
          <p:nvPr/>
        </p:nvSpPr>
        <p:spPr>
          <a:xfrm>
            <a:off x="822960" y="2103120"/>
            <a:ext cx="10515600" cy="1234440"/>
          </a:xfrm>
          <a:prstGeom prst="rect">
            <a:avLst/>
          </a:prstGeom>
          <a:noFill/>
          <a:ln/>
        </p:spPr>
        <p:txBody>
          <a:bodyPr wrap="square" rtlCol="0" anchor="ctr"/>
          <a:lstStyle/>
          <a:p>
            <a:pPr indent="0" marL="0">
              <a:buNone/>
            </a:pPr>
            <a:r>
              <a:rPr lang="en-US" sz="1550" dirty="0">
                <a:solidFill>
                  <a:srgbClr val="02C39A"/>
                </a:solidFill>
                <a:latin typeface="Consolas" pitchFamily="34" charset="0"/>
                <a:ea typeface="Consolas" pitchFamily="34" charset="-122"/>
                <a:cs typeface="Consolas" pitchFamily="34" charset="-120"/>
              </a:rPr>
              <a:t>- logger.info("Modeo entrenado correctamente")</a:t>
            </a:r>
            <a:endParaRPr lang="en-US" sz="1550" dirty="0"/>
          </a:p>
          <a:p>
            <a:pPr indent="0" marL="0">
              <a:buNone/>
            </a:pPr>
            <a:r>
              <a:rPr lang="en-US" sz="1550" dirty="0">
                <a:solidFill>
                  <a:srgbClr val="02C39A"/>
                </a:solidFill>
                <a:latin typeface="Consolas" pitchFamily="34" charset="0"/>
                <a:ea typeface="Consolas" pitchFamily="34" charset="-122"/>
                <a:cs typeface="Consolas" pitchFamily="34" charset="-120"/>
              </a:rPr>
              <a:t>+ logger.info("Modelo entrenado correctamente")</a:t>
            </a:r>
            <a:endParaRPr lang="en-US" sz="1550" dirty="0"/>
          </a:p>
        </p:txBody>
      </p:sp>
      <p:sp>
        <p:nvSpPr>
          <p:cNvPr id="6" name="Text 4"/>
          <p:cNvSpPr txBox="1"/>
          <p:nvPr/>
        </p:nvSpPr>
        <p:spPr>
          <a:xfrm>
            <a:off x="548640" y="3657600"/>
            <a:ext cx="11064240" cy="548640"/>
          </a:xfrm>
          <a:prstGeom prst="rect">
            <a:avLst/>
          </a:prstGeom>
          <a:noFill/>
          <a:ln/>
        </p:spPr>
        <p:txBody>
          <a:bodyPr wrap="square" rtlCol="0" anchor="ctr"/>
          <a:lstStyle/>
          <a:p>
            <a:pPr indent="0" marL="0">
              <a:buNone/>
            </a:pPr>
            <a:r>
              <a:rPr lang="en-US" sz="1350" i="1" dirty="0">
                <a:solidFill>
                  <a:srgbClr val="5C7A7D"/>
                </a:solidFill>
                <a:latin typeface="Calibri" pitchFamily="34" charset="0"/>
                <a:ea typeface="Calibri" pitchFamily="34" charset="-122"/>
                <a:cs typeface="Calibri" pitchFamily="34" charset="-120"/>
              </a:rPr>
              <a:t>No cambia ninguna interfaz, ningún parámetro, ningún resultado.</a:t>
            </a:r>
            <a:endParaRPr lang="en-US" sz="1350" dirty="0"/>
          </a:p>
        </p:txBody>
      </p:sp>
      <p:sp>
        <p:nvSpPr>
          <p:cNvPr id="7" name="Text 5"/>
          <p:cNvSpPr txBox="1"/>
          <p:nvPr/>
        </p:nvSpPr>
        <p:spPr>
          <a:xfrm>
            <a:off x="548640" y="4434840"/>
            <a:ext cx="11064240" cy="548640"/>
          </a:xfrm>
          <a:prstGeom prst="rect">
            <a:avLst/>
          </a:prstGeom>
          <a:noFill/>
          <a:ln/>
        </p:spPr>
        <p:txBody>
          <a:bodyPr wrap="square" rtlCol="0" anchor="ctr"/>
          <a:lstStyle/>
          <a:p>
            <a:pPr algn="ctr" indent="0" marL="0">
              <a:buNone/>
            </a:pPr>
            <a:r>
              <a:rPr lang="en-US" sz="2200" b="1" dirty="0">
                <a:solidFill>
                  <a:srgbClr val="028090"/>
                </a:solidFill>
                <a:latin typeface="Cambria" pitchFamily="34" charset="0"/>
                <a:ea typeface="Cambria" pitchFamily="34" charset="-122"/>
                <a:cs typeface="Cambria" pitchFamily="34" charset="-120"/>
              </a:rPr>
              <a:t>¿MAJOR, MINOR o PATCH?</a:t>
            </a:r>
            <a:endParaRPr lang="en-US" sz="2200" dirty="0"/>
          </a:p>
        </p:txBody>
      </p:sp>
      <p:sp>
        <p:nvSpPr>
          <p:cNvPr id="8" name="Shape 6"/>
          <p:cNvSpPr/>
          <p:nvPr/>
        </p:nvSpPr>
        <p:spPr>
          <a:xfrm>
            <a:off x="914400" y="5166360"/>
            <a:ext cx="3200400" cy="1051560"/>
          </a:xfrm>
          <a:prstGeom prst="roundRect">
            <a:avLst>
              <a:gd name="adj" fmla="val 10435"/>
            </a:avLst>
          </a:prstGeom>
          <a:solidFill>
            <a:srgbClr val="EFF7F6"/>
          </a:solidFill>
          <a:ln w="25400">
            <a:solidFill>
              <a:srgbClr val="D7263D"/>
            </a:solidFill>
            <a:prstDash val="solid"/>
          </a:ln>
        </p:spPr>
      </p:sp>
      <p:sp>
        <p:nvSpPr>
          <p:cNvPr id="9" name="Text 7"/>
          <p:cNvSpPr txBox="1"/>
          <p:nvPr/>
        </p:nvSpPr>
        <p:spPr>
          <a:xfrm>
            <a:off x="914400" y="5166360"/>
            <a:ext cx="3200400" cy="1051560"/>
          </a:xfrm>
          <a:prstGeom prst="rect">
            <a:avLst/>
          </a:prstGeom>
          <a:noFill/>
          <a:ln/>
        </p:spPr>
        <p:txBody>
          <a:bodyPr wrap="square" rtlCol="0" anchor="ctr"/>
          <a:lstStyle/>
          <a:p>
            <a:pPr algn="ctr" indent="0" marL="0">
              <a:buNone/>
            </a:pPr>
            <a:r>
              <a:rPr lang="en-US" sz="2400" b="1" dirty="0">
                <a:solidFill>
                  <a:srgbClr val="D7263D"/>
                </a:solidFill>
                <a:latin typeface="Cambria" pitchFamily="34" charset="0"/>
                <a:ea typeface="Cambria" pitchFamily="34" charset="-122"/>
                <a:cs typeface="Cambria" pitchFamily="34" charset="-120"/>
              </a:rPr>
              <a:t>MAJOR</a:t>
            </a:r>
            <a:endParaRPr lang="en-US" sz="2400" dirty="0"/>
          </a:p>
        </p:txBody>
      </p:sp>
      <p:sp>
        <p:nvSpPr>
          <p:cNvPr id="10" name="Shape 8"/>
          <p:cNvSpPr/>
          <p:nvPr/>
        </p:nvSpPr>
        <p:spPr>
          <a:xfrm>
            <a:off x="4480560" y="5166360"/>
            <a:ext cx="3200400" cy="1051560"/>
          </a:xfrm>
          <a:prstGeom prst="roundRect">
            <a:avLst>
              <a:gd name="adj" fmla="val 10435"/>
            </a:avLst>
          </a:prstGeom>
          <a:solidFill>
            <a:srgbClr val="EFF7F6"/>
          </a:solidFill>
          <a:ln w="25400">
            <a:solidFill>
              <a:srgbClr val="028090"/>
            </a:solidFill>
            <a:prstDash val="solid"/>
          </a:ln>
        </p:spPr>
      </p:sp>
      <p:sp>
        <p:nvSpPr>
          <p:cNvPr id="11" name="Text 9"/>
          <p:cNvSpPr txBox="1"/>
          <p:nvPr/>
        </p:nvSpPr>
        <p:spPr>
          <a:xfrm>
            <a:off x="4480560" y="5166360"/>
            <a:ext cx="3200400" cy="1051560"/>
          </a:xfrm>
          <a:prstGeom prst="rect">
            <a:avLst/>
          </a:prstGeom>
          <a:noFill/>
          <a:ln/>
        </p:spPr>
        <p:txBody>
          <a:bodyPr wrap="square" rtlCol="0" anchor="ctr"/>
          <a:lstStyle/>
          <a:p>
            <a:pPr algn="ctr" indent="0" marL="0">
              <a:buNone/>
            </a:pPr>
            <a:r>
              <a:rPr lang="en-US" sz="2400" b="1" dirty="0">
                <a:solidFill>
                  <a:srgbClr val="028090"/>
                </a:solidFill>
                <a:latin typeface="Cambria" pitchFamily="34" charset="0"/>
                <a:ea typeface="Cambria" pitchFamily="34" charset="-122"/>
                <a:cs typeface="Cambria" pitchFamily="34" charset="-120"/>
              </a:rPr>
              <a:t>MINOR</a:t>
            </a:r>
            <a:endParaRPr lang="en-US" sz="2400" dirty="0"/>
          </a:p>
        </p:txBody>
      </p:sp>
      <p:sp>
        <p:nvSpPr>
          <p:cNvPr id="12" name="Shape 10"/>
          <p:cNvSpPr/>
          <p:nvPr/>
        </p:nvSpPr>
        <p:spPr>
          <a:xfrm>
            <a:off x="8046720" y="5166360"/>
            <a:ext cx="3200400" cy="1051560"/>
          </a:xfrm>
          <a:prstGeom prst="roundRect">
            <a:avLst>
              <a:gd name="adj" fmla="val 10435"/>
            </a:avLst>
          </a:prstGeom>
          <a:solidFill>
            <a:srgbClr val="EFF7F6"/>
          </a:solidFill>
          <a:ln w="25400">
            <a:solidFill>
              <a:srgbClr val="02C39A"/>
            </a:solidFill>
            <a:prstDash val="solid"/>
          </a:ln>
        </p:spPr>
      </p:sp>
      <p:sp>
        <p:nvSpPr>
          <p:cNvPr id="13" name="Text 11"/>
          <p:cNvSpPr txBox="1"/>
          <p:nvPr/>
        </p:nvSpPr>
        <p:spPr>
          <a:xfrm>
            <a:off x="8046720" y="5166360"/>
            <a:ext cx="3200400" cy="1051560"/>
          </a:xfrm>
          <a:prstGeom prst="rect">
            <a:avLst/>
          </a:prstGeom>
          <a:noFill/>
          <a:ln/>
        </p:spPr>
        <p:txBody>
          <a:bodyPr wrap="square" rtlCol="0" anchor="ctr"/>
          <a:lstStyle/>
          <a:p>
            <a:pPr algn="ctr" indent="0" marL="0">
              <a:buNone/>
            </a:pPr>
            <a:r>
              <a:rPr lang="en-US" sz="2400" b="1" dirty="0">
                <a:solidFill>
                  <a:srgbClr val="02C39A"/>
                </a:solidFill>
                <a:latin typeface="Cambria" pitchFamily="34" charset="0"/>
                <a:ea typeface="Cambria" pitchFamily="34" charset="-122"/>
                <a:cs typeface="Cambria" pitchFamily="34" charset="-120"/>
              </a:rPr>
              <a:t>PATCH</a:t>
            </a:r>
            <a:endParaRPr lang="en-US" sz="2400" dirty="0"/>
          </a:p>
        </p:txBody>
      </p:sp>
      <p:sp>
        <p:nvSpPr>
          <p:cNvPr id="14" name="Text 12"/>
          <p:cNvSpPr txBox="1"/>
          <p:nvPr/>
        </p:nvSpPr>
        <p:spPr>
          <a:xfrm>
            <a:off x="11155680" y="6473952"/>
            <a:ext cx="822960" cy="274320"/>
          </a:xfrm>
          <a:prstGeom prst="rect">
            <a:avLst/>
          </a:prstGeom>
          <a:noFill/>
          <a:ln/>
        </p:spPr>
        <p:txBody>
          <a:bodyPr wrap="square" rtlCol="0" anchor="ctr"/>
          <a:lstStyle/>
          <a:p>
            <a:pPr algn="r" indent="0" marL="0">
              <a:buNone/>
            </a:pPr>
            <a:r>
              <a:rPr lang="en-US" sz="1000" dirty="0">
                <a:solidFill>
                  <a:srgbClr val="5C7A7D"/>
                </a:solidFill>
                <a:latin typeface="Calibri" pitchFamily="34" charset="0"/>
                <a:ea typeface="Calibri" pitchFamily="34" charset="-122"/>
                <a:cs typeface="Calibri" pitchFamily="34" charset="-120"/>
              </a:rPr>
              <a:t>10 / 19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8229600" cy="292608"/>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CASO 3 DE 6 · RESPUESTA</a:t>
            </a:r>
            <a:endParaRPr lang="en-US" sz="1200" dirty="0"/>
          </a:p>
        </p:txBody>
      </p:sp>
      <p:sp>
        <p:nvSpPr>
          <p:cNvPr id="3" name="Text 1"/>
          <p:cNvSpPr txBox="1"/>
          <p:nvPr/>
        </p:nvSpPr>
        <p:spPr>
          <a:xfrm>
            <a:off x="548640" y="411480"/>
            <a:ext cx="7863840" cy="914400"/>
          </a:xfrm>
          <a:prstGeom prst="rect">
            <a:avLst/>
          </a:prstGeom>
          <a:noFill/>
          <a:ln/>
        </p:spPr>
        <p:txBody>
          <a:bodyPr wrap="square" rtlCol="0" anchor="ctr"/>
          <a:lstStyle/>
          <a:p>
            <a:pPr algn="l" indent="0" marL="0">
              <a:buNone/>
            </a:pPr>
            <a:r>
              <a:rPr lang="en-US" sz="2400" b="1" dirty="0">
                <a:solidFill>
                  <a:srgbClr val="1B2B2E"/>
                </a:solidFill>
                <a:latin typeface="Cambria" pitchFamily="34" charset="0"/>
                <a:ea typeface="Cambria" pitchFamily="34" charset="-122"/>
                <a:cs typeface="Cambria" pitchFamily="34" charset="-120"/>
              </a:rPr>
              <a:t>Corrige un error de tipeo en un mensaje de log</a:t>
            </a:r>
            <a:endParaRPr lang="en-US" sz="2400" dirty="0"/>
          </a:p>
        </p:txBody>
      </p:sp>
      <p:sp>
        <p:nvSpPr>
          <p:cNvPr id="4" name="Shape 2"/>
          <p:cNvSpPr/>
          <p:nvPr/>
        </p:nvSpPr>
        <p:spPr>
          <a:xfrm>
            <a:off x="8778240" y="438912"/>
            <a:ext cx="2834640" cy="868680"/>
          </a:xfrm>
          <a:prstGeom prst="roundRect">
            <a:avLst>
              <a:gd name="adj" fmla="val 12632"/>
            </a:avLst>
          </a:prstGeom>
          <a:solidFill>
            <a:srgbClr val="02C39A"/>
          </a:solidFill>
          <a:ln/>
        </p:spPr>
      </p:sp>
      <p:sp>
        <p:nvSpPr>
          <p:cNvPr id="5" name="Text 3"/>
          <p:cNvSpPr txBox="1"/>
          <p:nvPr/>
        </p:nvSpPr>
        <p:spPr>
          <a:xfrm>
            <a:off x="8778240" y="438912"/>
            <a:ext cx="2834640" cy="868680"/>
          </a:xfrm>
          <a:prstGeom prst="rect">
            <a:avLst/>
          </a:prstGeom>
          <a:noFill/>
          <a:ln/>
        </p:spPr>
        <p:txBody>
          <a:bodyPr wrap="square"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PATCH</a:t>
            </a:r>
            <a:endParaRPr lang="en-US" sz="2400" dirty="0"/>
          </a:p>
        </p:txBody>
      </p:sp>
      <p:sp>
        <p:nvSpPr>
          <p:cNvPr id="6" name="Shape 4"/>
          <p:cNvSpPr/>
          <p:nvPr/>
        </p:nvSpPr>
        <p:spPr>
          <a:xfrm>
            <a:off x="548640" y="1508760"/>
            <a:ext cx="11064240" cy="1417320"/>
          </a:xfrm>
          <a:prstGeom prst="roundRect">
            <a:avLst>
              <a:gd name="adj" fmla="val 7742"/>
            </a:avLst>
          </a:prstGeom>
          <a:solidFill>
            <a:srgbClr val="1B2B2E"/>
          </a:solidFill>
          <a:ln/>
        </p:spPr>
      </p:sp>
      <p:sp>
        <p:nvSpPr>
          <p:cNvPr id="7" name="Text 5"/>
          <p:cNvSpPr txBox="1"/>
          <p:nvPr/>
        </p:nvSpPr>
        <p:spPr>
          <a:xfrm>
            <a:off x="822960" y="1645920"/>
            <a:ext cx="10515600" cy="1143000"/>
          </a:xfrm>
          <a:prstGeom prst="rect">
            <a:avLst/>
          </a:prstGeom>
          <a:noFill/>
          <a:ln/>
        </p:spPr>
        <p:txBody>
          <a:bodyPr wrap="square" rtlCol="0" anchor="ctr"/>
          <a:lstStyle/>
          <a:p>
            <a:pPr indent="0" marL="0">
              <a:buNone/>
            </a:pPr>
            <a:r>
              <a:rPr lang="en-US" sz="1450" dirty="0">
                <a:solidFill>
                  <a:srgbClr val="02C39A"/>
                </a:solidFill>
                <a:latin typeface="Consolas" pitchFamily="34" charset="0"/>
                <a:ea typeface="Consolas" pitchFamily="34" charset="-122"/>
                <a:cs typeface="Consolas" pitchFamily="34" charset="-120"/>
              </a:rPr>
              <a:t>- logger.info("Modeo entrenado correctamente")</a:t>
            </a:r>
            <a:endParaRPr lang="en-US" sz="1450" dirty="0"/>
          </a:p>
          <a:p>
            <a:pPr indent="0" marL="0">
              <a:buNone/>
            </a:pPr>
            <a:r>
              <a:rPr lang="en-US" sz="1450" dirty="0">
                <a:solidFill>
                  <a:srgbClr val="02C39A"/>
                </a:solidFill>
                <a:latin typeface="Consolas" pitchFamily="34" charset="0"/>
                <a:ea typeface="Consolas" pitchFamily="34" charset="-122"/>
                <a:cs typeface="Consolas" pitchFamily="34" charset="-120"/>
              </a:rPr>
              <a:t>+ logger.info("Modelo entrenado correctamente")</a:t>
            </a:r>
            <a:endParaRPr lang="en-US" sz="1450" dirty="0"/>
          </a:p>
        </p:txBody>
      </p:sp>
      <p:sp>
        <p:nvSpPr>
          <p:cNvPr id="8" name="Shape 6"/>
          <p:cNvSpPr/>
          <p:nvPr/>
        </p:nvSpPr>
        <p:spPr>
          <a:xfrm>
            <a:off x="548640" y="3154680"/>
            <a:ext cx="11064240" cy="1417320"/>
          </a:xfrm>
          <a:prstGeom prst="roundRect">
            <a:avLst>
              <a:gd name="adj" fmla="val 7742"/>
            </a:avLst>
          </a:prstGeom>
          <a:solidFill>
            <a:srgbClr val="EFF7F6"/>
          </a:solidFill>
          <a:ln w="19050">
            <a:solidFill>
              <a:srgbClr val="02C39A"/>
            </a:solidFill>
            <a:prstDash val="solid"/>
          </a:ln>
        </p:spPr>
      </p:sp>
      <p:sp>
        <p:nvSpPr>
          <p:cNvPr id="9" name="Text 7"/>
          <p:cNvSpPr txBox="1"/>
          <p:nvPr/>
        </p:nvSpPr>
        <p:spPr>
          <a:xfrm>
            <a:off x="822960" y="3291840"/>
            <a:ext cx="10515600" cy="320040"/>
          </a:xfrm>
          <a:prstGeom prst="rect">
            <a:avLst/>
          </a:prstGeom>
          <a:noFill/>
          <a:ln/>
        </p:spPr>
        <p:txBody>
          <a:bodyPr wrap="square" rtlCol="0" anchor="ctr"/>
          <a:lstStyle/>
          <a:p>
            <a:pPr indent="0" marL="0">
              <a:buNone/>
            </a:pPr>
            <a:r>
              <a:rPr lang="en-US" sz="1200" b="1" spc="150" kern="0" dirty="0">
                <a:solidFill>
                  <a:srgbClr val="02C39A"/>
                </a:solidFill>
                <a:latin typeface="Calibri" pitchFamily="34" charset="0"/>
                <a:ea typeface="Calibri" pitchFamily="34" charset="-122"/>
                <a:cs typeface="Calibri" pitchFamily="34" charset="-120"/>
              </a:rPr>
              <a:t>¿POR QUÉ?</a:t>
            </a:r>
            <a:endParaRPr lang="en-US" sz="1200" dirty="0"/>
          </a:p>
        </p:txBody>
      </p:sp>
      <p:sp>
        <p:nvSpPr>
          <p:cNvPr id="10" name="Text 8"/>
          <p:cNvSpPr txBox="1"/>
          <p:nvPr/>
        </p:nvSpPr>
        <p:spPr>
          <a:xfrm>
            <a:off x="822960" y="3611880"/>
            <a:ext cx="10515600" cy="868680"/>
          </a:xfrm>
          <a:prstGeom prst="rect">
            <a:avLst/>
          </a:prstGeom>
          <a:noFill/>
          <a:ln/>
        </p:spPr>
        <p:txBody>
          <a:bodyPr wrap="square" rtlCol="0" anchor="ctr"/>
          <a:lstStyle/>
          <a:p>
            <a:pPr indent="0" marL="0">
              <a:buNone/>
            </a:pPr>
            <a:r>
              <a:rPr lang="en-US" sz="1500" dirty="0">
                <a:solidFill>
                  <a:srgbClr val="1B2B2E"/>
                </a:solidFill>
                <a:latin typeface="Calibri" pitchFamily="34" charset="0"/>
                <a:ea typeface="Calibri" pitchFamily="34" charset="-122"/>
                <a:cs typeface="Calibri" pitchFamily="34" charset="-120"/>
              </a:rPr>
              <a:t>No cambia ninguna función, ningún parámetro, ningún resultado. Es una corrección pura, invisible para cualquier integración. El caso más claro de los seis.</a:t>
            </a:r>
            <a:endParaRPr lang="en-US" sz="1500" dirty="0"/>
          </a:p>
        </p:txBody>
      </p:sp>
      <p:sp>
        <p:nvSpPr>
          <p:cNvPr id="11" name="Shape 9"/>
          <p:cNvSpPr/>
          <p:nvPr/>
        </p:nvSpPr>
        <p:spPr>
          <a:xfrm>
            <a:off x="548640" y="4800600"/>
            <a:ext cx="11064240" cy="1417320"/>
          </a:xfrm>
          <a:prstGeom prst="roundRect">
            <a:avLst>
              <a:gd name="adj" fmla="val 7742"/>
            </a:avLst>
          </a:prstGeom>
          <a:solidFill>
            <a:srgbClr val="0B3D42"/>
          </a:solidFill>
          <a:ln/>
        </p:spPr>
      </p:sp>
      <p:sp>
        <p:nvSpPr>
          <p:cNvPr id="12" name="Text 10"/>
          <p:cNvSpPr txBox="1"/>
          <p:nvPr/>
        </p:nvSpPr>
        <p:spPr>
          <a:xfrm>
            <a:off x="822960" y="4937760"/>
            <a:ext cx="10515600" cy="320040"/>
          </a:xfrm>
          <a:prstGeom prst="rect">
            <a:avLst/>
          </a:prstGeom>
          <a:noFill/>
          <a:ln/>
        </p:spPr>
        <p:txBody>
          <a:bodyPr wrap="square" rtlCol="0" anchor="ctr"/>
          <a:lstStyle/>
          <a:p>
            <a:pPr indent="0" marL="0">
              <a:buNone/>
            </a:pPr>
            <a:r>
              <a:rPr lang="en-US" sz="1150" b="1" spc="100" kern="0" dirty="0">
                <a:solidFill>
                  <a:srgbClr val="02C39A"/>
                </a:solidFill>
                <a:latin typeface="Calibri" pitchFamily="34" charset="0"/>
                <a:ea typeface="Calibri" pitchFamily="34" charset="-122"/>
                <a:cs typeface="Calibri" pitchFamily="34" charset="-120"/>
              </a:rPr>
              <a:t>SI TU EQUIPO VOTÓ DISTINTO...</a:t>
            </a:r>
            <a:endParaRPr lang="en-US" sz="1150" dirty="0"/>
          </a:p>
        </p:txBody>
      </p:sp>
      <p:sp>
        <p:nvSpPr>
          <p:cNvPr id="13" name="Text 11"/>
          <p:cNvSpPr txBox="1"/>
          <p:nvPr/>
        </p:nvSpPr>
        <p:spPr>
          <a:xfrm>
            <a:off x="822960" y="5257800"/>
            <a:ext cx="10515600" cy="868680"/>
          </a:xfrm>
          <a:prstGeom prst="rect">
            <a:avLst/>
          </a:prstGeom>
          <a:noFill/>
          <a:ln/>
        </p:spPr>
        <p:txBody>
          <a:bodyPr wrap="square" rtlCol="0" anchor="ctr"/>
          <a:lstStyle/>
          <a:p>
            <a:pPr indent="0" marL="0">
              <a:buNone/>
            </a:pPr>
            <a:r>
              <a:rPr lang="en-US" sz="1450" i="1" dirty="0">
                <a:solidFill>
                  <a:srgbClr val="F4FBFA"/>
                </a:solidFill>
                <a:latin typeface="Calibri" pitchFamily="34" charset="0"/>
                <a:ea typeface="Calibri" pitchFamily="34" charset="-122"/>
                <a:cs typeface="Calibri" pitchFamily="34" charset="-120"/>
              </a:rPr>
              <a:t>El equipo que dudó entre MINOR y PATCH: si nadie puede "romperse" por el cambio, casi siempre es PATCH.</a:t>
            </a:r>
            <a:endParaRPr lang="en-US" sz="1450" dirty="0"/>
          </a:p>
        </p:txBody>
      </p:sp>
      <p:sp>
        <p:nvSpPr>
          <p:cNvPr id="14" name="Text 12"/>
          <p:cNvSpPr txBox="1"/>
          <p:nvPr/>
        </p:nvSpPr>
        <p:spPr>
          <a:xfrm>
            <a:off x="11155680" y="6473952"/>
            <a:ext cx="822960" cy="274320"/>
          </a:xfrm>
          <a:prstGeom prst="rect">
            <a:avLst/>
          </a:prstGeom>
          <a:noFill/>
          <a:ln/>
        </p:spPr>
        <p:txBody>
          <a:bodyPr wrap="square" rtlCol="0" anchor="ctr"/>
          <a:lstStyle/>
          <a:p>
            <a:pPr algn="r" indent="0" marL="0">
              <a:buNone/>
            </a:pPr>
            <a:r>
              <a:rPr lang="en-US" sz="1000" dirty="0">
                <a:solidFill>
                  <a:srgbClr val="5C7A7D"/>
                </a:solidFill>
                <a:latin typeface="Calibri" pitchFamily="34" charset="0"/>
                <a:ea typeface="Calibri" pitchFamily="34" charset="-122"/>
                <a:cs typeface="Calibri" pitchFamily="34" charset="-120"/>
              </a:rPr>
              <a:t>11 / 19</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8229600" cy="292608"/>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CASO 4 DE 6</a:t>
            </a:r>
            <a:endParaRPr lang="en-US" sz="1200" dirty="0"/>
          </a:p>
        </p:txBody>
      </p:sp>
      <p:sp>
        <p:nvSpPr>
          <p:cNvPr id="3" name="Text 1"/>
          <p:cNvSpPr txBox="1"/>
          <p:nvPr/>
        </p:nvSpPr>
        <p:spPr>
          <a:xfrm>
            <a:off x="548640" y="411480"/>
            <a:ext cx="11064240" cy="1005840"/>
          </a:xfrm>
          <a:prstGeom prst="rect">
            <a:avLst/>
          </a:prstGeom>
          <a:noFill/>
          <a:ln/>
        </p:spPr>
        <p:txBody>
          <a:bodyPr wrap="square" rtlCol="0" anchor="ctr"/>
          <a:lstStyle/>
          <a:p>
            <a:pPr algn="l" indent="0" marL="0">
              <a:buNone/>
            </a:pPr>
            <a:r>
              <a:rPr lang="en-US" sz="2600" b="1" dirty="0">
                <a:solidFill>
                  <a:srgbClr val="1B2B2E"/>
                </a:solidFill>
                <a:latin typeface="Cambria" pitchFamily="34" charset="0"/>
                <a:ea typeface="Cambria" pitchFamily="34" charset="-122"/>
                <a:cs typeface="Cambria" pitchFamily="34" charset="-120"/>
              </a:rPr>
              <a:t>Cambia el valor por defecto de un parámetro existente</a:t>
            </a:r>
            <a:endParaRPr lang="en-US" sz="2600" dirty="0"/>
          </a:p>
        </p:txBody>
      </p:sp>
      <p:sp>
        <p:nvSpPr>
          <p:cNvPr id="4" name="Shape 2"/>
          <p:cNvSpPr/>
          <p:nvPr/>
        </p:nvSpPr>
        <p:spPr>
          <a:xfrm>
            <a:off x="548640" y="1920240"/>
            <a:ext cx="11064240" cy="1600200"/>
          </a:xfrm>
          <a:prstGeom prst="roundRect">
            <a:avLst>
              <a:gd name="adj" fmla="val 6857"/>
            </a:avLst>
          </a:prstGeom>
          <a:solidFill>
            <a:srgbClr val="1B2B2E"/>
          </a:solidFill>
          <a:ln/>
        </p:spPr>
      </p:sp>
      <p:sp>
        <p:nvSpPr>
          <p:cNvPr id="5" name="Text 3"/>
          <p:cNvSpPr txBox="1"/>
          <p:nvPr/>
        </p:nvSpPr>
        <p:spPr>
          <a:xfrm>
            <a:off x="822960" y="2103120"/>
            <a:ext cx="10515600" cy="1234440"/>
          </a:xfrm>
          <a:prstGeom prst="rect">
            <a:avLst/>
          </a:prstGeom>
          <a:noFill/>
          <a:ln/>
        </p:spPr>
        <p:txBody>
          <a:bodyPr wrap="square" rtlCol="0" anchor="ctr"/>
          <a:lstStyle/>
          <a:p>
            <a:pPr indent="0" marL="0">
              <a:buNone/>
            </a:pPr>
            <a:r>
              <a:rPr lang="en-US" sz="1550" dirty="0">
                <a:solidFill>
                  <a:srgbClr val="02C39A"/>
                </a:solidFill>
                <a:latin typeface="Consolas" pitchFamily="34" charset="0"/>
                <a:ea typeface="Consolas" pitchFamily="34" charset="-122"/>
                <a:cs typeface="Consolas" pitchFamily="34" charset="-120"/>
              </a:rPr>
              <a:t>  def train_test_split(X, y, test_size=0.2):</a:t>
            </a:r>
            <a:endParaRPr lang="en-US" sz="1550" dirty="0"/>
          </a:p>
          <a:p>
            <a:pPr indent="0" marL="0">
              <a:buNone/>
            </a:pPr>
            <a:r>
              <a:rPr lang="en-US" sz="1550" dirty="0">
                <a:solidFill>
                  <a:srgbClr val="02C39A"/>
                </a:solidFill>
                <a:latin typeface="Consolas" pitchFamily="34" charset="0"/>
                <a:ea typeface="Consolas" pitchFamily="34" charset="-122"/>
                <a:cs typeface="Consolas" pitchFamily="34" charset="-120"/>
              </a:rPr>
              <a:t>+     def train_test_split(X, y, test_size=0.3):</a:t>
            </a:r>
            <a:endParaRPr lang="en-US" sz="1550" dirty="0"/>
          </a:p>
          <a:p>
            <a:pPr indent="0" marL="0">
              <a:buNone/>
            </a:pPr>
            <a:r>
              <a:rPr lang="en-US" sz="1550" dirty="0">
                <a:solidFill>
                  <a:srgbClr val="02C39A"/>
                </a:solidFill>
                <a:latin typeface="Consolas" pitchFamily="34" charset="0"/>
                <a:ea typeface="Consolas" pitchFamily="34" charset="-122"/>
                <a:cs typeface="Consolas" pitchFamily="34" charset="-120"/>
              </a:rPr>
              <a:t>          ...</a:t>
            </a:r>
            <a:endParaRPr lang="en-US" sz="1550" dirty="0"/>
          </a:p>
        </p:txBody>
      </p:sp>
      <p:sp>
        <p:nvSpPr>
          <p:cNvPr id="6" name="Text 4"/>
          <p:cNvSpPr txBox="1"/>
          <p:nvPr/>
        </p:nvSpPr>
        <p:spPr>
          <a:xfrm>
            <a:off x="548640" y="3657600"/>
            <a:ext cx="11064240" cy="548640"/>
          </a:xfrm>
          <a:prstGeom prst="rect">
            <a:avLst/>
          </a:prstGeom>
          <a:noFill/>
          <a:ln/>
        </p:spPr>
        <p:txBody>
          <a:bodyPr wrap="square" rtlCol="0" anchor="ctr"/>
          <a:lstStyle/>
          <a:p>
            <a:pPr indent="0" marL="0">
              <a:buNone/>
            </a:pPr>
            <a:r>
              <a:rPr lang="en-US" sz="1350" i="1" dirty="0">
                <a:solidFill>
                  <a:srgbClr val="5C7A7D"/>
                </a:solidFill>
                <a:latin typeface="Calibri" pitchFamily="34" charset="0"/>
                <a:ea typeface="Calibri" pitchFamily="34" charset="-122"/>
                <a:cs typeface="Calibri" pitchFamily="34" charset="-120"/>
              </a:rPr>
              <a:t>El nombre del parámetro no cambió... pero el comportamiento por defecto sí.</a:t>
            </a:r>
            <a:endParaRPr lang="en-US" sz="1350" dirty="0"/>
          </a:p>
        </p:txBody>
      </p:sp>
      <p:sp>
        <p:nvSpPr>
          <p:cNvPr id="7" name="Text 5"/>
          <p:cNvSpPr txBox="1"/>
          <p:nvPr/>
        </p:nvSpPr>
        <p:spPr>
          <a:xfrm>
            <a:off x="548640" y="4434840"/>
            <a:ext cx="11064240" cy="548640"/>
          </a:xfrm>
          <a:prstGeom prst="rect">
            <a:avLst/>
          </a:prstGeom>
          <a:noFill/>
          <a:ln/>
        </p:spPr>
        <p:txBody>
          <a:bodyPr wrap="square" rtlCol="0" anchor="ctr"/>
          <a:lstStyle/>
          <a:p>
            <a:pPr algn="ctr" indent="0" marL="0">
              <a:buNone/>
            </a:pPr>
            <a:r>
              <a:rPr lang="en-US" sz="2200" b="1" dirty="0">
                <a:solidFill>
                  <a:srgbClr val="028090"/>
                </a:solidFill>
                <a:latin typeface="Cambria" pitchFamily="34" charset="0"/>
                <a:ea typeface="Cambria" pitchFamily="34" charset="-122"/>
                <a:cs typeface="Cambria" pitchFamily="34" charset="-120"/>
              </a:rPr>
              <a:t>¿MAJOR, MINOR o PATCH?</a:t>
            </a:r>
            <a:endParaRPr lang="en-US" sz="2200" dirty="0"/>
          </a:p>
        </p:txBody>
      </p:sp>
      <p:sp>
        <p:nvSpPr>
          <p:cNvPr id="8" name="Shape 6"/>
          <p:cNvSpPr/>
          <p:nvPr/>
        </p:nvSpPr>
        <p:spPr>
          <a:xfrm>
            <a:off x="914400" y="5166360"/>
            <a:ext cx="3200400" cy="1051560"/>
          </a:xfrm>
          <a:prstGeom prst="roundRect">
            <a:avLst>
              <a:gd name="adj" fmla="val 10435"/>
            </a:avLst>
          </a:prstGeom>
          <a:solidFill>
            <a:srgbClr val="EFF7F6"/>
          </a:solidFill>
          <a:ln w="25400">
            <a:solidFill>
              <a:srgbClr val="D7263D"/>
            </a:solidFill>
            <a:prstDash val="solid"/>
          </a:ln>
        </p:spPr>
      </p:sp>
      <p:sp>
        <p:nvSpPr>
          <p:cNvPr id="9" name="Text 7"/>
          <p:cNvSpPr txBox="1"/>
          <p:nvPr/>
        </p:nvSpPr>
        <p:spPr>
          <a:xfrm>
            <a:off x="914400" y="5166360"/>
            <a:ext cx="3200400" cy="1051560"/>
          </a:xfrm>
          <a:prstGeom prst="rect">
            <a:avLst/>
          </a:prstGeom>
          <a:noFill/>
          <a:ln/>
        </p:spPr>
        <p:txBody>
          <a:bodyPr wrap="square" rtlCol="0" anchor="ctr"/>
          <a:lstStyle/>
          <a:p>
            <a:pPr algn="ctr" indent="0" marL="0">
              <a:buNone/>
            </a:pPr>
            <a:r>
              <a:rPr lang="en-US" sz="2400" b="1" dirty="0">
                <a:solidFill>
                  <a:srgbClr val="D7263D"/>
                </a:solidFill>
                <a:latin typeface="Cambria" pitchFamily="34" charset="0"/>
                <a:ea typeface="Cambria" pitchFamily="34" charset="-122"/>
                <a:cs typeface="Cambria" pitchFamily="34" charset="-120"/>
              </a:rPr>
              <a:t>MAJOR</a:t>
            </a:r>
            <a:endParaRPr lang="en-US" sz="2400" dirty="0"/>
          </a:p>
        </p:txBody>
      </p:sp>
      <p:sp>
        <p:nvSpPr>
          <p:cNvPr id="10" name="Shape 8"/>
          <p:cNvSpPr/>
          <p:nvPr/>
        </p:nvSpPr>
        <p:spPr>
          <a:xfrm>
            <a:off x="4480560" y="5166360"/>
            <a:ext cx="3200400" cy="1051560"/>
          </a:xfrm>
          <a:prstGeom prst="roundRect">
            <a:avLst>
              <a:gd name="adj" fmla="val 10435"/>
            </a:avLst>
          </a:prstGeom>
          <a:solidFill>
            <a:srgbClr val="EFF7F6"/>
          </a:solidFill>
          <a:ln w="25400">
            <a:solidFill>
              <a:srgbClr val="028090"/>
            </a:solidFill>
            <a:prstDash val="solid"/>
          </a:ln>
        </p:spPr>
      </p:sp>
      <p:sp>
        <p:nvSpPr>
          <p:cNvPr id="11" name="Text 9"/>
          <p:cNvSpPr txBox="1"/>
          <p:nvPr/>
        </p:nvSpPr>
        <p:spPr>
          <a:xfrm>
            <a:off x="4480560" y="5166360"/>
            <a:ext cx="3200400" cy="1051560"/>
          </a:xfrm>
          <a:prstGeom prst="rect">
            <a:avLst/>
          </a:prstGeom>
          <a:noFill/>
          <a:ln/>
        </p:spPr>
        <p:txBody>
          <a:bodyPr wrap="square" rtlCol="0" anchor="ctr"/>
          <a:lstStyle/>
          <a:p>
            <a:pPr algn="ctr" indent="0" marL="0">
              <a:buNone/>
            </a:pPr>
            <a:r>
              <a:rPr lang="en-US" sz="2400" b="1" dirty="0">
                <a:solidFill>
                  <a:srgbClr val="028090"/>
                </a:solidFill>
                <a:latin typeface="Cambria" pitchFamily="34" charset="0"/>
                <a:ea typeface="Cambria" pitchFamily="34" charset="-122"/>
                <a:cs typeface="Cambria" pitchFamily="34" charset="-120"/>
              </a:rPr>
              <a:t>MINOR</a:t>
            </a:r>
            <a:endParaRPr lang="en-US" sz="2400" dirty="0"/>
          </a:p>
        </p:txBody>
      </p:sp>
      <p:sp>
        <p:nvSpPr>
          <p:cNvPr id="12" name="Shape 10"/>
          <p:cNvSpPr/>
          <p:nvPr/>
        </p:nvSpPr>
        <p:spPr>
          <a:xfrm>
            <a:off x="8046720" y="5166360"/>
            <a:ext cx="3200400" cy="1051560"/>
          </a:xfrm>
          <a:prstGeom prst="roundRect">
            <a:avLst>
              <a:gd name="adj" fmla="val 10435"/>
            </a:avLst>
          </a:prstGeom>
          <a:solidFill>
            <a:srgbClr val="EFF7F6"/>
          </a:solidFill>
          <a:ln w="25400">
            <a:solidFill>
              <a:srgbClr val="02C39A"/>
            </a:solidFill>
            <a:prstDash val="solid"/>
          </a:ln>
        </p:spPr>
      </p:sp>
      <p:sp>
        <p:nvSpPr>
          <p:cNvPr id="13" name="Text 11"/>
          <p:cNvSpPr txBox="1"/>
          <p:nvPr/>
        </p:nvSpPr>
        <p:spPr>
          <a:xfrm>
            <a:off x="8046720" y="5166360"/>
            <a:ext cx="3200400" cy="1051560"/>
          </a:xfrm>
          <a:prstGeom prst="rect">
            <a:avLst/>
          </a:prstGeom>
          <a:noFill/>
          <a:ln/>
        </p:spPr>
        <p:txBody>
          <a:bodyPr wrap="square" rtlCol="0" anchor="ctr"/>
          <a:lstStyle/>
          <a:p>
            <a:pPr algn="ctr" indent="0" marL="0">
              <a:buNone/>
            </a:pPr>
            <a:r>
              <a:rPr lang="en-US" sz="2400" b="1" dirty="0">
                <a:solidFill>
                  <a:srgbClr val="02C39A"/>
                </a:solidFill>
                <a:latin typeface="Cambria" pitchFamily="34" charset="0"/>
                <a:ea typeface="Cambria" pitchFamily="34" charset="-122"/>
                <a:cs typeface="Cambria" pitchFamily="34" charset="-120"/>
              </a:rPr>
              <a:t>PATCH</a:t>
            </a:r>
            <a:endParaRPr lang="en-US" sz="2400" dirty="0"/>
          </a:p>
        </p:txBody>
      </p:sp>
      <p:sp>
        <p:nvSpPr>
          <p:cNvPr id="14" name="Text 12"/>
          <p:cNvSpPr txBox="1"/>
          <p:nvPr/>
        </p:nvSpPr>
        <p:spPr>
          <a:xfrm>
            <a:off x="11155680" y="6473952"/>
            <a:ext cx="822960" cy="274320"/>
          </a:xfrm>
          <a:prstGeom prst="rect">
            <a:avLst/>
          </a:prstGeom>
          <a:noFill/>
          <a:ln/>
        </p:spPr>
        <p:txBody>
          <a:bodyPr wrap="square" rtlCol="0" anchor="ctr"/>
          <a:lstStyle/>
          <a:p>
            <a:pPr algn="r" indent="0" marL="0">
              <a:buNone/>
            </a:pPr>
            <a:r>
              <a:rPr lang="en-US" sz="1000" dirty="0">
                <a:solidFill>
                  <a:srgbClr val="5C7A7D"/>
                </a:solidFill>
                <a:latin typeface="Calibri" pitchFamily="34" charset="0"/>
                <a:ea typeface="Calibri" pitchFamily="34" charset="-122"/>
                <a:cs typeface="Calibri" pitchFamily="34" charset="-120"/>
              </a:rPr>
              <a:t>12 / 19</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8229600" cy="292608"/>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CASO 4 DE 6 · RESPUESTA</a:t>
            </a:r>
            <a:endParaRPr lang="en-US" sz="1200" dirty="0"/>
          </a:p>
        </p:txBody>
      </p:sp>
      <p:sp>
        <p:nvSpPr>
          <p:cNvPr id="3" name="Text 1"/>
          <p:cNvSpPr txBox="1"/>
          <p:nvPr/>
        </p:nvSpPr>
        <p:spPr>
          <a:xfrm>
            <a:off x="548640" y="411480"/>
            <a:ext cx="7863840" cy="914400"/>
          </a:xfrm>
          <a:prstGeom prst="rect">
            <a:avLst/>
          </a:prstGeom>
          <a:noFill/>
          <a:ln/>
        </p:spPr>
        <p:txBody>
          <a:bodyPr wrap="square" rtlCol="0" anchor="ctr"/>
          <a:lstStyle/>
          <a:p>
            <a:pPr algn="l" indent="0" marL="0">
              <a:buNone/>
            </a:pPr>
            <a:r>
              <a:rPr lang="en-US" sz="2400" b="1" dirty="0">
                <a:solidFill>
                  <a:srgbClr val="1B2B2E"/>
                </a:solidFill>
                <a:latin typeface="Cambria" pitchFamily="34" charset="0"/>
                <a:ea typeface="Cambria" pitchFamily="34" charset="-122"/>
                <a:cs typeface="Cambria" pitchFamily="34" charset="-120"/>
              </a:rPr>
              <a:t>Cambia el valor por defecto de un parámetro existente</a:t>
            </a:r>
            <a:endParaRPr lang="en-US" sz="2400" dirty="0"/>
          </a:p>
        </p:txBody>
      </p:sp>
      <p:sp>
        <p:nvSpPr>
          <p:cNvPr id="4" name="Shape 2"/>
          <p:cNvSpPr/>
          <p:nvPr/>
        </p:nvSpPr>
        <p:spPr>
          <a:xfrm>
            <a:off x="8778240" y="438912"/>
            <a:ext cx="2834640" cy="868680"/>
          </a:xfrm>
          <a:prstGeom prst="roundRect">
            <a:avLst>
              <a:gd name="adj" fmla="val 12632"/>
            </a:avLst>
          </a:prstGeom>
          <a:solidFill>
            <a:srgbClr val="D7263D"/>
          </a:solidFill>
          <a:ln/>
        </p:spPr>
      </p:sp>
      <p:sp>
        <p:nvSpPr>
          <p:cNvPr id="5" name="Text 3"/>
          <p:cNvSpPr txBox="1"/>
          <p:nvPr/>
        </p:nvSpPr>
        <p:spPr>
          <a:xfrm>
            <a:off x="8778240" y="438912"/>
            <a:ext cx="2834640" cy="868680"/>
          </a:xfrm>
          <a:prstGeom prst="rect">
            <a:avLst/>
          </a:prstGeom>
          <a:noFill/>
          <a:ln/>
        </p:spPr>
        <p:txBody>
          <a:bodyPr wrap="square"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MAJOR</a:t>
            </a:r>
            <a:endParaRPr lang="en-US" sz="2400" dirty="0"/>
          </a:p>
        </p:txBody>
      </p:sp>
      <p:sp>
        <p:nvSpPr>
          <p:cNvPr id="6" name="Shape 4"/>
          <p:cNvSpPr/>
          <p:nvPr/>
        </p:nvSpPr>
        <p:spPr>
          <a:xfrm>
            <a:off x="548640" y="1508760"/>
            <a:ext cx="11064240" cy="1417320"/>
          </a:xfrm>
          <a:prstGeom prst="roundRect">
            <a:avLst>
              <a:gd name="adj" fmla="val 7742"/>
            </a:avLst>
          </a:prstGeom>
          <a:solidFill>
            <a:srgbClr val="1B2B2E"/>
          </a:solidFill>
          <a:ln/>
        </p:spPr>
      </p:sp>
      <p:sp>
        <p:nvSpPr>
          <p:cNvPr id="7" name="Text 5"/>
          <p:cNvSpPr txBox="1"/>
          <p:nvPr/>
        </p:nvSpPr>
        <p:spPr>
          <a:xfrm>
            <a:off x="822960" y="1645920"/>
            <a:ext cx="10515600" cy="1143000"/>
          </a:xfrm>
          <a:prstGeom prst="rect">
            <a:avLst/>
          </a:prstGeom>
          <a:noFill/>
          <a:ln/>
        </p:spPr>
        <p:txBody>
          <a:bodyPr wrap="square" rtlCol="0" anchor="ctr"/>
          <a:lstStyle/>
          <a:p>
            <a:pPr indent="0" marL="0">
              <a:buNone/>
            </a:pPr>
            <a:r>
              <a:rPr lang="en-US" sz="1450" dirty="0">
                <a:solidFill>
                  <a:srgbClr val="D7263D"/>
                </a:solidFill>
                <a:latin typeface="Consolas" pitchFamily="34" charset="0"/>
                <a:ea typeface="Consolas" pitchFamily="34" charset="-122"/>
                <a:cs typeface="Consolas" pitchFamily="34" charset="-120"/>
              </a:rPr>
              <a:t>  def train_test_split(X, y, test_size=0.2):</a:t>
            </a:r>
            <a:endParaRPr lang="en-US" sz="1450" dirty="0"/>
          </a:p>
          <a:p>
            <a:pPr indent="0" marL="0">
              <a:buNone/>
            </a:pPr>
            <a:r>
              <a:rPr lang="en-US" sz="1450" dirty="0">
                <a:solidFill>
                  <a:srgbClr val="D7263D"/>
                </a:solidFill>
                <a:latin typeface="Consolas" pitchFamily="34" charset="0"/>
                <a:ea typeface="Consolas" pitchFamily="34" charset="-122"/>
                <a:cs typeface="Consolas" pitchFamily="34" charset="-120"/>
              </a:rPr>
              <a:t>+     def train_test_split(X, y, test_size=0.3):</a:t>
            </a:r>
            <a:endParaRPr lang="en-US" sz="1450" dirty="0"/>
          </a:p>
          <a:p>
            <a:pPr indent="0" marL="0">
              <a:buNone/>
            </a:pPr>
            <a:r>
              <a:rPr lang="en-US" sz="1450" dirty="0">
                <a:solidFill>
                  <a:srgbClr val="D7263D"/>
                </a:solidFill>
                <a:latin typeface="Consolas" pitchFamily="34" charset="0"/>
                <a:ea typeface="Consolas" pitchFamily="34" charset="-122"/>
                <a:cs typeface="Consolas" pitchFamily="34" charset="-120"/>
              </a:rPr>
              <a:t>          ...</a:t>
            </a:r>
            <a:endParaRPr lang="en-US" sz="1450" dirty="0"/>
          </a:p>
        </p:txBody>
      </p:sp>
      <p:sp>
        <p:nvSpPr>
          <p:cNvPr id="8" name="Shape 6"/>
          <p:cNvSpPr/>
          <p:nvPr/>
        </p:nvSpPr>
        <p:spPr>
          <a:xfrm>
            <a:off x="548640" y="3154680"/>
            <a:ext cx="11064240" cy="1417320"/>
          </a:xfrm>
          <a:prstGeom prst="roundRect">
            <a:avLst>
              <a:gd name="adj" fmla="val 7742"/>
            </a:avLst>
          </a:prstGeom>
          <a:solidFill>
            <a:srgbClr val="EFF7F6"/>
          </a:solidFill>
          <a:ln w="19050">
            <a:solidFill>
              <a:srgbClr val="D7263D"/>
            </a:solidFill>
            <a:prstDash val="solid"/>
          </a:ln>
        </p:spPr>
      </p:sp>
      <p:sp>
        <p:nvSpPr>
          <p:cNvPr id="9" name="Text 7"/>
          <p:cNvSpPr txBox="1"/>
          <p:nvPr/>
        </p:nvSpPr>
        <p:spPr>
          <a:xfrm>
            <a:off x="822960" y="3291840"/>
            <a:ext cx="10515600" cy="320040"/>
          </a:xfrm>
          <a:prstGeom prst="rect">
            <a:avLst/>
          </a:prstGeom>
          <a:noFill/>
          <a:ln/>
        </p:spPr>
        <p:txBody>
          <a:bodyPr wrap="square" rtlCol="0" anchor="ctr"/>
          <a:lstStyle/>
          <a:p>
            <a:pPr indent="0" marL="0">
              <a:buNone/>
            </a:pPr>
            <a:r>
              <a:rPr lang="en-US" sz="1200" b="1" spc="150" kern="0" dirty="0">
                <a:solidFill>
                  <a:srgbClr val="D7263D"/>
                </a:solidFill>
                <a:latin typeface="Calibri" pitchFamily="34" charset="0"/>
                <a:ea typeface="Calibri" pitchFamily="34" charset="-122"/>
                <a:cs typeface="Calibri" pitchFamily="34" charset="-120"/>
              </a:rPr>
              <a:t>¿POR QUÉ?</a:t>
            </a:r>
            <a:endParaRPr lang="en-US" sz="1200" dirty="0"/>
          </a:p>
        </p:txBody>
      </p:sp>
      <p:sp>
        <p:nvSpPr>
          <p:cNvPr id="10" name="Text 8"/>
          <p:cNvSpPr txBox="1"/>
          <p:nvPr/>
        </p:nvSpPr>
        <p:spPr>
          <a:xfrm>
            <a:off x="822960" y="3611880"/>
            <a:ext cx="10515600" cy="868680"/>
          </a:xfrm>
          <a:prstGeom prst="rect">
            <a:avLst/>
          </a:prstGeom>
          <a:noFill/>
          <a:ln/>
        </p:spPr>
        <p:txBody>
          <a:bodyPr wrap="square" rtlCol="0" anchor="ctr"/>
          <a:lstStyle/>
          <a:p>
            <a:pPr indent="0" marL="0">
              <a:buNone/>
            </a:pPr>
            <a:r>
              <a:rPr lang="en-US" sz="1500" dirty="0">
                <a:solidFill>
                  <a:srgbClr val="1B2B2E"/>
                </a:solidFill>
                <a:latin typeface="Calibri" pitchFamily="34" charset="0"/>
                <a:ea typeface="Calibri" pitchFamily="34" charset="-122"/>
                <a:cs typeface="Calibri" pitchFamily="34" charset="-120"/>
              </a:rPr>
              <a:t>El nombre del parámetro sigue igual, pero el comportamiento cambió para todo el que no lo especifica explícitamente. Eso es un cambio silencioso e inesperado: la definición típica de un breaking change.</a:t>
            </a:r>
            <a:endParaRPr lang="en-US" sz="1500" dirty="0"/>
          </a:p>
        </p:txBody>
      </p:sp>
      <p:sp>
        <p:nvSpPr>
          <p:cNvPr id="11" name="Shape 9"/>
          <p:cNvSpPr/>
          <p:nvPr/>
        </p:nvSpPr>
        <p:spPr>
          <a:xfrm>
            <a:off x="548640" y="4800600"/>
            <a:ext cx="11064240" cy="1417320"/>
          </a:xfrm>
          <a:prstGeom prst="roundRect">
            <a:avLst>
              <a:gd name="adj" fmla="val 7742"/>
            </a:avLst>
          </a:prstGeom>
          <a:solidFill>
            <a:srgbClr val="0B3D42"/>
          </a:solidFill>
          <a:ln/>
        </p:spPr>
      </p:sp>
      <p:sp>
        <p:nvSpPr>
          <p:cNvPr id="12" name="Text 10"/>
          <p:cNvSpPr txBox="1"/>
          <p:nvPr/>
        </p:nvSpPr>
        <p:spPr>
          <a:xfrm>
            <a:off x="822960" y="4937760"/>
            <a:ext cx="10515600" cy="320040"/>
          </a:xfrm>
          <a:prstGeom prst="rect">
            <a:avLst/>
          </a:prstGeom>
          <a:noFill/>
          <a:ln/>
        </p:spPr>
        <p:txBody>
          <a:bodyPr wrap="square" rtlCol="0" anchor="ctr"/>
          <a:lstStyle/>
          <a:p>
            <a:pPr indent="0" marL="0">
              <a:buNone/>
            </a:pPr>
            <a:r>
              <a:rPr lang="en-US" sz="1150" b="1" spc="100" kern="0" dirty="0">
                <a:solidFill>
                  <a:srgbClr val="02C39A"/>
                </a:solidFill>
                <a:latin typeface="Calibri" pitchFamily="34" charset="0"/>
                <a:ea typeface="Calibri" pitchFamily="34" charset="-122"/>
                <a:cs typeface="Calibri" pitchFamily="34" charset="-120"/>
              </a:rPr>
              <a:t>SI TU EQUIPO VOTÓ DISTINTO...</a:t>
            </a:r>
            <a:endParaRPr lang="en-US" sz="1150" dirty="0"/>
          </a:p>
        </p:txBody>
      </p:sp>
      <p:sp>
        <p:nvSpPr>
          <p:cNvPr id="13" name="Text 11"/>
          <p:cNvSpPr txBox="1"/>
          <p:nvPr/>
        </p:nvSpPr>
        <p:spPr>
          <a:xfrm>
            <a:off x="822960" y="5257800"/>
            <a:ext cx="10515600" cy="868680"/>
          </a:xfrm>
          <a:prstGeom prst="rect">
            <a:avLst/>
          </a:prstGeom>
          <a:noFill/>
          <a:ln/>
        </p:spPr>
        <p:txBody>
          <a:bodyPr wrap="square" rtlCol="0" anchor="ctr"/>
          <a:lstStyle/>
          <a:p>
            <a:pPr indent="0" marL="0">
              <a:buNone/>
            </a:pPr>
            <a:r>
              <a:rPr lang="en-US" sz="1450" i="1" dirty="0">
                <a:solidFill>
                  <a:srgbClr val="F4FBFA"/>
                </a:solidFill>
                <a:latin typeface="Calibri" pitchFamily="34" charset="0"/>
                <a:ea typeface="Calibri" pitchFamily="34" charset="-122"/>
                <a:cs typeface="Calibri" pitchFamily="34" charset="-120"/>
              </a:rPr>
              <a:t>"Es solo un default..." — Y por eso mismo es el más peligroso: nadie lo pidió, y a todos les cambió el resultado.</a:t>
            </a:r>
            <a:endParaRPr lang="en-US" sz="1450" dirty="0"/>
          </a:p>
        </p:txBody>
      </p:sp>
      <p:sp>
        <p:nvSpPr>
          <p:cNvPr id="14" name="Text 12"/>
          <p:cNvSpPr txBox="1"/>
          <p:nvPr/>
        </p:nvSpPr>
        <p:spPr>
          <a:xfrm>
            <a:off x="11155680" y="6473952"/>
            <a:ext cx="822960" cy="274320"/>
          </a:xfrm>
          <a:prstGeom prst="rect">
            <a:avLst/>
          </a:prstGeom>
          <a:noFill/>
          <a:ln/>
        </p:spPr>
        <p:txBody>
          <a:bodyPr wrap="square" rtlCol="0" anchor="ctr"/>
          <a:lstStyle/>
          <a:p>
            <a:pPr algn="r" indent="0" marL="0">
              <a:buNone/>
            </a:pPr>
            <a:r>
              <a:rPr lang="en-US" sz="1000" dirty="0">
                <a:solidFill>
                  <a:srgbClr val="5C7A7D"/>
                </a:solidFill>
                <a:latin typeface="Calibri" pitchFamily="34" charset="0"/>
                <a:ea typeface="Calibri" pitchFamily="34" charset="-122"/>
                <a:cs typeface="Calibri" pitchFamily="34" charset="-120"/>
              </a:rPr>
              <a:t>13 / 19</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8229600" cy="292608"/>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CASO 5 DE 6</a:t>
            </a:r>
            <a:endParaRPr lang="en-US" sz="1200" dirty="0"/>
          </a:p>
        </p:txBody>
      </p:sp>
      <p:sp>
        <p:nvSpPr>
          <p:cNvPr id="3" name="Text 1"/>
          <p:cNvSpPr txBox="1"/>
          <p:nvPr/>
        </p:nvSpPr>
        <p:spPr>
          <a:xfrm>
            <a:off x="548640" y="411480"/>
            <a:ext cx="11064240" cy="1005840"/>
          </a:xfrm>
          <a:prstGeom prst="rect">
            <a:avLst/>
          </a:prstGeom>
          <a:noFill/>
          <a:ln/>
        </p:spPr>
        <p:txBody>
          <a:bodyPr wrap="square" rtlCol="0" anchor="ctr"/>
          <a:lstStyle/>
          <a:p>
            <a:pPr algn="l" indent="0" marL="0">
              <a:buNone/>
            </a:pPr>
            <a:r>
              <a:rPr lang="en-US" sz="2600" b="1" dirty="0">
                <a:solidFill>
                  <a:srgbClr val="1B2B2E"/>
                </a:solidFill>
                <a:latin typeface="Cambria" pitchFamily="34" charset="0"/>
                <a:ea typeface="Cambria" pitchFamily="34" charset="-122"/>
                <a:cs typeface="Cambria" pitchFamily="34" charset="-120"/>
              </a:rPr>
              <a:t>Reescribe el algoritmo interno de una función</a:t>
            </a:r>
            <a:endParaRPr lang="en-US" sz="2600" dirty="0"/>
          </a:p>
        </p:txBody>
      </p:sp>
      <p:sp>
        <p:nvSpPr>
          <p:cNvPr id="4" name="Shape 2"/>
          <p:cNvSpPr/>
          <p:nvPr/>
        </p:nvSpPr>
        <p:spPr>
          <a:xfrm>
            <a:off x="548640" y="1920240"/>
            <a:ext cx="11064240" cy="1600200"/>
          </a:xfrm>
          <a:prstGeom prst="roundRect">
            <a:avLst>
              <a:gd name="adj" fmla="val 6857"/>
            </a:avLst>
          </a:prstGeom>
          <a:solidFill>
            <a:srgbClr val="1B2B2E"/>
          </a:solidFill>
          <a:ln/>
        </p:spPr>
      </p:sp>
      <p:sp>
        <p:nvSpPr>
          <p:cNvPr id="5" name="Text 3"/>
          <p:cNvSpPr txBox="1"/>
          <p:nvPr/>
        </p:nvSpPr>
        <p:spPr>
          <a:xfrm>
            <a:off x="822960" y="2103120"/>
            <a:ext cx="10515600" cy="1234440"/>
          </a:xfrm>
          <a:prstGeom prst="rect">
            <a:avLst/>
          </a:prstGeom>
          <a:noFill/>
          <a:ln/>
        </p:spPr>
        <p:txBody>
          <a:bodyPr wrap="square" rtlCol="0" anchor="ctr"/>
          <a:lstStyle/>
          <a:p>
            <a:pPr indent="0" marL="0">
              <a:buNone/>
            </a:pPr>
            <a:r>
              <a:rPr lang="en-US" sz="1550" dirty="0">
                <a:solidFill>
                  <a:srgbClr val="02C39A"/>
                </a:solidFill>
                <a:latin typeface="Consolas" pitchFamily="34" charset="0"/>
                <a:ea typeface="Consolas" pitchFamily="34" charset="-122"/>
                <a:cs typeface="Consolas" pitchFamily="34" charset="-120"/>
              </a:rPr>
              <a:t># Misma firma, mismo resultado, el doble de rápido</a:t>
            </a:r>
            <a:endParaRPr lang="en-US" sz="1550" dirty="0"/>
          </a:p>
          <a:p>
            <a:pPr indent="0" marL="0">
              <a:buNone/>
            </a:pPr>
            <a:r>
              <a:rPr lang="en-US" sz="1550" dirty="0">
                <a:solidFill>
                  <a:srgbClr val="02C39A"/>
                </a:solidFill>
                <a:latin typeface="Consolas" pitchFamily="34" charset="0"/>
                <a:ea typeface="Consolas" pitchFamily="34" charset="-122"/>
                <a:cs typeface="Consolas" pitchFamily="34" charset="-120"/>
              </a:rPr>
              <a:t>  def calcular_distancias(puntos):</a:t>
            </a:r>
            <a:endParaRPr lang="en-US" sz="1550" dirty="0"/>
          </a:p>
          <a:p>
            <a:pPr indent="0" marL="0">
              <a:buNone/>
            </a:pPr>
            <a:r>
              <a:rPr lang="en-US" sz="1550" dirty="0">
                <a:solidFill>
                  <a:srgbClr val="02C39A"/>
                </a:solidFill>
                <a:latin typeface="Consolas" pitchFamily="34" charset="0"/>
                <a:ea typeface="Consolas" pitchFamily="34" charset="-122"/>
                <a:cs typeface="Consolas" pitchFamily="34" charset="-120"/>
              </a:rPr>
              <a:t>-     # implementacion O(n^2)</a:t>
            </a:r>
            <a:endParaRPr lang="en-US" sz="1550" dirty="0"/>
          </a:p>
          <a:p>
            <a:pPr indent="0" marL="0">
              <a:buNone/>
            </a:pPr>
            <a:r>
              <a:rPr lang="en-US" sz="1550" dirty="0">
                <a:solidFill>
                  <a:srgbClr val="02C39A"/>
                </a:solidFill>
                <a:latin typeface="Consolas" pitchFamily="34" charset="0"/>
                <a:ea typeface="Consolas" pitchFamily="34" charset="-122"/>
                <a:cs typeface="Consolas" pitchFamily="34" charset="-120"/>
              </a:rPr>
              <a:t>+     # implementacion vectorizada, O(n log n)</a:t>
            </a:r>
            <a:endParaRPr lang="en-US" sz="1550" dirty="0"/>
          </a:p>
        </p:txBody>
      </p:sp>
      <p:sp>
        <p:nvSpPr>
          <p:cNvPr id="6" name="Text 4"/>
          <p:cNvSpPr txBox="1"/>
          <p:nvPr/>
        </p:nvSpPr>
        <p:spPr>
          <a:xfrm>
            <a:off x="548640" y="3657600"/>
            <a:ext cx="11064240" cy="548640"/>
          </a:xfrm>
          <a:prstGeom prst="rect">
            <a:avLst/>
          </a:prstGeom>
          <a:noFill/>
          <a:ln/>
        </p:spPr>
        <p:txBody>
          <a:bodyPr wrap="square" rtlCol="0" anchor="ctr"/>
          <a:lstStyle/>
          <a:p>
            <a:pPr indent="0" marL="0">
              <a:buNone/>
            </a:pPr>
            <a:r>
              <a:rPr lang="en-US" sz="1350" i="1" dirty="0">
                <a:solidFill>
                  <a:srgbClr val="5C7A7D"/>
                </a:solidFill>
                <a:latin typeface="Calibri" pitchFamily="34" charset="0"/>
                <a:ea typeface="Calibri" pitchFamily="34" charset="-122"/>
                <a:cs typeface="Calibri" pitchFamily="34" charset="-120"/>
              </a:rPr>
              <a:t>Misma entrada, misma salida. Solo cambia lo que pasa "por dentro".</a:t>
            </a:r>
            <a:endParaRPr lang="en-US" sz="1350" dirty="0"/>
          </a:p>
        </p:txBody>
      </p:sp>
      <p:sp>
        <p:nvSpPr>
          <p:cNvPr id="7" name="Text 5"/>
          <p:cNvSpPr txBox="1"/>
          <p:nvPr/>
        </p:nvSpPr>
        <p:spPr>
          <a:xfrm>
            <a:off x="548640" y="4434840"/>
            <a:ext cx="11064240" cy="548640"/>
          </a:xfrm>
          <a:prstGeom prst="rect">
            <a:avLst/>
          </a:prstGeom>
          <a:noFill/>
          <a:ln/>
        </p:spPr>
        <p:txBody>
          <a:bodyPr wrap="square" rtlCol="0" anchor="ctr"/>
          <a:lstStyle/>
          <a:p>
            <a:pPr algn="ctr" indent="0" marL="0">
              <a:buNone/>
            </a:pPr>
            <a:r>
              <a:rPr lang="en-US" sz="2200" b="1" dirty="0">
                <a:solidFill>
                  <a:srgbClr val="028090"/>
                </a:solidFill>
                <a:latin typeface="Cambria" pitchFamily="34" charset="0"/>
                <a:ea typeface="Cambria" pitchFamily="34" charset="-122"/>
                <a:cs typeface="Cambria" pitchFamily="34" charset="-120"/>
              </a:rPr>
              <a:t>¿MAJOR, MINOR o PATCH?</a:t>
            </a:r>
            <a:endParaRPr lang="en-US" sz="2200" dirty="0"/>
          </a:p>
        </p:txBody>
      </p:sp>
      <p:sp>
        <p:nvSpPr>
          <p:cNvPr id="8" name="Shape 6"/>
          <p:cNvSpPr/>
          <p:nvPr/>
        </p:nvSpPr>
        <p:spPr>
          <a:xfrm>
            <a:off x="914400" y="5166360"/>
            <a:ext cx="3200400" cy="1051560"/>
          </a:xfrm>
          <a:prstGeom prst="roundRect">
            <a:avLst>
              <a:gd name="adj" fmla="val 10435"/>
            </a:avLst>
          </a:prstGeom>
          <a:solidFill>
            <a:srgbClr val="EFF7F6"/>
          </a:solidFill>
          <a:ln w="25400">
            <a:solidFill>
              <a:srgbClr val="D7263D"/>
            </a:solidFill>
            <a:prstDash val="solid"/>
          </a:ln>
        </p:spPr>
      </p:sp>
      <p:sp>
        <p:nvSpPr>
          <p:cNvPr id="9" name="Text 7"/>
          <p:cNvSpPr txBox="1"/>
          <p:nvPr/>
        </p:nvSpPr>
        <p:spPr>
          <a:xfrm>
            <a:off x="914400" y="5166360"/>
            <a:ext cx="3200400" cy="1051560"/>
          </a:xfrm>
          <a:prstGeom prst="rect">
            <a:avLst/>
          </a:prstGeom>
          <a:noFill/>
          <a:ln/>
        </p:spPr>
        <p:txBody>
          <a:bodyPr wrap="square" rtlCol="0" anchor="ctr"/>
          <a:lstStyle/>
          <a:p>
            <a:pPr algn="ctr" indent="0" marL="0">
              <a:buNone/>
            </a:pPr>
            <a:r>
              <a:rPr lang="en-US" sz="2400" b="1" dirty="0">
                <a:solidFill>
                  <a:srgbClr val="D7263D"/>
                </a:solidFill>
                <a:latin typeface="Cambria" pitchFamily="34" charset="0"/>
                <a:ea typeface="Cambria" pitchFamily="34" charset="-122"/>
                <a:cs typeface="Cambria" pitchFamily="34" charset="-120"/>
              </a:rPr>
              <a:t>MAJOR</a:t>
            </a:r>
            <a:endParaRPr lang="en-US" sz="2400" dirty="0"/>
          </a:p>
        </p:txBody>
      </p:sp>
      <p:sp>
        <p:nvSpPr>
          <p:cNvPr id="10" name="Shape 8"/>
          <p:cNvSpPr/>
          <p:nvPr/>
        </p:nvSpPr>
        <p:spPr>
          <a:xfrm>
            <a:off x="4480560" y="5166360"/>
            <a:ext cx="3200400" cy="1051560"/>
          </a:xfrm>
          <a:prstGeom prst="roundRect">
            <a:avLst>
              <a:gd name="adj" fmla="val 10435"/>
            </a:avLst>
          </a:prstGeom>
          <a:solidFill>
            <a:srgbClr val="EFF7F6"/>
          </a:solidFill>
          <a:ln w="25400">
            <a:solidFill>
              <a:srgbClr val="028090"/>
            </a:solidFill>
            <a:prstDash val="solid"/>
          </a:ln>
        </p:spPr>
      </p:sp>
      <p:sp>
        <p:nvSpPr>
          <p:cNvPr id="11" name="Text 9"/>
          <p:cNvSpPr txBox="1"/>
          <p:nvPr/>
        </p:nvSpPr>
        <p:spPr>
          <a:xfrm>
            <a:off x="4480560" y="5166360"/>
            <a:ext cx="3200400" cy="1051560"/>
          </a:xfrm>
          <a:prstGeom prst="rect">
            <a:avLst/>
          </a:prstGeom>
          <a:noFill/>
          <a:ln/>
        </p:spPr>
        <p:txBody>
          <a:bodyPr wrap="square" rtlCol="0" anchor="ctr"/>
          <a:lstStyle/>
          <a:p>
            <a:pPr algn="ctr" indent="0" marL="0">
              <a:buNone/>
            </a:pPr>
            <a:r>
              <a:rPr lang="en-US" sz="2400" b="1" dirty="0">
                <a:solidFill>
                  <a:srgbClr val="028090"/>
                </a:solidFill>
                <a:latin typeface="Cambria" pitchFamily="34" charset="0"/>
                <a:ea typeface="Cambria" pitchFamily="34" charset="-122"/>
                <a:cs typeface="Cambria" pitchFamily="34" charset="-120"/>
              </a:rPr>
              <a:t>MINOR</a:t>
            </a:r>
            <a:endParaRPr lang="en-US" sz="2400" dirty="0"/>
          </a:p>
        </p:txBody>
      </p:sp>
      <p:sp>
        <p:nvSpPr>
          <p:cNvPr id="12" name="Shape 10"/>
          <p:cNvSpPr/>
          <p:nvPr/>
        </p:nvSpPr>
        <p:spPr>
          <a:xfrm>
            <a:off x="8046720" y="5166360"/>
            <a:ext cx="3200400" cy="1051560"/>
          </a:xfrm>
          <a:prstGeom prst="roundRect">
            <a:avLst>
              <a:gd name="adj" fmla="val 10435"/>
            </a:avLst>
          </a:prstGeom>
          <a:solidFill>
            <a:srgbClr val="EFF7F6"/>
          </a:solidFill>
          <a:ln w="25400">
            <a:solidFill>
              <a:srgbClr val="02C39A"/>
            </a:solidFill>
            <a:prstDash val="solid"/>
          </a:ln>
        </p:spPr>
      </p:sp>
      <p:sp>
        <p:nvSpPr>
          <p:cNvPr id="13" name="Text 11"/>
          <p:cNvSpPr txBox="1"/>
          <p:nvPr/>
        </p:nvSpPr>
        <p:spPr>
          <a:xfrm>
            <a:off x="8046720" y="5166360"/>
            <a:ext cx="3200400" cy="1051560"/>
          </a:xfrm>
          <a:prstGeom prst="rect">
            <a:avLst/>
          </a:prstGeom>
          <a:noFill/>
          <a:ln/>
        </p:spPr>
        <p:txBody>
          <a:bodyPr wrap="square" rtlCol="0" anchor="ctr"/>
          <a:lstStyle/>
          <a:p>
            <a:pPr algn="ctr" indent="0" marL="0">
              <a:buNone/>
            </a:pPr>
            <a:r>
              <a:rPr lang="en-US" sz="2400" b="1" dirty="0">
                <a:solidFill>
                  <a:srgbClr val="02C39A"/>
                </a:solidFill>
                <a:latin typeface="Cambria" pitchFamily="34" charset="0"/>
                <a:ea typeface="Cambria" pitchFamily="34" charset="-122"/>
                <a:cs typeface="Cambria" pitchFamily="34" charset="-120"/>
              </a:rPr>
              <a:t>PATCH</a:t>
            </a:r>
            <a:endParaRPr lang="en-US" sz="2400" dirty="0"/>
          </a:p>
        </p:txBody>
      </p:sp>
      <p:sp>
        <p:nvSpPr>
          <p:cNvPr id="14" name="Text 12"/>
          <p:cNvSpPr txBox="1"/>
          <p:nvPr/>
        </p:nvSpPr>
        <p:spPr>
          <a:xfrm>
            <a:off x="11155680" y="6473952"/>
            <a:ext cx="822960" cy="274320"/>
          </a:xfrm>
          <a:prstGeom prst="rect">
            <a:avLst/>
          </a:prstGeom>
          <a:noFill/>
          <a:ln/>
        </p:spPr>
        <p:txBody>
          <a:bodyPr wrap="square" rtlCol="0" anchor="ctr"/>
          <a:lstStyle/>
          <a:p>
            <a:pPr algn="r" indent="0" marL="0">
              <a:buNone/>
            </a:pPr>
            <a:r>
              <a:rPr lang="en-US" sz="1000" dirty="0">
                <a:solidFill>
                  <a:srgbClr val="5C7A7D"/>
                </a:solidFill>
                <a:latin typeface="Calibri" pitchFamily="34" charset="0"/>
                <a:ea typeface="Calibri" pitchFamily="34" charset="-122"/>
                <a:cs typeface="Calibri" pitchFamily="34" charset="-120"/>
              </a:rPr>
              <a:t>14 / 19</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8229600" cy="292608"/>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CASO 5 DE 6 · RESPUESTA</a:t>
            </a:r>
            <a:endParaRPr lang="en-US" sz="1200" dirty="0"/>
          </a:p>
        </p:txBody>
      </p:sp>
      <p:sp>
        <p:nvSpPr>
          <p:cNvPr id="3" name="Text 1"/>
          <p:cNvSpPr txBox="1"/>
          <p:nvPr/>
        </p:nvSpPr>
        <p:spPr>
          <a:xfrm>
            <a:off x="548640" y="411480"/>
            <a:ext cx="7863840" cy="914400"/>
          </a:xfrm>
          <a:prstGeom prst="rect">
            <a:avLst/>
          </a:prstGeom>
          <a:noFill/>
          <a:ln/>
        </p:spPr>
        <p:txBody>
          <a:bodyPr wrap="square" rtlCol="0" anchor="ctr"/>
          <a:lstStyle/>
          <a:p>
            <a:pPr algn="l" indent="0" marL="0">
              <a:buNone/>
            </a:pPr>
            <a:r>
              <a:rPr lang="en-US" sz="2400" b="1" dirty="0">
                <a:solidFill>
                  <a:srgbClr val="1B2B2E"/>
                </a:solidFill>
                <a:latin typeface="Cambria" pitchFamily="34" charset="0"/>
                <a:ea typeface="Cambria" pitchFamily="34" charset="-122"/>
                <a:cs typeface="Cambria" pitchFamily="34" charset="-120"/>
              </a:rPr>
              <a:t>Reescribe el algoritmo interno de una función</a:t>
            </a:r>
            <a:endParaRPr lang="en-US" sz="2400" dirty="0"/>
          </a:p>
        </p:txBody>
      </p:sp>
      <p:sp>
        <p:nvSpPr>
          <p:cNvPr id="4" name="Shape 2"/>
          <p:cNvSpPr/>
          <p:nvPr/>
        </p:nvSpPr>
        <p:spPr>
          <a:xfrm>
            <a:off x="8778240" y="438912"/>
            <a:ext cx="2834640" cy="868680"/>
          </a:xfrm>
          <a:prstGeom prst="roundRect">
            <a:avLst>
              <a:gd name="adj" fmla="val 12632"/>
            </a:avLst>
          </a:prstGeom>
          <a:solidFill>
            <a:srgbClr val="02C39A"/>
          </a:solidFill>
          <a:ln/>
        </p:spPr>
      </p:sp>
      <p:sp>
        <p:nvSpPr>
          <p:cNvPr id="5" name="Text 3"/>
          <p:cNvSpPr txBox="1"/>
          <p:nvPr/>
        </p:nvSpPr>
        <p:spPr>
          <a:xfrm>
            <a:off x="8778240" y="438912"/>
            <a:ext cx="2834640" cy="868680"/>
          </a:xfrm>
          <a:prstGeom prst="rect">
            <a:avLst/>
          </a:prstGeom>
          <a:noFill/>
          <a:ln/>
        </p:spPr>
        <p:txBody>
          <a:bodyPr wrap="square"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PATCH</a:t>
            </a:r>
            <a:endParaRPr lang="en-US" sz="2400" dirty="0"/>
          </a:p>
        </p:txBody>
      </p:sp>
      <p:sp>
        <p:nvSpPr>
          <p:cNvPr id="6" name="Shape 4"/>
          <p:cNvSpPr/>
          <p:nvPr/>
        </p:nvSpPr>
        <p:spPr>
          <a:xfrm>
            <a:off x="548640" y="1508760"/>
            <a:ext cx="11064240" cy="1417320"/>
          </a:xfrm>
          <a:prstGeom prst="roundRect">
            <a:avLst>
              <a:gd name="adj" fmla="val 7742"/>
            </a:avLst>
          </a:prstGeom>
          <a:solidFill>
            <a:srgbClr val="1B2B2E"/>
          </a:solidFill>
          <a:ln/>
        </p:spPr>
      </p:sp>
      <p:sp>
        <p:nvSpPr>
          <p:cNvPr id="7" name="Text 5"/>
          <p:cNvSpPr txBox="1"/>
          <p:nvPr/>
        </p:nvSpPr>
        <p:spPr>
          <a:xfrm>
            <a:off x="822960" y="1645920"/>
            <a:ext cx="10515600" cy="1143000"/>
          </a:xfrm>
          <a:prstGeom prst="rect">
            <a:avLst/>
          </a:prstGeom>
          <a:noFill/>
          <a:ln/>
        </p:spPr>
        <p:txBody>
          <a:bodyPr wrap="square" rtlCol="0" anchor="ctr"/>
          <a:lstStyle/>
          <a:p>
            <a:pPr indent="0" marL="0">
              <a:buNone/>
            </a:pPr>
            <a:r>
              <a:rPr lang="en-US" sz="1450" dirty="0">
                <a:solidFill>
                  <a:srgbClr val="02C39A"/>
                </a:solidFill>
                <a:latin typeface="Consolas" pitchFamily="34" charset="0"/>
                <a:ea typeface="Consolas" pitchFamily="34" charset="-122"/>
                <a:cs typeface="Consolas" pitchFamily="34" charset="-120"/>
              </a:rPr>
              <a:t># Misma firma, mismo resultado, el doble de rápido</a:t>
            </a:r>
            <a:endParaRPr lang="en-US" sz="1450" dirty="0"/>
          </a:p>
          <a:p>
            <a:pPr indent="0" marL="0">
              <a:buNone/>
            </a:pPr>
            <a:r>
              <a:rPr lang="en-US" sz="1450" dirty="0">
                <a:solidFill>
                  <a:srgbClr val="02C39A"/>
                </a:solidFill>
                <a:latin typeface="Consolas" pitchFamily="34" charset="0"/>
                <a:ea typeface="Consolas" pitchFamily="34" charset="-122"/>
                <a:cs typeface="Consolas" pitchFamily="34" charset="-120"/>
              </a:rPr>
              <a:t>  def calcular_distancias(puntos):</a:t>
            </a:r>
            <a:endParaRPr lang="en-US" sz="1450" dirty="0"/>
          </a:p>
          <a:p>
            <a:pPr indent="0" marL="0">
              <a:buNone/>
            </a:pPr>
            <a:r>
              <a:rPr lang="en-US" sz="1450" dirty="0">
                <a:solidFill>
                  <a:srgbClr val="02C39A"/>
                </a:solidFill>
                <a:latin typeface="Consolas" pitchFamily="34" charset="0"/>
                <a:ea typeface="Consolas" pitchFamily="34" charset="-122"/>
                <a:cs typeface="Consolas" pitchFamily="34" charset="-120"/>
              </a:rPr>
              <a:t>-     # implementacion O(n^2)</a:t>
            </a:r>
            <a:endParaRPr lang="en-US" sz="1450" dirty="0"/>
          </a:p>
          <a:p>
            <a:pPr indent="0" marL="0">
              <a:buNone/>
            </a:pPr>
            <a:r>
              <a:rPr lang="en-US" sz="1450" dirty="0">
                <a:solidFill>
                  <a:srgbClr val="02C39A"/>
                </a:solidFill>
                <a:latin typeface="Consolas" pitchFamily="34" charset="0"/>
                <a:ea typeface="Consolas" pitchFamily="34" charset="-122"/>
                <a:cs typeface="Consolas" pitchFamily="34" charset="-120"/>
              </a:rPr>
              <a:t>+     # implementacion vectorizada, O(n log n)</a:t>
            </a:r>
            <a:endParaRPr lang="en-US" sz="1450" dirty="0"/>
          </a:p>
        </p:txBody>
      </p:sp>
      <p:sp>
        <p:nvSpPr>
          <p:cNvPr id="8" name="Shape 6"/>
          <p:cNvSpPr/>
          <p:nvPr/>
        </p:nvSpPr>
        <p:spPr>
          <a:xfrm>
            <a:off x="548640" y="3154680"/>
            <a:ext cx="11064240" cy="1417320"/>
          </a:xfrm>
          <a:prstGeom prst="roundRect">
            <a:avLst>
              <a:gd name="adj" fmla="val 7742"/>
            </a:avLst>
          </a:prstGeom>
          <a:solidFill>
            <a:srgbClr val="EFF7F6"/>
          </a:solidFill>
          <a:ln w="19050">
            <a:solidFill>
              <a:srgbClr val="02C39A"/>
            </a:solidFill>
            <a:prstDash val="solid"/>
          </a:ln>
        </p:spPr>
      </p:sp>
      <p:sp>
        <p:nvSpPr>
          <p:cNvPr id="9" name="Text 7"/>
          <p:cNvSpPr txBox="1"/>
          <p:nvPr/>
        </p:nvSpPr>
        <p:spPr>
          <a:xfrm>
            <a:off x="822960" y="3291840"/>
            <a:ext cx="10515600" cy="320040"/>
          </a:xfrm>
          <a:prstGeom prst="rect">
            <a:avLst/>
          </a:prstGeom>
          <a:noFill/>
          <a:ln/>
        </p:spPr>
        <p:txBody>
          <a:bodyPr wrap="square" rtlCol="0" anchor="ctr"/>
          <a:lstStyle/>
          <a:p>
            <a:pPr indent="0" marL="0">
              <a:buNone/>
            </a:pPr>
            <a:r>
              <a:rPr lang="en-US" sz="1200" b="1" spc="150" kern="0" dirty="0">
                <a:solidFill>
                  <a:srgbClr val="02C39A"/>
                </a:solidFill>
                <a:latin typeface="Calibri" pitchFamily="34" charset="0"/>
                <a:ea typeface="Calibri" pitchFamily="34" charset="-122"/>
                <a:cs typeface="Calibri" pitchFamily="34" charset="-120"/>
              </a:rPr>
              <a:t>¿POR QUÉ?</a:t>
            </a:r>
            <a:endParaRPr lang="en-US" sz="1200" dirty="0"/>
          </a:p>
        </p:txBody>
      </p:sp>
      <p:sp>
        <p:nvSpPr>
          <p:cNvPr id="10" name="Text 8"/>
          <p:cNvSpPr txBox="1"/>
          <p:nvPr/>
        </p:nvSpPr>
        <p:spPr>
          <a:xfrm>
            <a:off x="822960" y="3611880"/>
            <a:ext cx="10515600" cy="868680"/>
          </a:xfrm>
          <a:prstGeom prst="rect">
            <a:avLst/>
          </a:prstGeom>
          <a:noFill/>
          <a:ln/>
        </p:spPr>
        <p:txBody>
          <a:bodyPr wrap="square" rtlCol="0" anchor="ctr"/>
          <a:lstStyle/>
          <a:p>
            <a:pPr indent="0" marL="0">
              <a:buNone/>
            </a:pPr>
            <a:r>
              <a:rPr lang="en-US" sz="1500" dirty="0">
                <a:solidFill>
                  <a:srgbClr val="1B2B2E"/>
                </a:solidFill>
                <a:latin typeface="Calibri" pitchFamily="34" charset="0"/>
                <a:ea typeface="Calibri" pitchFamily="34" charset="-122"/>
                <a:cs typeface="Calibri" pitchFamily="34" charset="-120"/>
              </a:rPr>
              <a:t>Misma entrada, misma salida, misma firma. Lo único que cambió fue lo que pasa "por dentro" de la función, y eso no es observable desde afuera. Una mejora interna transparente es PATCH, aunque haya sido mucho trabajo.</a:t>
            </a:r>
            <a:endParaRPr lang="en-US" sz="1500" dirty="0"/>
          </a:p>
        </p:txBody>
      </p:sp>
      <p:sp>
        <p:nvSpPr>
          <p:cNvPr id="11" name="Shape 9"/>
          <p:cNvSpPr/>
          <p:nvPr/>
        </p:nvSpPr>
        <p:spPr>
          <a:xfrm>
            <a:off x="548640" y="4800600"/>
            <a:ext cx="11064240" cy="1417320"/>
          </a:xfrm>
          <a:prstGeom prst="roundRect">
            <a:avLst>
              <a:gd name="adj" fmla="val 7742"/>
            </a:avLst>
          </a:prstGeom>
          <a:solidFill>
            <a:srgbClr val="0B3D42"/>
          </a:solidFill>
          <a:ln/>
        </p:spPr>
      </p:sp>
      <p:sp>
        <p:nvSpPr>
          <p:cNvPr id="12" name="Text 10"/>
          <p:cNvSpPr txBox="1"/>
          <p:nvPr/>
        </p:nvSpPr>
        <p:spPr>
          <a:xfrm>
            <a:off x="822960" y="4937760"/>
            <a:ext cx="10515600" cy="320040"/>
          </a:xfrm>
          <a:prstGeom prst="rect">
            <a:avLst/>
          </a:prstGeom>
          <a:noFill/>
          <a:ln/>
        </p:spPr>
        <p:txBody>
          <a:bodyPr wrap="square" rtlCol="0" anchor="ctr"/>
          <a:lstStyle/>
          <a:p>
            <a:pPr indent="0" marL="0">
              <a:buNone/>
            </a:pPr>
            <a:r>
              <a:rPr lang="en-US" sz="1150" b="1" spc="100" kern="0" dirty="0">
                <a:solidFill>
                  <a:srgbClr val="02C39A"/>
                </a:solidFill>
                <a:latin typeface="Calibri" pitchFamily="34" charset="0"/>
                <a:ea typeface="Calibri" pitchFamily="34" charset="-122"/>
                <a:cs typeface="Calibri" pitchFamily="34" charset="-120"/>
              </a:rPr>
              <a:t>SI TU EQUIPO VOTÓ DISTINTO...</a:t>
            </a:r>
            <a:endParaRPr lang="en-US" sz="1150" dirty="0"/>
          </a:p>
        </p:txBody>
      </p:sp>
      <p:sp>
        <p:nvSpPr>
          <p:cNvPr id="13" name="Text 11"/>
          <p:cNvSpPr txBox="1"/>
          <p:nvPr/>
        </p:nvSpPr>
        <p:spPr>
          <a:xfrm>
            <a:off x="822960" y="5257800"/>
            <a:ext cx="10515600" cy="868680"/>
          </a:xfrm>
          <a:prstGeom prst="rect">
            <a:avLst/>
          </a:prstGeom>
          <a:noFill/>
          <a:ln/>
        </p:spPr>
        <p:txBody>
          <a:bodyPr wrap="square" rtlCol="0" anchor="ctr"/>
          <a:lstStyle/>
          <a:p>
            <a:pPr indent="0" marL="0">
              <a:buNone/>
            </a:pPr>
            <a:r>
              <a:rPr lang="en-US" sz="1450" i="1" dirty="0">
                <a:solidFill>
                  <a:srgbClr val="F4FBFA"/>
                </a:solidFill>
                <a:latin typeface="Calibri" pitchFamily="34" charset="0"/>
                <a:ea typeface="Calibri" pitchFamily="34" charset="-122"/>
                <a:cs typeface="Calibri" pitchFamily="34" charset="-120"/>
              </a:rPr>
              <a:t>El equipo que dijo MINOR porque "se sintió como una mejora grande": el tamaño del esfuerzo no define la versión, el impacto observable sí.</a:t>
            </a:r>
            <a:endParaRPr lang="en-US" sz="1450" dirty="0"/>
          </a:p>
        </p:txBody>
      </p:sp>
      <p:sp>
        <p:nvSpPr>
          <p:cNvPr id="14" name="Text 12"/>
          <p:cNvSpPr txBox="1"/>
          <p:nvPr/>
        </p:nvSpPr>
        <p:spPr>
          <a:xfrm>
            <a:off x="11155680" y="6473952"/>
            <a:ext cx="822960" cy="274320"/>
          </a:xfrm>
          <a:prstGeom prst="rect">
            <a:avLst/>
          </a:prstGeom>
          <a:noFill/>
          <a:ln/>
        </p:spPr>
        <p:txBody>
          <a:bodyPr wrap="square" rtlCol="0" anchor="ctr"/>
          <a:lstStyle/>
          <a:p>
            <a:pPr algn="r" indent="0" marL="0">
              <a:buNone/>
            </a:pPr>
            <a:r>
              <a:rPr lang="en-US" sz="1000" dirty="0">
                <a:solidFill>
                  <a:srgbClr val="5C7A7D"/>
                </a:solidFill>
                <a:latin typeface="Calibri" pitchFamily="34" charset="0"/>
                <a:ea typeface="Calibri" pitchFamily="34" charset="-122"/>
                <a:cs typeface="Calibri" pitchFamily="34" charset="-120"/>
              </a:rPr>
              <a:t>15 / 19</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8229600" cy="292608"/>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CASO 6 DE 6</a:t>
            </a:r>
            <a:endParaRPr lang="en-US" sz="1200" dirty="0"/>
          </a:p>
        </p:txBody>
      </p:sp>
      <p:sp>
        <p:nvSpPr>
          <p:cNvPr id="3" name="Text 1"/>
          <p:cNvSpPr txBox="1"/>
          <p:nvPr/>
        </p:nvSpPr>
        <p:spPr>
          <a:xfrm>
            <a:off x="548640" y="411480"/>
            <a:ext cx="11064240" cy="1005840"/>
          </a:xfrm>
          <a:prstGeom prst="rect">
            <a:avLst/>
          </a:prstGeom>
          <a:noFill/>
          <a:ln/>
        </p:spPr>
        <p:txBody>
          <a:bodyPr wrap="square" rtlCol="0" anchor="ctr"/>
          <a:lstStyle/>
          <a:p>
            <a:pPr algn="l" indent="0" marL="0">
              <a:buNone/>
            </a:pPr>
            <a:r>
              <a:rPr lang="en-US" sz="2600" b="1" dirty="0">
                <a:solidFill>
                  <a:srgbClr val="1B2B2E"/>
                </a:solidFill>
                <a:latin typeface="Cambria" pitchFamily="34" charset="0"/>
                <a:ea typeface="Cambria" pitchFamily="34" charset="-122"/>
                <a:cs typeface="Cambria" pitchFamily="34" charset="-120"/>
              </a:rPr>
              <a:t>Agrega un endpoint nuevo a la API</a:t>
            </a:r>
            <a:endParaRPr lang="en-US" sz="2600" dirty="0"/>
          </a:p>
        </p:txBody>
      </p:sp>
      <p:sp>
        <p:nvSpPr>
          <p:cNvPr id="4" name="Shape 2"/>
          <p:cNvSpPr/>
          <p:nvPr/>
        </p:nvSpPr>
        <p:spPr>
          <a:xfrm>
            <a:off x="548640" y="1920240"/>
            <a:ext cx="11064240" cy="1600200"/>
          </a:xfrm>
          <a:prstGeom prst="roundRect">
            <a:avLst>
              <a:gd name="adj" fmla="val 6857"/>
            </a:avLst>
          </a:prstGeom>
          <a:solidFill>
            <a:srgbClr val="1B2B2E"/>
          </a:solidFill>
          <a:ln/>
        </p:spPr>
      </p:sp>
      <p:sp>
        <p:nvSpPr>
          <p:cNvPr id="5" name="Text 3"/>
          <p:cNvSpPr txBox="1"/>
          <p:nvPr/>
        </p:nvSpPr>
        <p:spPr>
          <a:xfrm>
            <a:off x="822960" y="2103120"/>
            <a:ext cx="10515600" cy="1234440"/>
          </a:xfrm>
          <a:prstGeom prst="rect">
            <a:avLst/>
          </a:prstGeom>
          <a:noFill/>
          <a:ln/>
        </p:spPr>
        <p:txBody>
          <a:bodyPr wrap="square" rtlCol="0" anchor="ctr"/>
          <a:lstStyle/>
          <a:p>
            <a:pPr indent="0" marL="0">
              <a:buNone/>
            </a:pPr>
            <a:r>
              <a:rPr lang="en-US" sz="1550" dirty="0">
                <a:solidFill>
                  <a:srgbClr val="02C39A"/>
                </a:solidFill>
                <a:latin typeface="Consolas" pitchFamily="34" charset="0"/>
                <a:ea typeface="Consolas" pitchFamily="34" charset="-122"/>
                <a:cs typeface="Consolas" pitchFamily="34" charset="-120"/>
              </a:rPr>
              <a:t>  POST /v1/predict         (sigue funcionando igual)</a:t>
            </a:r>
            <a:endParaRPr lang="en-US" sz="1550" dirty="0"/>
          </a:p>
          <a:p>
            <a:pPr indent="0" marL="0">
              <a:buNone/>
            </a:pPr>
            <a:r>
              <a:rPr lang="en-US" sz="1550" dirty="0">
                <a:solidFill>
                  <a:srgbClr val="02C39A"/>
                </a:solidFill>
                <a:latin typeface="Consolas" pitchFamily="34" charset="0"/>
                <a:ea typeface="Consolas" pitchFamily="34" charset="-122"/>
                <a:cs typeface="Consolas" pitchFamily="34" charset="-120"/>
              </a:rPr>
              <a:t>+ POST /v2/predict         (nuevo, formato de respuesta distinto)</a:t>
            </a:r>
            <a:endParaRPr lang="en-US" sz="1550" dirty="0"/>
          </a:p>
        </p:txBody>
      </p:sp>
      <p:sp>
        <p:nvSpPr>
          <p:cNvPr id="6" name="Text 4"/>
          <p:cNvSpPr txBox="1"/>
          <p:nvPr/>
        </p:nvSpPr>
        <p:spPr>
          <a:xfrm>
            <a:off x="548640" y="3657600"/>
            <a:ext cx="11064240" cy="548640"/>
          </a:xfrm>
          <a:prstGeom prst="rect">
            <a:avLst/>
          </a:prstGeom>
          <a:noFill/>
          <a:ln/>
        </p:spPr>
        <p:txBody>
          <a:bodyPr wrap="square" rtlCol="0" anchor="ctr"/>
          <a:lstStyle/>
          <a:p>
            <a:pPr indent="0" marL="0">
              <a:buNone/>
            </a:pPr>
            <a:r>
              <a:rPr lang="en-US" sz="1350" i="1" dirty="0">
                <a:solidFill>
                  <a:srgbClr val="5C7A7D"/>
                </a:solidFill>
                <a:latin typeface="Calibri" pitchFamily="34" charset="0"/>
                <a:ea typeface="Calibri" pitchFamily="34" charset="-122"/>
                <a:cs typeface="Calibri" pitchFamily="34" charset="-120"/>
              </a:rPr>
              <a:t>Nadie que use /v1/predict se entera de que existe /v2/predict.</a:t>
            </a:r>
            <a:endParaRPr lang="en-US" sz="1350" dirty="0"/>
          </a:p>
        </p:txBody>
      </p:sp>
      <p:sp>
        <p:nvSpPr>
          <p:cNvPr id="7" name="Text 5"/>
          <p:cNvSpPr txBox="1"/>
          <p:nvPr/>
        </p:nvSpPr>
        <p:spPr>
          <a:xfrm>
            <a:off x="548640" y="4434840"/>
            <a:ext cx="11064240" cy="548640"/>
          </a:xfrm>
          <a:prstGeom prst="rect">
            <a:avLst/>
          </a:prstGeom>
          <a:noFill/>
          <a:ln/>
        </p:spPr>
        <p:txBody>
          <a:bodyPr wrap="square" rtlCol="0" anchor="ctr"/>
          <a:lstStyle/>
          <a:p>
            <a:pPr algn="ctr" indent="0" marL="0">
              <a:buNone/>
            </a:pPr>
            <a:r>
              <a:rPr lang="en-US" sz="2200" b="1" dirty="0">
                <a:solidFill>
                  <a:srgbClr val="028090"/>
                </a:solidFill>
                <a:latin typeface="Cambria" pitchFamily="34" charset="0"/>
                <a:ea typeface="Cambria" pitchFamily="34" charset="-122"/>
                <a:cs typeface="Cambria" pitchFamily="34" charset="-120"/>
              </a:rPr>
              <a:t>¿MAJOR, MINOR o PATCH?</a:t>
            </a:r>
            <a:endParaRPr lang="en-US" sz="2200" dirty="0"/>
          </a:p>
        </p:txBody>
      </p:sp>
      <p:sp>
        <p:nvSpPr>
          <p:cNvPr id="8" name="Shape 6"/>
          <p:cNvSpPr/>
          <p:nvPr/>
        </p:nvSpPr>
        <p:spPr>
          <a:xfrm>
            <a:off x="914400" y="5166360"/>
            <a:ext cx="3200400" cy="1051560"/>
          </a:xfrm>
          <a:prstGeom prst="roundRect">
            <a:avLst>
              <a:gd name="adj" fmla="val 10435"/>
            </a:avLst>
          </a:prstGeom>
          <a:solidFill>
            <a:srgbClr val="EFF7F6"/>
          </a:solidFill>
          <a:ln w="25400">
            <a:solidFill>
              <a:srgbClr val="D7263D"/>
            </a:solidFill>
            <a:prstDash val="solid"/>
          </a:ln>
        </p:spPr>
      </p:sp>
      <p:sp>
        <p:nvSpPr>
          <p:cNvPr id="9" name="Text 7"/>
          <p:cNvSpPr txBox="1"/>
          <p:nvPr/>
        </p:nvSpPr>
        <p:spPr>
          <a:xfrm>
            <a:off x="914400" y="5166360"/>
            <a:ext cx="3200400" cy="1051560"/>
          </a:xfrm>
          <a:prstGeom prst="rect">
            <a:avLst/>
          </a:prstGeom>
          <a:noFill/>
          <a:ln/>
        </p:spPr>
        <p:txBody>
          <a:bodyPr wrap="square" rtlCol="0" anchor="ctr"/>
          <a:lstStyle/>
          <a:p>
            <a:pPr algn="ctr" indent="0" marL="0">
              <a:buNone/>
            </a:pPr>
            <a:r>
              <a:rPr lang="en-US" sz="2400" b="1" dirty="0">
                <a:solidFill>
                  <a:srgbClr val="D7263D"/>
                </a:solidFill>
                <a:latin typeface="Cambria" pitchFamily="34" charset="0"/>
                <a:ea typeface="Cambria" pitchFamily="34" charset="-122"/>
                <a:cs typeface="Cambria" pitchFamily="34" charset="-120"/>
              </a:rPr>
              <a:t>MAJOR</a:t>
            </a:r>
            <a:endParaRPr lang="en-US" sz="2400" dirty="0"/>
          </a:p>
        </p:txBody>
      </p:sp>
      <p:sp>
        <p:nvSpPr>
          <p:cNvPr id="10" name="Shape 8"/>
          <p:cNvSpPr/>
          <p:nvPr/>
        </p:nvSpPr>
        <p:spPr>
          <a:xfrm>
            <a:off x="4480560" y="5166360"/>
            <a:ext cx="3200400" cy="1051560"/>
          </a:xfrm>
          <a:prstGeom prst="roundRect">
            <a:avLst>
              <a:gd name="adj" fmla="val 10435"/>
            </a:avLst>
          </a:prstGeom>
          <a:solidFill>
            <a:srgbClr val="EFF7F6"/>
          </a:solidFill>
          <a:ln w="25400">
            <a:solidFill>
              <a:srgbClr val="028090"/>
            </a:solidFill>
            <a:prstDash val="solid"/>
          </a:ln>
        </p:spPr>
      </p:sp>
      <p:sp>
        <p:nvSpPr>
          <p:cNvPr id="11" name="Text 9"/>
          <p:cNvSpPr txBox="1"/>
          <p:nvPr/>
        </p:nvSpPr>
        <p:spPr>
          <a:xfrm>
            <a:off x="4480560" y="5166360"/>
            <a:ext cx="3200400" cy="1051560"/>
          </a:xfrm>
          <a:prstGeom prst="rect">
            <a:avLst/>
          </a:prstGeom>
          <a:noFill/>
          <a:ln/>
        </p:spPr>
        <p:txBody>
          <a:bodyPr wrap="square" rtlCol="0" anchor="ctr"/>
          <a:lstStyle/>
          <a:p>
            <a:pPr algn="ctr" indent="0" marL="0">
              <a:buNone/>
            </a:pPr>
            <a:r>
              <a:rPr lang="en-US" sz="2400" b="1" dirty="0">
                <a:solidFill>
                  <a:srgbClr val="028090"/>
                </a:solidFill>
                <a:latin typeface="Cambria" pitchFamily="34" charset="0"/>
                <a:ea typeface="Cambria" pitchFamily="34" charset="-122"/>
                <a:cs typeface="Cambria" pitchFamily="34" charset="-120"/>
              </a:rPr>
              <a:t>MINOR</a:t>
            </a:r>
            <a:endParaRPr lang="en-US" sz="2400" dirty="0"/>
          </a:p>
        </p:txBody>
      </p:sp>
      <p:sp>
        <p:nvSpPr>
          <p:cNvPr id="12" name="Shape 10"/>
          <p:cNvSpPr/>
          <p:nvPr/>
        </p:nvSpPr>
        <p:spPr>
          <a:xfrm>
            <a:off x="8046720" y="5166360"/>
            <a:ext cx="3200400" cy="1051560"/>
          </a:xfrm>
          <a:prstGeom prst="roundRect">
            <a:avLst>
              <a:gd name="adj" fmla="val 10435"/>
            </a:avLst>
          </a:prstGeom>
          <a:solidFill>
            <a:srgbClr val="EFF7F6"/>
          </a:solidFill>
          <a:ln w="25400">
            <a:solidFill>
              <a:srgbClr val="02C39A"/>
            </a:solidFill>
            <a:prstDash val="solid"/>
          </a:ln>
        </p:spPr>
      </p:sp>
      <p:sp>
        <p:nvSpPr>
          <p:cNvPr id="13" name="Text 11"/>
          <p:cNvSpPr txBox="1"/>
          <p:nvPr/>
        </p:nvSpPr>
        <p:spPr>
          <a:xfrm>
            <a:off x="8046720" y="5166360"/>
            <a:ext cx="3200400" cy="1051560"/>
          </a:xfrm>
          <a:prstGeom prst="rect">
            <a:avLst/>
          </a:prstGeom>
          <a:noFill/>
          <a:ln/>
        </p:spPr>
        <p:txBody>
          <a:bodyPr wrap="square" rtlCol="0" anchor="ctr"/>
          <a:lstStyle/>
          <a:p>
            <a:pPr algn="ctr" indent="0" marL="0">
              <a:buNone/>
            </a:pPr>
            <a:r>
              <a:rPr lang="en-US" sz="2400" b="1" dirty="0">
                <a:solidFill>
                  <a:srgbClr val="02C39A"/>
                </a:solidFill>
                <a:latin typeface="Cambria" pitchFamily="34" charset="0"/>
                <a:ea typeface="Cambria" pitchFamily="34" charset="-122"/>
                <a:cs typeface="Cambria" pitchFamily="34" charset="-120"/>
              </a:rPr>
              <a:t>PATCH</a:t>
            </a:r>
            <a:endParaRPr lang="en-US" sz="2400" dirty="0"/>
          </a:p>
        </p:txBody>
      </p:sp>
      <p:sp>
        <p:nvSpPr>
          <p:cNvPr id="14" name="Text 12"/>
          <p:cNvSpPr txBox="1"/>
          <p:nvPr/>
        </p:nvSpPr>
        <p:spPr>
          <a:xfrm>
            <a:off x="11155680" y="6473952"/>
            <a:ext cx="822960" cy="274320"/>
          </a:xfrm>
          <a:prstGeom prst="rect">
            <a:avLst/>
          </a:prstGeom>
          <a:noFill/>
          <a:ln/>
        </p:spPr>
        <p:txBody>
          <a:bodyPr wrap="square" rtlCol="0" anchor="ctr"/>
          <a:lstStyle/>
          <a:p>
            <a:pPr algn="r" indent="0" marL="0">
              <a:buNone/>
            </a:pPr>
            <a:r>
              <a:rPr lang="en-US" sz="1000" dirty="0">
                <a:solidFill>
                  <a:srgbClr val="5C7A7D"/>
                </a:solidFill>
                <a:latin typeface="Calibri" pitchFamily="34" charset="0"/>
                <a:ea typeface="Calibri" pitchFamily="34" charset="-122"/>
                <a:cs typeface="Calibri" pitchFamily="34" charset="-120"/>
              </a:rPr>
              <a:t>16 / 19</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8229600" cy="292608"/>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CASO 6 DE 6 · RESPUESTA</a:t>
            </a:r>
            <a:endParaRPr lang="en-US" sz="1200" dirty="0"/>
          </a:p>
        </p:txBody>
      </p:sp>
      <p:sp>
        <p:nvSpPr>
          <p:cNvPr id="3" name="Text 1"/>
          <p:cNvSpPr txBox="1"/>
          <p:nvPr/>
        </p:nvSpPr>
        <p:spPr>
          <a:xfrm>
            <a:off x="548640" y="411480"/>
            <a:ext cx="7863840" cy="914400"/>
          </a:xfrm>
          <a:prstGeom prst="rect">
            <a:avLst/>
          </a:prstGeom>
          <a:noFill/>
          <a:ln/>
        </p:spPr>
        <p:txBody>
          <a:bodyPr wrap="square" rtlCol="0" anchor="ctr"/>
          <a:lstStyle/>
          <a:p>
            <a:pPr algn="l" indent="0" marL="0">
              <a:buNone/>
            </a:pPr>
            <a:r>
              <a:rPr lang="en-US" sz="2400" b="1" dirty="0">
                <a:solidFill>
                  <a:srgbClr val="1B2B2E"/>
                </a:solidFill>
                <a:latin typeface="Cambria" pitchFamily="34" charset="0"/>
                <a:ea typeface="Cambria" pitchFamily="34" charset="-122"/>
                <a:cs typeface="Cambria" pitchFamily="34" charset="-120"/>
              </a:rPr>
              <a:t>Agrega un endpoint nuevo a la API</a:t>
            </a:r>
            <a:endParaRPr lang="en-US" sz="2400" dirty="0"/>
          </a:p>
        </p:txBody>
      </p:sp>
      <p:sp>
        <p:nvSpPr>
          <p:cNvPr id="4" name="Shape 2"/>
          <p:cNvSpPr/>
          <p:nvPr/>
        </p:nvSpPr>
        <p:spPr>
          <a:xfrm>
            <a:off x="8778240" y="438912"/>
            <a:ext cx="2834640" cy="868680"/>
          </a:xfrm>
          <a:prstGeom prst="roundRect">
            <a:avLst>
              <a:gd name="adj" fmla="val 12632"/>
            </a:avLst>
          </a:prstGeom>
          <a:solidFill>
            <a:srgbClr val="028090"/>
          </a:solidFill>
          <a:ln/>
        </p:spPr>
      </p:sp>
      <p:sp>
        <p:nvSpPr>
          <p:cNvPr id="5" name="Text 3"/>
          <p:cNvSpPr txBox="1"/>
          <p:nvPr/>
        </p:nvSpPr>
        <p:spPr>
          <a:xfrm>
            <a:off x="8778240" y="438912"/>
            <a:ext cx="2834640" cy="868680"/>
          </a:xfrm>
          <a:prstGeom prst="rect">
            <a:avLst/>
          </a:prstGeom>
          <a:noFill/>
          <a:ln/>
        </p:spPr>
        <p:txBody>
          <a:bodyPr wrap="square"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MINOR</a:t>
            </a:r>
            <a:endParaRPr lang="en-US" sz="2400" dirty="0"/>
          </a:p>
        </p:txBody>
      </p:sp>
      <p:sp>
        <p:nvSpPr>
          <p:cNvPr id="6" name="Shape 4"/>
          <p:cNvSpPr/>
          <p:nvPr/>
        </p:nvSpPr>
        <p:spPr>
          <a:xfrm>
            <a:off x="548640" y="1508760"/>
            <a:ext cx="11064240" cy="1417320"/>
          </a:xfrm>
          <a:prstGeom prst="roundRect">
            <a:avLst>
              <a:gd name="adj" fmla="val 7742"/>
            </a:avLst>
          </a:prstGeom>
          <a:solidFill>
            <a:srgbClr val="1B2B2E"/>
          </a:solidFill>
          <a:ln/>
        </p:spPr>
      </p:sp>
      <p:sp>
        <p:nvSpPr>
          <p:cNvPr id="7" name="Text 5"/>
          <p:cNvSpPr txBox="1"/>
          <p:nvPr/>
        </p:nvSpPr>
        <p:spPr>
          <a:xfrm>
            <a:off x="822960" y="1645920"/>
            <a:ext cx="10515600" cy="1143000"/>
          </a:xfrm>
          <a:prstGeom prst="rect">
            <a:avLst/>
          </a:prstGeom>
          <a:noFill/>
          <a:ln/>
        </p:spPr>
        <p:txBody>
          <a:bodyPr wrap="square" rtlCol="0" anchor="ctr"/>
          <a:lstStyle/>
          <a:p>
            <a:pPr indent="0" marL="0">
              <a:buNone/>
            </a:pPr>
            <a:r>
              <a:rPr lang="en-US" sz="1450" dirty="0">
                <a:solidFill>
                  <a:srgbClr val="028090"/>
                </a:solidFill>
                <a:latin typeface="Consolas" pitchFamily="34" charset="0"/>
                <a:ea typeface="Consolas" pitchFamily="34" charset="-122"/>
                <a:cs typeface="Consolas" pitchFamily="34" charset="-120"/>
              </a:rPr>
              <a:t>  POST /v1/predict         (sigue funcionando igual)</a:t>
            </a:r>
            <a:endParaRPr lang="en-US" sz="1450" dirty="0"/>
          </a:p>
          <a:p>
            <a:pPr indent="0" marL="0">
              <a:buNone/>
            </a:pPr>
            <a:r>
              <a:rPr lang="en-US" sz="1450" dirty="0">
                <a:solidFill>
                  <a:srgbClr val="028090"/>
                </a:solidFill>
                <a:latin typeface="Consolas" pitchFamily="34" charset="0"/>
                <a:ea typeface="Consolas" pitchFamily="34" charset="-122"/>
                <a:cs typeface="Consolas" pitchFamily="34" charset="-120"/>
              </a:rPr>
              <a:t>+ POST /v2/predict         (nuevo, formato de respuesta distinto)</a:t>
            </a:r>
            <a:endParaRPr lang="en-US" sz="1450" dirty="0"/>
          </a:p>
        </p:txBody>
      </p:sp>
      <p:sp>
        <p:nvSpPr>
          <p:cNvPr id="8" name="Shape 6"/>
          <p:cNvSpPr/>
          <p:nvPr/>
        </p:nvSpPr>
        <p:spPr>
          <a:xfrm>
            <a:off x="548640" y="3154680"/>
            <a:ext cx="11064240" cy="1417320"/>
          </a:xfrm>
          <a:prstGeom prst="roundRect">
            <a:avLst>
              <a:gd name="adj" fmla="val 7742"/>
            </a:avLst>
          </a:prstGeom>
          <a:solidFill>
            <a:srgbClr val="EFF7F6"/>
          </a:solidFill>
          <a:ln w="19050">
            <a:solidFill>
              <a:srgbClr val="028090"/>
            </a:solidFill>
            <a:prstDash val="solid"/>
          </a:ln>
        </p:spPr>
      </p:sp>
      <p:sp>
        <p:nvSpPr>
          <p:cNvPr id="9" name="Text 7"/>
          <p:cNvSpPr txBox="1"/>
          <p:nvPr/>
        </p:nvSpPr>
        <p:spPr>
          <a:xfrm>
            <a:off x="822960" y="3291840"/>
            <a:ext cx="10515600" cy="320040"/>
          </a:xfrm>
          <a:prstGeom prst="rect">
            <a:avLst/>
          </a:prstGeom>
          <a:noFill/>
          <a:ln/>
        </p:spPr>
        <p:txBody>
          <a:bodyPr wrap="square" rtlCol="0" anchor="ctr"/>
          <a:lstStyle/>
          <a:p>
            <a:pPr indent="0" marL="0">
              <a:buNone/>
            </a:pPr>
            <a:r>
              <a:rPr lang="en-US" sz="1200" b="1" spc="150" kern="0" dirty="0">
                <a:solidFill>
                  <a:srgbClr val="028090"/>
                </a:solidFill>
                <a:latin typeface="Calibri" pitchFamily="34" charset="0"/>
                <a:ea typeface="Calibri" pitchFamily="34" charset="-122"/>
                <a:cs typeface="Calibri" pitchFamily="34" charset="-120"/>
              </a:rPr>
              <a:t>¿POR QUÉ?</a:t>
            </a:r>
            <a:endParaRPr lang="en-US" sz="1200" dirty="0"/>
          </a:p>
        </p:txBody>
      </p:sp>
      <p:sp>
        <p:nvSpPr>
          <p:cNvPr id="10" name="Text 8"/>
          <p:cNvSpPr txBox="1"/>
          <p:nvPr/>
        </p:nvSpPr>
        <p:spPr>
          <a:xfrm>
            <a:off x="822960" y="3611880"/>
            <a:ext cx="10515600" cy="868680"/>
          </a:xfrm>
          <a:prstGeom prst="rect">
            <a:avLst/>
          </a:prstGeom>
          <a:noFill/>
          <a:ln/>
        </p:spPr>
        <p:txBody>
          <a:bodyPr wrap="square" rtlCol="0" anchor="ctr"/>
          <a:lstStyle/>
          <a:p>
            <a:pPr indent="0" marL="0">
              <a:buNone/>
            </a:pPr>
            <a:r>
              <a:rPr lang="en-US" sz="1500" dirty="0">
                <a:solidFill>
                  <a:srgbClr val="1B2B2E"/>
                </a:solidFill>
                <a:latin typeface="Calibri" pitchFamily="34" charset="0"/>
                <a:ea typeface="Calibri" pitchFamily="34" charset="-122"/>
                <a:cs typeface="Calibri" pitchFamily="34" charset="-120"/>
              </a:rPr>
              <a:t>Se agregó capacidad nueva (un endpoint adicional) sin tocar ni remover /v1/predict. Quien nunca se entera de /v2/predict, sigue funcionando exactamente igual que antes.</a:t>
            </a:r>
            <a:endParaRPr lang="en-US" sz="1500" dirty="0"/>
          </a:p>
        </p:txBody>
      </p:sp>
      <p:sp>
        <p:nvSpPr>
          <p:cNvPr id="11" name="Shape 9"/>
          <p:cNvSpPr/>
          <p:nvPr/>
        </p:nvSpPr>
        <p:spPr>
          <a:xfrm>
            <a:off x="548640" y="4800600"/>
            <a:ext cx="11064240" cy="1417320"/>
          </a:xfrm>
          <a:prstGeom prst="roundRect">
            <a:avLst>
              <a:gd name="adj" fmla="val 7742"/>
            </a:avLst>
          </a:prstGeom>
          <a:solidFill>
            <a:srgbClr val="0B3D42"/>
          </a:solidFill>
          <a:ln/>
        </p:spPr>
      </p:sp>
      <p:sp>
        <p:nvSpPr>
          <p:cNvPr id="12" name="Text 10"/>
          <p:cNvSpPr txBox="1"/>
          <p:nvPr/>
        </p:nvSpPr>
        <p:spPr>
          <a:xfrm>
            <a:off x="822960" y="4937760"/>
            <a:ext cx="10515600" cy="320040"/>
          </a:xfrm>
          <a:prstGeom prst="rect">
            <a:avLst/>
          </a:prstGeom>
          <a:noFill/>
          <a:ln/>
        </p:spPr>
        <p:txBody>
          <a:bodyPr wrap="square" rtlCol="0" anchor="ctr"/>
          <a:lstStyle/>
          <a:p>
            <a:pPr indent="0" marL="0">
              <a:buNone/>
            </a:pPr>
            <a:r>
              <a:rPr lang="en-US" sz="1150" b="1" spc="100" kern="0" dirty="0">
                <a:solidFill>
                  <a:srgbClr val="02C39A"/>
                </a:solidFill>
                <a:latin typeface="Calibri" pitchFamily="34" charset="0"/>
                <a:ea typeface="Calibri" pitchFamily="34" charset="-122"/>
                <a:cs typeface="Calibri" pitchFamily="34" charset="-120"/>
              </a:rPr>
              <a:t>SI TU EQUIPO VOTÓ DISTINTO...</a:t>
            </a:r>
            <a:endParaRPr lang="en-US" sz="1150" dirty="0"/>
          </a:p>
        </p:txBody>
      </p:sp>
      <p:sp>
        <p:nvSpPr>
          <p:cNvPr id="13" name="Text 11"/>
          <p:cNvSpPr txBox="1"/>
          <p:nvPr/>
        </p:nvSpPr>
        <p:spPr>
          <a:xfrm>
            <a:off x="822960" y="5257800"/>
            <a:ext cx="10515600" cy="868680"/>
          </a:xfrm>
          <a:prstGeom prst="rect">
            <a:avLst/>
          </a:prstGeom>
          <a:noFill/>
          <a:ln/>
        </p:spPr>
        <p:txBody>
          <a:bodyPr wrap="square" rtlCol="0" anchor="ctr"/>
          <a:lstStyle/>
          <a:p>
            <a:pPr indent="0" marL="0">
              <a:buNone/>
            </a:pPr>
            <a:r>
              <a:rPr lang="en-US" sz="1450" i="1" dirty="0">
                <a:solidFill>
                  <a:srgbClr val="F4FBFA"/>
                </a:solidFill>
                <a:latin typeface="Calibri" pitchFamily="34" charset="0"/>
                <a:ea typeface="Calibri" pitchFamily="34" charset="-122"/>
                <a:cs typeface="Calibri" pitchFamily="34" charset="-120"/>
              </a:rPr>
              <a:t>Ojo: el día que /v1/predict se elimine (no solo se deje de recomendar), ese sí será un MAJOR.</a:t>
            </a:r>
            <a:endParaRPr lang="en-US" sz="1450" dirty="0"/>
          </a:p>
        </p:txBody>
      </p:sp>
      <p:sp>
        <p:nvSpPr>
          <p:cNvPr id="14" name="Text 12"/>
          <p:cNvSpPr txBox="1"/>
          <p:nvPr/>
        </p:nvSpPr>
        <p:spPr>
          <a:xfrm>
            <a:off x="11155680" y="6473952"/>
            <a:ext cx="822960" cy="274320"/>
          </a:xfrm>
          <a:prstGeom prst="rect">
            <a:avLst/>
          </a:prstGeom>
          <a:noFill/>
          <a:ln/>
        </p:spPr>
        <p:txBody>
          <a:bodyPr wrap="square" rtlCol="0" anchor="ctr"/>
          <a:lstStyle/>
          <a:p>
            <a:pPr algn="r" indent="0" marL="0">
              <a:buNone/>
            </a:pPr>
            <a:r>
              <a:rPr lang="en-US" sz="1000" dirty="0">
                <a:solidFill>
                  <a:srgbClr val="5C7A7D"/>
                </a:solidFill>
                <a:latin typeface="Calibri" pitchFamily="34" charset="0"/>
                <a:ea typeface="Calibri" pitchFamily="34" charset="-122"/>
                <a:cs typeface="Calibri" pitchFamily="34" charset="-120"/>
              </a:rPr>
              <a:t>17 / 19</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8229600" cy="292608"/>
          </a:xfrm>
          <a:prstGeom prst="rect">
            <a:avLst/>
          </a:prstGeom>
          <a:noFill/>
          <a:ln/>
        </p:spPr>
        <p:txBody>
          <a:bodyPr wrap="square"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RESUMEN</a:t>
            </a:r>
            <a:endParaRPr lang="en-US" sz="1200" dirty="0"/>
          </a:p>
        </p:txBody>
      </p:sp>
      <p:sp>
        <p:nvSpPr>
          <p:cNvPr id="3" name="Text 1"/>
          <p:cNvSpPr txBox="1"/>
          <p:nvPr/>
        </p:nvSpPr>
        <p:spPr>
          <a:xfrm>
            <a:off x="548640" y="411480"/>
            <a:ext cx="11064240" cy="822960"/>
          </a:xfrm>
          <a:prstGeom prst="rect">
            <a:avLst/>
          </a:prstGeom>
          <a:noFill/>
          <a:ln/>
        </p:spPr>
        <p:txBody>
          <a:bodyPr wrap="square" rtlCol="0" anchor="ctr"/>
          <a:lstStyle/>
          <a:p>
            <a:pPr algn="l" indent="0" marL="0">
              <a:buNone/>
            </a:pPr>
            <a:r>
              <a:rPr lang="en-US" sz="3200" b="1" dirty="0">
                <a:solidFill>
                  <a:srgbClr val="1B2B2E"/>
                </a:solidFill>
                <a:latin typeface="Cambria" pitchFamily="34" charset="0"/>
                <a:ea typeface="Cambria" pitchFamily="34" charset="-122"/>
                <a:cs typeface="Cambria" pitchFamily="34" charset="-120"/>
              </a:rPr>
              <a:t>Los 6 casos, de un vistazo</a:t>
            </a:r>
            <a:endParaRPr lang="en-US" sz="3200" dirty="0"/>
          </a:p>
        </p:txBody>
      </p:sp>
      <p:sp>
        <p:nvSpPr>
          <p:cNvPr id="4" name="Shape 2"/>
          <p:cNvSpPr/>
          <p:nvPr/>
        </p:nvSpPr>
        <p:spPr>
          <a:xfrm>
            <a:off x="548640" y="1554480"/>
            <a:ext cx="11064240" cy="4489704"/>
          </a:xfrm>
          <a:prstGeom prst="roundRect">
            <a:avLst>
              <a:gd name="adj" fmla="val 2037"/>
            </a:avLst>
          </a:prstGeom>
          <a:solidFill>
            <a:srgbClr val="EFF7F6"/>
          </a:solidFill>
          <a:ln w="12700">
            <a:solidFill>
              <a:srgbClr val="CFE3E1"/>
            </a:solidFill>
            <a:prstDash val="solid"/>
          </a:ln>
        </p:spPr>
      </p:sp>
      <p:sp>
        <p:nvSpPr>
          <p:cNvPr id="5" name="Text 3"/>
          <p:cNvSpPr txBox="1"/>
          <p:nvPr/>
        </p:nvSpPr>
        <p:spPr>
          <a:xfrm>
            <a:off x="777240" y="1600200"/>
            <a:ext cx="822960" cy="621792"/>
          </a:xfrm>
          <a:prstGeom prst="rect">
            <a:avLst/>
          </a:prstGeom>
          <a:noFill/>
          <a:ln/>
        </p:spPr>
        <p:txBody>
          <a:bodyPr wrap="square" rtlCol="0" anchor="ctr"/>
          <a:lstStyle/>
          <a:p>
            <a:pPr indent="0" marL="0">
              <a:buNone/>
            </a:pPr>
            <a:r>
              <a:rPr lang="en-US" sz="1200" b="1" dirty="0">
                <a:solidFill>
                  <a:srgbClr val="5C7A7D"/>
                </a:solidFill>
                <a:latin typeface="Calibri" pitchFamily="34" charset="0"/>
                <a:ea typeface="Calibri" pitchFamily="34" charset="-122"/>
                <a:cs typeface="Calibri" pitchFamily="34" charset="-120"/>
              </a:rPr>
              <a:t>CASO</a:t>
            </a:r>
            <a:endParaRPr lang="en-US" sz="1200" dirty="0"/>
          </a:p>
        </p:txBody>
      </p:sp>
      <p:sp>
        <p:nvSpPr>
          <p:cNvPr id="6" name="Text 4"/>
          <p:cNvSpPr txBox="1"/>
          <p:nvPr/>
        </p:nvSpPr>
        <p:spPr>
          <a:xfrm>
            <a:off x="1691640" y="1600200"/>
            <a:ext cx="7315200" cy="621792"/>
          </a:xfrm>
          <a:prstGeom prst="rect">
            <a:avLst/>
          </a:prstGeom>
          <a:noFill/>
          <a:ln/>
        </p:spPr>
        <p:txBody>
          <a:bodyPr wrap="square" rtlCol="0" anchor="ctr"/>
          <a:lstStyle/>
          <a:p>
            <a:pPr indent="0" marL="0">
              <a:buNone/>
            </a:pPr>
            <a:r>
              <a:rPr lang="en-US" sz="1200" b="1" dirty="0">
                <a:solidFill>
                  <a:srgbClr val="5C7A7D"/>
                </a:solidFill>
                <a:latin typeface="Calibri" pitchFamily="34" charset="0"/>
                <a:ea typeface="Calibri" pitchFamily="34" charset="-122"/>
                <a:cs typeface="Calibri" pitchFamily="34" charset="-120"/>
              </a:rPr>
              <a:t>QUÉ PASÓ</a:t>
            </a:r>
            <a:endParaRPr lang="en-US" sz="1200" dirty="0"/>
          </a:p>
        </p:txBody>
      </p:sp>
      <p:sp>
        <p:nvSpPr>
          <p:cNvPr id="7" name="Text 5"/>
          <p:cNvSpPr txBox="1"/>
          <p:nvPr/>
        </p:nvSpPr>
        <p:spPr>
          <a:xfrm>
            <a:off x="9235440" y="1600200"/>
            <a:ext cx="2194560" cy="621792"/>
          </a:xfrm>
          <a:prstGeom prst="rect">
            <a:avLst/>
          </a:prstGeom>
          <a:noFill/>
          <a:ln/>
        </p:spPr>
        <p:txBody>
          <a:bodyPr wrap="square" rtlCol="0" anchor="ctr"/>
          <a:lstStyle/>
          <a:p>
            <a:pPr algn="ctr" indent="0" marL="0">
              <a:buNone/>
            </a:pPr>
            <a:r>
              <a:rPr lang="en-US" sz="1200" b="1" dirty="0">
                <a:solidFill>
                  <a:srgbClr val="5C7A7D"/>
                </a:solidFill>
                <a:latin typeface="Calibri" pitchFamily="34" charset="0"/>
                <a:ea typeface="Calibri" pitchFamily="34" charset="-122"/>
                <a:cs typeface="Calibri" pitchFamily="34" charset="-120"/>
              </a:rPr>
              <a:t>VEREDICTO</a:t>
            </a:r>
            <a:endParaRPr lang="en-US" sz="1200" dirty="0"/>
          </a:p>
        </p:txBody>
      </p:sp>
      <p:sp>
        <p:nvSpPr>
          <p:cNvPr id="8" name="Shape 6"/>
          <p:cNvSpPr/>
          <p:nvPr/>
        </p:nvSpPr>
        <p:spPr>
          <a:xfrm>
            <a:off x="594360" y="2221992"/>
            <a:ext cx="10972800" cy="621792"/>
          </a:xfrm>
          <a:prstGeom prst="rect">
            <a:avLst/>
          </a:prstGeom>
          <a:solidFill>
            <a:srgbClr val="FFFFFF">
              <a:alpha val="60000"/>
            </a:srgbClr>
          </a:solidFill>
          <a:ln/>
        </p:spPr>
      </p:sp>
      <p:sp>
        <p:nvSpPr>
          <p:cNvPr id="9" name="Text 7"/>
          <p:cNvSpPr txBox="1"/>
          <p:nvPr/>
        </p:nvSpPr>
        <p:spPr>
          <a:xfrm>
            <a:off x="777240" y="2221992"/>
            <a:ext cx="822960" cy="621792"/>
          </a:xfrm>
          <a:prstGeom prst="rect">
            <a:avLst/>
          </a:prstGeom>
          <a:noFill/>
          <a:ln/>
        </p:spPr>
        <p:txBody>
          <a:bodyPr wrap="square" rtlCol="0" anchor="ctr"/>
          <a:lstStyle/>
          <a:p>
            <a:pPr indent="0" marL="0">
              <a:buNone/>
            </a:pPr>
            <a:r>
              <a:rPr lang="en-US" sz="1600" b="1" dirty="0">
                <a:solidFill>
                  <a:srgbClr val="1B2B2E"/>
                </a:solidFill>
                <a:latin typeface="Cambria" pitchFamily="34" charset="0"/>
                <a:ea typeface="Cambria" pitchFamily="34" charset="-122"/>
                <a:cs typeface="Cambria" pitchFamily="34" charset="-120"/>
              </a:rPr>
              <a:t>1</a:t>
            </a:r>
            <a:endParaRPr lang="en-US" sz="1600" dirty="0"/>
          </a:p>
        </p:txBody>
      </p:sp>
      <p:sp>
        <p:nvSpPr>
          <p:cNvPr id="10" name="Text 8"/>
          <p:cNvSpPr txBox="1"/>
          <p:nvPr/>
        </p:nvSpPr>
        <p:spPr>
          <a:xfrm>
            <a:off x="1691640" y="2221992"/>
            <a:ext cx="7315200" cy="621792"/>
          </a:xfrm>
          <a:prstGeom prst="rect">
            <a:avLst/>
          </a:prstGeom>
          <a:noFill/>
          <a:ln/>
        </p:spPr>
        <p:txBody>
          <a:bodyPr wrap="square" rtlCol="0" anchor="ctr"/>
          <a:lstStyle/>
          <a:p>
            <a:pPr indent="0" marL="0">
              <a:buNone/>
            </a:pPr>
            <a:r>
              <a:rPr lang="en-US" sz="1400" dirty="0">
                <a:solidFill>
                  <a:srgbClr val="1B2B2E"/>
                </a:solidFill>
                <a:latin typeface="Calibri" pitchFamily="34" charset="0"/>
                <a:ea typeface="Calibri" pitchFamily="34" charset="-122"/>
                <a:cs typeface="Calibri" pitchFamily="34" charset="-120"/>
              </a:rPr>
              <a:t>Eliminar función deprecated</a:t>
            </a:r>
            <a:endParaRPr lang="en-US" sz="1400" dirty="0"/>
          </a:p>
        </p:txBody>
      </p:sp>
      <p:sp>
        <p:nvSpPr>
          <p:cNvPr id="11" name="Shape 9"/>
          <p:cNvSpPr/>
          <p:nvPr/>
        </p:nvSpPr>
        <p:spPr>
          <a:xfrm>
            <a:off x="9372600" y="2295144"/>
            <a:ext cx="1920240" cy="475488"/>
          </a:xfrm>
          <a:prstGeom prst="roundRect">
            <a:avLst>
              <a:gd name="adj" fmla="val 11538"/>
            </a:avLst>
          </a:prstGeom>
          <a:solidFill>
            <a:srgbClr val="D7263D"/>
          </a:solidFill>
          <a:ln/>
        </p:spPr>
      </p:sp>
      <p:sp>
        <p:nvSpPr>
          <p:cNvPr id="12" name="Text 10"/>
          <p:cNvSpPr txBox="1"/>
          <p:nvPr/>
        </p:nvSpPr>
        <p:spPr>
          <a:xfrm>
            <a:off x="9372600" y="2295144"/>
            <a:ext cx="1920240" cy="475488"/>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MAJOR</a:t>
            </a:r>
            <a:endParaRPr lang="en-US" sz="1300" dirty="0"/>
          </a:p>
        </p:txBody>
      </p:sp>
      <p:sp>
        <p:nvSpPr>
          <p:cNvPr id="13" name="Text 11"/>
          <p:cNvSpPr txBox="1"/>
          <p:nvPr/>
        </p:nvSpPr>
        <p:spPr>
          <a:xfrm>
            <a:off x="777240" y="2843784"/>
            <a:ext cx="822960" cy="621792"/>
          </a:xfrm>
          <a:prstGeom prst="rect">
            <a:avLst/>
          </a:prstGeom>
          <a:noFill/>
          <a:ln/>
        </p:spPr>
        <p:txBody>
          <a:bodyPr wrap="square" rtlCol="0" anchor="ctr"/>
          <a:lstStyle/>
          <a:p>
            <a:pPr indent="0" marL="0">
              <a:buNone/>
            </a:pPr>
            <a:r>
              <a:rPr lang="en-US" sz="1600" b="1" dirty="0">
                <a:solidFill>
                  <a:srgbClr val="1B2B2E"/>
                </a:solidFill>
                <a:latin typeface="Cambria" pitchFamily="34" charset="0"/>
                <a:ea typeface="Cambria" pitchFamily="34" charset="-122"/>
                <a:cs typeface="Cambria" pitchFamily="34" charset="-120"/>
              </a:rPr>
              <a:t>2</a:t>
            </a:r>
            <a:endParaRPr lang="en-US" sz="1600" dirty="0"/>
          </a:p>
        </p:txBody>
      </p:sp>
      <p:sp>
        <p:nvSpPr>
          <p:cNvPr id="14" name="Text 12"/>
          <p:cNvSpPr txBox="1"/>
          <p:nvPr/>
        </p:nvSpPr>
        <p:spPr>
          <a:xfrm>
            <a:off x="1691640" y="2843784"/>
            <a:ext cx="7315200" cy="621792"/>
          </a:xfrm>
          <a:prstGeom prst="rect">
            <a:avLst/>
          </a:prstGeom>
          <a:noFill/>
          <a:ln/>
        </p:spPr>
        <p:txBody>
          <a:bodyPr wrap="square" rtlCol="0" anchor="ctr"/>
          <a:lstStyle/>
          <a:p>
            <a:pPr indent="0" marL="0">
              <a:buNone/>
            </a:pPr>
            <a:r>
              <a:rPr lang="en-US" sz="1400" dirty="0">
                <a:solidFill>
                  <a:srgbClr val="1B2B2E"/>
                </a:solidFill>
                <a:latin typeface="Calibri" pitchFamily="34" charset="0"/>
                <a:ea typeface="Calibri" pitchFamily="34" charset="-122"/>
                <a:cs typeface="Calibri" pitchFamily="34" charset="-120"/>
              </a:rPr>
              <a:t>Agregar parámetro opcional</a:t>
            </a:r>
            <a:endParaRPr lang="en-US" sz="1400" dirty="0"/>
          </a:p>
        </p:txBody>
      </p:sp>
      <p:sp>
        <p:nvSpPr>
          <p:cNvPr id="15" name="Shape 13"/>
          <p:cNvSpPr/>
          <p:nvPr/>
        </p:nvSpPr>
        <p:spPr>
          <a:xfrm>
            <a:off x="9372600" y="2916936"/>
            <a:ext cx="1920240" cy="475488"/>
          </a:xfrm>
          <a:prstGeom prst="roundRect">
            <a:avLst>
              <a:gd name="adj" fmla="val 11538"/>
            </a:avLst>
          </a:prstGeom>
          <a:solidFill>
            <a:srgbClr val="028090"/>
          </a:solidFill>
          <a:ln/>
        </p:spPr>
      </p:sp>
      <p:sp>
        <p:nvSpPr>
          <p:cNvPr id="16" name="Text 14"/>
          <p:cNvSpPr txBox="1"/>
          <p:nvPr/>
        </p:nvSpPr>
        <p:spPr>
          <a:xfrm>
            <a:off x="9372600" y="2916936"/>
            <a:ext cx="1920240" cy="475488"/>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MINOR</a:t>
            </a:r>
            <a:endParaRPr lang="en-US" sz="1300" dirty="0"/>
          </a:p>
        </p:txBody>
      </p:sp>
      <p:sp>
        <p:nvSpPr>
          <p:cNvPr id="17" name="Shape 15"/>
          <p:cNvSpPr/>
          <p:nvPr/>
        </p:nvSpPr>
        <p:spPr>
          <a:xfrm>
            <a:off x="594360" y="3465576"/>
            <a:ext cx="10972800" cy="621792"/>
          </a:xfrm>
          <a:prstGeom prst="rect">
            <a:avLst/>
          </a:prstGeom>
          <a:solidFill>
            <a:srgbClr val="FFFFFF">
              <a:alpha val="60000"/>
            </a:srgbClr>
          </a:solidFill>
          <a:ln/>
        </p:spPr>
      </p:sp>
      <p:sp>
        <p:nvSpPr>
          <p:cNvPr id="18" name="Text 16"/>
          <p:cNvSpPr txBox="1"/>
          <p:nvPr/>
        </p:nvSpPr>
        <p:spPr>
          <a:xfrm>
            <a:off x="777240" y="3465576"/>
            <a:ext cx="822960" cy="621792"/>
          </a:xfrm>
          <a:prstGeom prst="rect">
            <a:avLst/>
          </a:prstGeom>
          <a:noFill/>
          <a:ln/>
        </p:spPr>
        <p:txBody>
          <a:bodyPr wrap="square" rtlCol="0" anchor="ctr"/>
          <a:lstStyle/>
          <a:p>
            <a:pPr indent="0" marL="0">
              <a:buNone/>
            </a:pPr>
            <a:r>
              <a:rPr lang="en-US" sz="1600" b="1" dirty="0">
                <a:solidFill>
                  <a:srgbClr val="1B2B2E"/>
                </a:solidFill>
                <a:latin typeface="Cambria" pitchFamily="34" charset="0"/>
                <a:ea typeface="Cambria" pitchFamily="34" charset="-122"/>
                <a:cs typeface="Cambria" pitchFamily="34" charset="-120"/>
              </a:rPr>
              <a:t>3</a:t>
            </a:r>
            <a:endParaRPr lang="en-US" sz="1600" dirty="0"/>
          </a:p>
        </p:txBody>
      </p:sp>
      <p:sp>
        <p:nvSpPr>
          <p:cNvPr id="19" name="Text 17"/>
          <p:cNvSpPr txBox="1"/>
          <p:nvPr/>
        </p:nvSpPr>
        <p:spPr>
          <a:xfrm>
            <a:off x="1691640" y="3465576"/>
            <a:ext cx="7315200" cy="621792"/>
          </a:xfrm>
          <a:prstGeom prst="rect">
            <a:avLst/>
          </a:prstGeom>
          <a:noFill/>
          <a:ln/>
        </p:spPr>
        <p:txBody>
          <a:bodyPr wrap="square" rtlCol="0" anchor="ctr"/>
          <a:lstStyle/>
          <a:p>
            <a:pPr indent="0" marL="0">
              <a:buNone/>
            </a:pPr>
            <a:r>
              <a:rPr lang="en-US" sz="1400" dirty="0">
                <a:solidFill>
                  <a:srgbClr val="1B2B2E"/>
                </a:solidFill>
                <a:latin typeface="Calibri" pitchFamily="34" charset="0"/>
                <a:ea typeface="Calibri" pitchFamily="34" charset="-122"/>
                <a:cs typeface="Calibri" pitchFamily="34" charset="-120"/>
              </a:rPr>
              <a:t>Corregir typo en un log</a:t>
            </a:r>
            <a:endParaRPr lang="en-US" sz="1400" dirty="0"/>
          </a:p>
        </p:txBody>
      </p:sp>
      <p:sp>
        <p:nvSpPr>
          <p:cNvPr id="20" name="Shape 18"/>
          <p:cNvSpPr/>
          <p:nvPr/>
        </p:nvSpPr>
        <p:spPr>
          <a:xfrm>
            <a:off x="9372600" y="3538728"/>
            <a:ext cx="1920240" cy="475488"/>
          </a:xfrm>
          <a:prstGeom prst="roundRect">
            <a:avLst>
              <a:gd name="adj" fmla="val 11538"/>
            </a:avLst>
          </a:prstGeom>
          <a:solidFill>
            <a:srgbClr val="02C39A"/>
          </a:solidFill>
          <a:ln/>
        </p:spPr>
      </p:sp>
      <p:sp>
        <p:nvSpPr>
          <p:cNvPr id="21" name="Text 19"/>
          <p:cNvSpPr txBox="1"/>
          <p:nvPr/>
        </p:nvSpPr>
        <p:spPr>
          <a:xfrm>
            <a:off x="9372600" y="3538728"/>
            <a:ext cx="1920240" cy="475488"/>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PATCH</a:t>
            </a:r>
            <a:endParaRPr lang="en-US" sz="1300" dirty="0"/>
          </a:p>
        </p:txBody>
      </p:sp>
      <p:sp>
        <p:nvSpPr>
          <p:cNvPr id="22" name="Text 20"/>
          <p:cNvSpPr txBox="1"/>
          <p:nvPr/>
        </p:nvSpPr>
        <p:spPr>
          <a:xfrm>
            <a:off x="777240" y="4087368"/>
            <a:ext cx="822960" cy="621792"/>
          </a:xfrm>
          <a:prstGeom prst="rect">
            <a:avLst/>
          </a:prstGeom>
          <a:noFill/>
          <a:ln/>
        </p:spPr>
        <p:txBody>
          <a:bodyPr wrap="square" rtlCol="0" anchor="ctr"/>
          <a:lstStyle/>
          <a:p>
            <a:pPr indent="0" marL="0">
              <a:buNone/>
            </a:pPr>
            <a:r>
              <a:rPr lang="en-US" sz="1600" b="1" dirty="0">
                <a:solidFill>
                  <a:srgbClr val="1B2B2E"/>
                </a:solidFill>
                <a:latin typeface="Cambria" pitchFamily="34" charset="0"/>
                <a:ea typeface="Cambria" pitchFamily="34" charset="-122"/>
                <a:cs typeface="Cambria" pitchFamily="34" charset="-120"/>
              </a:rPr>
              <a:t>4</a:t>
            </a:r>
            <a:endParaRPr lang="en-US" sz="1600" dirty="0"/>
          </a:p>
        </p:txBody>
      </p:sp>
      <p:sp>
        <p:nvSpPr>
          <p:cNvPr id="23" name="Text 21"/>
          <p:cNvSpPr txBox="1"/>
          <p:nvPr/>
        </p:nvSpPr>
        <p:spPr>
          <a:xfrm>
            <a:off x="1691640" y="4087368"/>
            <a:ext cx="7315200" cy="621792"/>
          </a:xfrm>
          <a:prstGeom prst="rect">
            <a:avLst/>
          </a:prstGeom>
          <a:noFill/>
          <a:ln/>
        </p:spPr>
        <p:txBody>
          <a:bodyPr wrap="square" rtlCol="0" anchor="ctr"/>
          <a:lstStyle/>
          <a:p>
            <a:pPr indent="0" marL="0">
              <a:buNone/>
            </a:pPr>
            <a:r>
              <a:rPr lang="en-US" sz="1400" dirty="0">
                <a:solidFill>
                  <a:srgbClr val="1B2B2E"/>
                </a:solidFill>
                <a:latin typeface="Calibri" pitchFamily="34" charset="0"/>
                <a:ea typeface="Calibri" pitchFamily="34" charset="-122"/>
                <a:cs typeface="Calibri" pitchFamily="34" charset="-120"/>
              </a:rPr>
              <a:t>Cambiar un valor por defecto</a:t>
            </a:r>
            <a:endParaRPr lang="en-US" sz="1400" dirty="0"/>
          </a:p>
        </p:txBody>
      </p:sp>
      <p:sp>
        <p:nvSpPr>
          <p:cNvPr id="24" name="Shape 22"/>
          <p:cNvSpPr/>
          <p:nvPr/>
        </p:nvSpPr>
        <p:spPr>
          <a:xfrm>
            <a:off x="9372600" y="4160520"/>
            <a:ext cx="1920240" cy="475488"/>
          </a:xfrm>
          <a:prstGeom prst="roundRect">
            <a:avLst>
              <a:gd name="adj" fmla="val 11538"/>
            </a:avLst>
          </a:prstGeom>
          <a:solidFill>
            <a:srgbClr val="D7263D"/>
          </a:solidFill>
          <a:ln/>
        </p:spPr>
      </p:sp>
      <p:sp>
        <p:nvSpPr>
          <p:cNvPr id="25" name="Text 23"/>
          <p:cNvSpPr txBox="1"/>
          <p:nvPr/>
        </p:nvSpPr>
        <p:spPr>
          <a:xfrm>
            <a:off x="9372600" y="4160520"/>
            <a:ext cx="1920240" cy="475488"/>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MAJOR</a:t>
            </a:r>
            <a:endParaRPr lang="en-US" sz="1300" dirty="0"/>
          </a:p>
        </p:txBody>
      </p:sp>
      <p:sp>
        <p:nvSpPr>
          <p:cNvPr id="26" name="Shape 24"/>
          <p:cNvSpPr/>
          <p:nvPr/>
        </p:nvSpPr>
        <p:spPr>
          <a:xfrm>
            <a:off x="594360" y="4709160"/>
            <a:ext cx="10972800" cy="621792"/>
          </a:xfrm>
          <a:prstGeom prst="rect">
            <a:avLst/>
          </a:prstGeom>
          <a:solidFill>
            <a:srgbClr val="FFFFFF">
              <a:alpha val="60000"/>
            </a:srgbClr>
          </a:solidFill>
          <a:ln/>
        </p:spPr>
      </p:sp>
      <p:sp>
        <p:nvSpPr>
          <p:cNvPr id="27" name="Text 25"/>
          <p:cNvSpPr txBox="1"/>
          <p:nvPr/>
        </p:nvSpPr>
        <p:spPr>
          <a:xfrm>
            <a:off x="777240" y="4709160"/>
            <a:ext cx="822960" cy="621792"/>
          </a:xfrm>
          <a:prstGeom prst="rect">
            <a:avLst/>
          </a:prstGeom>
          <a:noFill/>
          <a:ln/>
        </p:spPr>
        <p:txBody>
          <a:bodyPr wrap="square" rtlCol="0" anchor="ctr"/>
          <a:lstStyle/>
          <a:p>
            <a:pPr indent="0" marL="0">
              <a:buNone/>
            </a:pPr>
            <a:r>
              <a:rPr lang="en-US" sz="1600" b="1" dirty="0">
                <a:solidFill>
                  <a:srgbClr val="1B2B2E"/>
                </a:solidFill>
                <a:latin typeface="Cambria" pitchFamily="34" charset="0"/>
                <a:ea typeface="Cambria" pitchFamily="34" charset="-122"/>
                <a:cs typeface="Cambria" pitchFamily="34" charset="-120"/>
              </a:rPr>
              <a:t>5</a:t>
            </a:r>
            <a:endParaRPr lang="en-US" sz="1600" dirty="0"/>
          </a:p>
        </p:txBody>
      </p:sp>
      <p:sp>
        <p:nvSpPr>
          <p:cNvPr id="28" name="Text 26"/>
          <p:cNvSpPr txBox="1"/>
          <p:nvPr/>
        </p:nvSpPr>
        <p:spPr>
          <a:xfrm>
            <a:off x="1691640" y="4709160"/>
            <a:ext cx="7315200" cy="621792"/>
          </a:xfrm>
          <a:prstGeom prst="rect">
            <a:avLst/>
          </a:prstGeom>
          <a:noFill/>
          <a:ln/>
        </p:spPr>
        <p:txBody>
          <a:bodyPr wrap="square" rtlCol="0" anchor="ctr"/>
          <a:lstStyle/>
          <a:p>
            <a:pPr indent="0" marL="0">
              <a:buNone/>
            </a:pPr>
            <a:r>
              <a:rPr lang="en-US" sz="1400" dirty="0">
                <a:solidFill>
                  <a:srgbClr val="1B2B2E"/>
                </a:solidFill>
                <a:latin typeface="Calibri" pitchFamily="34" charset="0"/>
                <a:ea typeface="Calibri" pitchFamily="34" charset="-122"/>
                <a:cs typeface="Calibri" pitchFamily="34" charset="-120"/>
              </a:rPr>
              <a:t>Reescribir algoritmo interno (misma firma)</a:t>
            </a:r>
            <a:endParaRPr lang="en-US" sz="1400" dirty="0"/>
          </a:p>
        </p:txBody>
      </p:sp>
      <p:sp>
        <p:nvSpPr>
          <p:cNvPr id="29" name="Shape 27"/>
          <p:cNvSpPr/>
          <p:nvPr/>
        </p:nvSpPr>
        <p:spPr>
          <a:xfrm>
            <a:off x="9372600" y="4782312"/>
            <a:ext cx="1920240" cy="475488"/>
          </a:xfrm>
          <a:prstGeom prst="roundRect">
            <a:avLst>
              <a:gd name="adj" fmla="val 11538"/>
            </a:avLst>
          </a:prstGeom>
          <a:solidFill>
            <a:srgbClr val="02C39A"/>
          </a:solidFill>
          <a:ln/>
        </p:spPr>
      </p:sp>
      <p:sp>
        <p:nvSpPr>
          <p:cNvPr id="30" name="Text 28"/>
          <p:cNvSpPr txBox="1"/>
          <p:nvPr/>
        </p:nvSpPr>
        <p:spPr>
          <a:xfrm>
            <a:off x="9372600" y="4782312"/>
            <a:ext cx="1920240" cy="475488"/>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PATCH</a:t>
            </a:r>
            <a:endParaRPr lang="en-US" sz="1300" dirty="0"/>
          </a:p>
        </p:txBody>
      </p:sp>
      <p:sp>
        <p:nvSpPr>
          <p:cNvPr id="31" name="Text 29"/>
          <p:cNvSpPr txBox="1"/>
          <p:nvPr/>
        </p:nvSpPr>
        <p:spPr>
          <a:xfrm>
            <a:off x="777240" y="5330952"/>
            <a:ext cx="822960" cy="621792"/>
          </a:xfrm>
          <a:prstGeom prst="rect">
            <a:avLst/>
          </a:prstGeom>
          <a:noFill/>
          <a:ln/>
        </p:spPr>
        <p:txBody>
          <a:bodyPr wrap="square" rtlCol="0" anchor="ctr"/>
          <a:lstStyle/>
          <a:p>
            <a:pPr indent="0" marL="0">
              <a:buNone/>
            </a:pPr>
            <a:r>
              <a:rPr lang="en-US" sz="1600" b="1" dirty="0">
                <a:solidFill>
                  <a:srgbClr val="1B2B2E"/>
                </a:solidFill>
                <a:latin typeface="Cambria" pitchFamily="34" charset="0"/>
                <a:ea typeface="Cambria" pitchFamily="34" charset="-122"/>
                <a:cs typeface="Cambria" pitchFamily="34" charset="-120"/>
              </a:rPr>
              <a:t>6</a:t>
            </a:r>
            <a:endParaRPr lang="en-US" sz="1600" dirty="0"/>
          </a:p>
        </p:txBody>
      </p:sp>
      <p:sp>
        <p:nvSpPr>
          <p:cNvPr id="32" name="Text 30"/>
          <p:cNvSpPr txBox="1"/>
          <p:nvPr/>
        </p:nvSpPr>
        <p:spPr>
          <a:xfrm>
            <a:off x="1691640" y="5330952"/>
            <a:ext cx="7315200" cy="621792"/>
          </a:xfrm>
          <a:prstGeom prst="rect">
            <a:avLst/>
          </a:prstGeom>
          <a:noFill/>
          <a:ln/>
        </p:spPr>
        <p:txBody>
          <a:bodyPr wrap="square" rtlCol="0" anchor="ctr"/>
          <a:lstStyle/>
          <a:p>
            <a:pPr indent="0" marL="0">
              <a:buNone/>
            </a:pPr>
            <a:r>
              <a:rPr lang="en-US" sz="1400" dirty="0">
                <a:solidFill>
                  <a:srgbClr val="1B2B2E"/>
                </a:solidFill>
                <a:latin typeface="Calibri" pitchFamily="34" charset="0"/>
                <a:ea typeface="Calibri" pitchFamily="34" charset="-122"/>
                <a:cs typeface="Calibri" pitchFamily="34" charset="-120"/>
              </a:rPr>
              <a:t>Agregar endpoint nuevo, sin tocar el viejo</a:t>
            </a:r>
            <a:endParaRPr lang="en-US" sz="1400" dirty="0"/>
          </a:p>
        </p:txBody>
      </p:sp>
      <p:sp>
        <p:nvSpPr>
          <p:cNvPr id="33" name="Shape 31"/>
          <p:cNvSpPr/>
          <p:nvPr/>
        </p:nvSpPr>
        <p:spPr>
          <a:xfrm>
            <a:off x="9372600" y="5404104"/>
            <a:ext cx="1920240" cy="475488"/>
          </a:xfrm>
          <a:prstGeom prst="roundRect">
            <a:avLst>
              <a:gd name="adj" fmla="val 11538"/>
            </a:avLst>
          </a:prstGeom>
          <a:solidFill>
            <a:srgbClr val="028090"/>
          </a:solidFill>
          <a:ln/>
        </p:spPr>
      </p:sp>
      <p:sp>
        <p:nvSpPr>
          <p:cNvPr id="34" name="Text 32"/>
          <p:cNvSpPr txBox="1"/>
          <p:nvPr/>
        </p:nvSpPr>
        <p:spPr>
          <a:xfrm>
            <a:off x="9372600" y="5404104"/>
            <a:ext cx="1920240" cy="475488"/>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MINOR</a:t>
            </a:r>
            <a:endParaRPr lang="en-US" sz="1300" dirty="0"/>
          </a:p>
        </p:txBody>
      </p:sp>
      <p:sp>
        <p:nvSpPr>
          <p:cNvPr id="35" name="Text 33"/>
          <p:cNvSpPr txBox="1"/>
          <p:nvPr/>
        </p:nvSpPr>
        <p:spPr>
          <a:xfrm>
            <a:off x="11155680" y="6473952"/>
            <a:ext cx="822960" cy="274320"/>
          </a:xfrm>
          <a:prstGeom prst="rect">
            <a:avLst/>
          </a:prstGeom>
          <a:noFill/>
          <a:ln/>
        </p:spPr>
        <p:txBody>
          <a:bodyPr wrap="square" rtlCol="0" anchor="ctr"/>
          <a:lstStyle/>
          <a:p>
            <a:pPr algn="r" indent="0" marL="0">
              <a:buNone/>
            </a:pPr>
            <a:r>
              <a:rPr lang="en-US" sz="1000" dirty="0">
                <a:solidFill>
                  <a:srgbClr val="5C7A7D"/>
                </a:solidFill>
                <a:latin typeface="Calibri" pitchFamily="34" charset="0"/>
                <a:ea typeface="Calibri" pitchFamily="34" charset="-122"/>
                <a:cs typeface="Calibri" pitchFamily="34" charset="-120"/>
              </a:rPr>
              <a:t>18 / 19</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3D42"/>
        </a:solidFill>
      </p:bgPr>
    </p:bg>
    <p:spTree>
      <p:nvGrpSpPr>
        <p:cNvPr id="1" name=""/>
        <p:cNvGrpSpPr/>
        <p:nvPr/>
      </p:nvGrpSpPr>
      <p:grpSpPr>
        <a:xfrm>
          <a:off x="0" y="0"/>
          <a:ext cx="0" cy="0"/>
          <a:chOff x="0" y="0"/>
          <a:chExt cx="0" cy="0"/>
        </a:xfrm>
      </p:grpSpPr>
      <p:sp>
        <p:nvSpPr>
          <p:cNvPr id="2" name="Shape 0"/>
          <p:cNvSpPr/>
          <p:nvPr/>
        </p:nvSpPr>
        <p:spPr>
          <a:xfrm>
            <a:off x="-1828800" y="-2286000"/>
            <a:ext cx="5486400" cy="5486400"/>
          </a:xfrm>
          <a:prstGeom prst="ellipse">
            <a:avLst/>
          </a:prstGeom>
          <a:solidFill>
            <a:srgbClr val="028090">
              <a:alpha val="45000"/>
            </a:srgbClr>
          </a:solidFill>
          <a:ln/>
        </p:spPr>
      </p:sp>
      <p:sp>
        <p:nvSpPr>
          <p:cNvPr id="3" name="Text 1"/>
          <p:cNvSpPr txBox="1"/>
          <p:nvPr/>
        </p:nvSpPr>
        <p:spPr>
          <a:xfrm>
            <a:off x="548640" y="164592"/>
            <a:ext cx="8229600" cy="292608"/>
          </a:xfrm>
          <a:prstGeom prst="rect">
            <a:avLst/>
          </a:prstGeom>
          <a:noFill/>
          <a:ln/>
        </p:spPr>
        <p:txBody>
          <a:bodyPr wrap="square"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PARA LLEVARSE</a:t>
            </a:r>
            <a:endParaRPr lang="en-US" sz="1200" dirty="0"/>
          </a:p>
        </p:txBody>
      </p:sp>
      <p:sp>
        <p:nvSpPr>
          <p:cNvPr id="4" name="Text 2"/>
          <p:cNvSpPr txBox="1"/>
          <p:nvPr/>
        </p:nvSpPr>
        <p:spPr>
          <a:xfrm>
            <a:off x="548640" y="411480"/>
            <a:ext cx="11064240" cy="822960"/>
          </a:xfrm>
          <a:prstGeom prst="rect">
            <a:avLst/>
          </a:prstGeom>
          <a:noFill/>
          <a:ln/>
        </p:spPr>
        <p:txBody>
          <a:bodyPr wrap="square"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Cuando dudes, sé conservador</a:t>
            </a:r>
            <a:endParaRPr lang="en-US" sz="3400" dirty="0"/>
          </a:p>
        </p:txBody>
      </p:sp>
      <p:sp>
        <p:nvSpPr>
          <p:cNvPr id="5" name="Text 3"/>
          <p:cNvSpPr txBox="1"/>
          <p:nvPr/>
        </p:nvSpPr>
        <p:spPr>
          <a:xfrm>
            <a:off x="594360" y="2103120"/>
            <a:ext cx="10515600" cy="914400"/>
          </a:xfrm>
          <a:prstGeom prst="rect">
            <a:avLst/>
          </a:prstGeom>
          <a:noFill/>
          <a:ln/>
        </p:spPr>
        <p:txBody>
          <a:bodyPr wrap="square" rtlCol="0" anchor="ctr"/>
          <a:lstStyle/>
          <a:p>
            <a:pPr indent="0" marL="0">
              <a:buNone/>
            </a:pPr>
            <a:r>
              <a:rPr lang="en-US" sz="1700" dirty="0">
                <a:solidFill>
                  <a:srgbClr val="F4FBFA"/>
                </a:solidFill>
                <a:latin typeface="Calibri" pitchFamily="34" charset="0"/>
                <a:ea typeface="Calibri" pitchFamily="34" charset="-122"/>
                <a:cs typeface="Calibri" pitchFamily="34" charset="-120"/>
              </a:rPr>
              <a:t>Si no estás seguro de si un cambio rompe algo para alguien, trátalo como si rompiera algo. Es mucho más barato anunciar un MAJOR de más, que romper producción de alguien sin avisar.</a:t>
            </a:r>
            <a:endParaRPr lang="en-US" sz="1700" dirty="0"/>
          </a:p>
        </p:txBody>
      </p:sp>
      <p:sp>
        <p:nvSpPr>
          <p:cNvPr id="6" name="Shape 4"/>
          <p:cNvSpPr/>
          <p:nvPr/>
        </p:nvSpPr>
        <p:spPr>
          <a:xfrm>
            <a:off x="594360" y="3429000"/>
            <a:ext cx="10515600" cy="2286000"/>
          </a:xfrm>
          <a:prstGeom prst="roundRect">
            <a:avLst>
              <a:gd name="adj" fmla="val 5600"/>
            </a:avLst>
          </a:prstGeom>
          <a:solidFill>
            <a:srgbClr val="028090">
              <a:alpha val="85000"/>
            </a:srgbClr>
          </a:solidFill>
          <a:ln w="19050">
            <a:solidFill>
              <a:srgbClr val="02C39A"/>
            </a:solidFill>
            <a:prstDash val="solid"/>
          </a:ln>
        </p:spPr>
      </p:sp>
      <p:sp>
        <p:nvSpPr>
          <p:cNvPr id="7" name="Text 5"/>
          <p:cNvSpPr txBox="1"/>
          <p:nvPr/>
        </p:nvSpPr>
        <p:spPr>
          <a:xfrm>
            <a:off x="914400" y="3657600"/>
            <a:ext cx="9875520" cy="1828800"/>
          </a:xfrm>
          <a:prstGeom prst="rect">
            <a:avLst/>
          </a:prstGeom>
          <a:noFill/>
          <a:ln/>
        </p:spPr>
        <p:txBody>
          <a:bodyPr wrap="square" rtlCol="0" anchor="ctr"/>
          <a:lstStyle/>
          <a:p>
            <a:pPr indent="0" marL="0">
              <a:buNone/>
            </a:pPr>
            <a:r>
              <a:rPr lang="en-US" sz="1600" i="1" dirty="0">
                <a:solidFill>
                  <a:srgbClr val="FFFFFF"/>
                </a:solidFill>
                <a:latin typeface="Calibri" pitchFamily="34" charset="0"/>
                <a:ea typeface="Calibri" pitchFamily="34" charset="-122"/>
                <a:cs typeface="Calibri" pitchFamily="34" charset="-120"/>
              </a:rPr>
              <a:t>En herramientas como semantic-release, esto no es solo criterio: el mensaje de tu commit (feat:, fix:, BREAKING CHANGE:) decide automáticamente el próximo número de versión.</a:t>
            </a:r>
            <a:endParaRPr lang="en-US" sz="1600" dirty="0"/>
          </a:p>
        </p:txBody>
      </p:sp>
      <p:sp>
        <p:nvSpPr>
          <p:cNvPr id="8" name="Text 6"/>
          <p:cNvSpPr txBox="1"/>
          <p:nvPr/>
        </p:nvSpPr>
        <p:spPr>
          <a:xfrm>
            <a:off x="640080" y="6309360"/>
            <a:ext cx="10058400" cy="365760"/>
          </a:xfrm>
          <a:prstGeom prst="rect">
            <a:avLst/>
          </a:prstGeom>
          <a:noFill/>
          <a:ln/>
        </p:spPr>
        <p:txBody>
          <a:bodyPr wrap="square" rtlCol="0" anchor="ctr"/>
          <a:lstStyle/>
          <a:p>
            <a:pPr indent="0" marL="0">
              <a:buNone/>
            </a:pPr>
            <a:r>
              <a:rPr lang="en-US" sz="1200" dirty="0">
                <a:solidFill>
                  <a:srgbClr val="5C7A7D"/>
                </a:solidFill>
                <a:latin typeface="Calibri" pitchFamily="34" charset="0"/>
                <a:ea typeface="Calibri" pitchFamily="34" charset="-122"/>
                <a:cs typeface="Calibri" pitchFamily="34" charset="-120"/>
              </a:rPr>
              <a:t>Universidad de Medellín  ·  Especialización en Analítica e Inteligencia Artificial</a:t>
            </a:r>
            <a:endParaRPr lang="en-US" sz="1200" dirty="0"/>
          </a:p>
        </p:txBody>
      </p:sp>
      <p:sp>
        <p:nvSpPr>
          <p:cNvPr id="9" name="Text 7"/>
          <p:cNvSpPr txBox="1"/>
          <p:nvPr/>
        </p:nvSpPr>
        <p:spPr>
          <a:xfrm>
            <a:off x="11155680" y="6473952"/>
            <a:ext cx="822960" cy="274320"/>
          </a:xfrm>
          <a:prstGeom prst="rect">
            <a:avLst/>
          </a:prstGeom>
          <a:noFill/>
          <a:ln/>
        </p:spPr>
        <p:txBody>
          <a:bodyPr wrap="square" rtlCol="0" anchor="ctr"/>
          <a:lstStyle/>
          <a:p>
            <a:pPr algn="r" indent="0" marL="0">
              <a:buNone/>
            </a:pPr>
            <a:r>
              <a:rPr lang="en-US" sz="1000" dirty="0">
                <a:solidFill>
                  <a:srgbClr val="5C7A7D"/>
                </a:solidFill>
                <a:latin typeface="Calibri" pitchFamily="34" charset="0"/>
                <a:ea typeface="Calibri" pitchFamily="34" charset="-122"/>
                <a:cs typeface="Calibri" pitchFamily="34" charset="-120"/>
              </a:rPr>
              <a:t>19 / 19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2026-09-08T00:45:55Z</dcterms:created>
  <dcterms:modified xsi:type="dcterms:W3CDTF">2026-09-08T00:45:55Z</dcterms:modified>
</cp:coreProperties>
</file>