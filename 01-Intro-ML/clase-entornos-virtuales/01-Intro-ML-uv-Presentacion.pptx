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02C39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66928" y="429768"/>
            <a:ext cx="1197864" cy="1197864"/>
          </a:xfrm>
          <a:prstGeom prst="roundRect">
            <a:avLst>
              <a:gd name="adj" fmla="val 10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5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606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MLOPS  ·  MÓDULO 01  ·  ENTORNOS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71800"/>
            <a:ext cx="10515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dependencias</a:t>
            </a:r>
            <a:endParaRPr lang="en-US" sz="52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 uv</a:t>
            </a:r>
            <a:endParaRPr lang="en-US" sz="5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937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Adiós a "en mi máquina sí funciona": un solo comando, el mismo entorno en todas partes.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6172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Especialización en Analítica e Inteligencia Artificial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herramientas para una sola tarea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 rot="-180000">
            <a:off x="59436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FF7F6"/>
          </a:solidFill>
          <a:ln w="15875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 rot="-180000">
            <a:off x="68580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 rot="-180000">
            <a:off x="685800" y="2606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paquetes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 rot="180000">
            <a:off x="274320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FF7F6"/>
          </a:solidFill>
          <a:ln w="15875">
            <a:solidFill>
              <a:srgbClr val="D726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 rot="180000">
            <a:off x="283464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 rot="180000">
            <a:off x="2834640" y="2606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entorno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 rot="-180000">
            <a:off x="489204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FF7F6"/>
          </a:solidFill>
          <a:ln w="15875">
            <a:solidFill>
              <a:srgbClr val="D726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 rot="-180000">
            <a:off x="498348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pip-tools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 rot="-180000">
            <a:off x="4983480" y="2606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versiones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 rot="180000">
            <a:off x="704088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FF7F6"/>
          </a:solidFill>
          <a:ln w="15875">
            <a:solidFill>
              <a:srgbClr val="D7263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 rot="180000">
            <a:off x="713232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pipx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 rot="180000">
            <a:off x="7132320" y="2606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CLIs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 rot="-180000">
            <a:off x="9189720" y="182880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EFF7F6"/>
          </a:solidFill>
          <a:ln w="15875">
            <a:solidFill>
              <a:srgbClr val="D726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 rot="-180000">
            <a:off x="9281160" y="205740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pyenv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 rot="-180000">
            <a:off x="9281160" y="26060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de Python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3931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instalaciones distintas, cinco formas de romperse, y ninguna garantiza que tu compañero de equipo tenga exactamente lo mismo que tú.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737360" y="4846320"/>
            <a:ext cx="8686800" cy="1280160"/>
          </a:xfrm>
          <a:prstGeom prst="roundRect">
            <a:avLst>
              <a:gd name="adj" fmla="val 7143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011680" y="50749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 reemplaza las cinco, en un solo binario, escrito en Rust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CONCEPTO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uv: nueva generación, escrito en Rust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Creado por Astral (el mismo equipo del linter ruff). Lanzado a inicios de 2024, ya estable para producción.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0B3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10x - 100x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918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rápido que pip instalando dependencias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023360"/>
            <a:ext cx="48463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PubGrub (el mismo de Cargo/Dart)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 en paralelo</a:t>
            </a:r>
            <a:endParaRPr lang="en-US" sz="1300" dirty="0"/>
          </a:p>
          <a:p>
            <a:pPr marL="342900" indent="-342900">
              <a:lnSpc>
                <a:spcPts val="2200"/>
              </a:lnSpc>
              <a:buSzPct val="100000"/>
              <a:buChar char="✦"/>
            </a:pPr>
            <a:r>
              <a:rPr lang="en-US" sz="13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compilado: no depende del intérprete de Python para sus operaciones internas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194560"/>
            <a:ext cx="5303520" cy="3931920"/>
          </a:xfrm>
          <a:prstGeom prst="roundRect">
            <a:avLst>
              <a:gd name="adj" fmla="val 2791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global inteligente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29718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~/.cache/uv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356616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proyectos usan la misma versión de un paquete, se descarga UNA sola vez. Muy útil en CI/CD, donde varios jobs instalan conjuntos similares de dependencias.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archivos que garantizan "funciona igual en todas partes"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EFF7F6"/>
          </a:solidFill>
          <a:ln w="22225">
            <a:solidFill>
              <a:srgbClr val="02809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dependencias, en qué rangos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108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a mano. Declara scikit-learn&gt;=1.3, por ejemplo.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737360"/>
            <a:ext cx="5212080" cy="3200400"/>
          </a:xfrm>
          <a:prstGeom prst="roundRect">
            <a:avLst>
              <a:gd name="adj" fmla="val 3429"/>
            </a:avLst>
          </a:prstGeom>
          <a:solidFill>
            <a:srgbClr val="EFF7F6"/>
          </a:solidFill>
          <a:ln w="22225">
            <a:solidFill>
              <a:srgbClr val="00A89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96596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versiones y hashes EXACTOS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310896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Universal: funciona igual en Windows, macOS y Linux. No lo edites a mano.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737360" y="5212080"/>
            <a:ext cx="8686800" cy="1097280"/>
          </a:xfrm>
          <a:prstGeom prst="roundRect">
            <a:avLst>
              <a:gd name="adj" fmla="val 8333"/>
            </a:avLst>
          </a:prstGeom>
          <a:solidFill>
            <a:srgbClr val="FFF3CD"/>
          </a:solidFill>
          <a:ln w="15875">
            <a:solidFill>
              <a:srgbClr val="E8B2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11680" y="5394960"/>
            <a:ext cx="8138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ambos archivos se hacen commit en git. Ambos.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COMANDOS DEL DIA A DIA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comandos, tres propósitos distintos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permanente del proyecto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35204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pandas scikit-learn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06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 modifica pyproject.toml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EF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965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install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606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temporal, exploratoria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CFE3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5204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B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pip install jupyter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4206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modifica pyproject.toml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0" y="1691640"/>
            <a:ext cx="3520440" cy="4434840"/>
          </a:xfrm>
          <a:prstGeom prst="roundRect">
            <a:avLst>
              <a:gd name="adj" fmla="val 3117"/>
            </a:avLst>
          </a:prstGeom>
          <a:solidFill>
            <a:srgbClr val="0B3D4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503920" y="196596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6060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el entorno del lockfile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503920" y="3520440"/>
            <a:ext cx="2971800" cy="502920"/>
          </a:xfrm>
          <a:prstGeom prst="roundRect">
            <a:avLst>
              <a:gd name="adj" fmla="val 10909"/>
            </a:avLst>
          </a:prstGeom>
          <a:solidFill>
            <a:srgbClr val="0F4A50"/>
          </a:solidFill>
          <a:ln w="12700">
            <a:solidFill>
              <a:srgbClr val="0F4A5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95360" y="35204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06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estándar en CI/CD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COMANDO FAVORITO DE LA PROFE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 run: nunca más "se me olvidó activar el entorno"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20323A"/>
          </a:solidFill>
          <a:ln w="1905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uv run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train.py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ModuleNotFoundError: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module named 'pandas'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ah cierto, faltó: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source .venv/bin/activate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F4C7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train.py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olvidar en scripts, cron, Airflow...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828800"/>
            <a:ext cx="5303520" cy="4114800"/>
          </a:xfrm>
          <a:prstGeom prst="roundRect">
            <a:avLst>
              <a:gd name="adj" fmla="val 2222"/>
            </a:avLst>
          </a:prstGeom>
          <a:solidFill>
            <a:srgbClr val="0F4A50"/>
          </a:solidFill>
          <a:ln w="19050">
            <a:solidFill>
              <a:srgbClr val="02C39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uv run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468880"/>
            <a:ext cx="47548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uv run python train.py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uv resuelve el entorno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correcto automáticamente,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9F5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 activar nada a mano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50292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pipelines de datos, entrenamiento y tareas programadas: el entorno nunca está "activado", pero siempre es el correcto.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VERSIONES DE PYTHON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uv también reemplaza a pyenv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972800" cy="3566160"/>
          </a:xfrm>
          <a:prstGeom prst="roundRect">
            <a:avLst>
              <a:gd name="adj" fmla="val 3077"/>
            </a:avLst>
          </a:prstGeom>
          <a:solidFill>
            <a:srgbClr val="EFF7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B3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9659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install 3.11.5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669280" y="196596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una versión específica de Python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B3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60120" y="30632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list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669280" y="306324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las versiones instaladas y disponibles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22960" y="4160520"/>
            <a:ext cx="4572000" cy="777240"/>
          </a:xfrm>
          <a:prstGeom prst="roundRect">
            <a:avLst>
              <a:gd name="adj" fmla="val 7059"/>
            </a:avLst>
          </a:prstGeom>
          <a:solidFill>
            <a:srgbClr val="0B3D4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41605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python pin 3.11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4160520"/>
            <a:ext cx="5577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 la versión para ESTE proyecto (.python-version)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en monorepos: cada proyecto puede tener su propio .python-version. uv entiende el contexto de cada carpeta y usa la versión correcta para cada una, sin conflictos.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CERO A REPRODUCIBLE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trabajo completo, en 6 pasos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7373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init mi-modelo-ml --python 3.11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173736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scikit-learn pandas mlflow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546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3429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45920" y="31546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add pytest ruff --group dev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31546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92240" y="34290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3429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1546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python src/train.py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720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4846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2296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645920" y="4572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pyproject.toml uv.lock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309360" y="457200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0F4A5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92240" y="484632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4846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572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   # en cualquier otra máquina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6080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una máquina nueva o en CI: un solo "uv sync" reproduce exactamente el mismo entorno.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RÁPIDA EN CLASE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de equipo: monten su entorno en vivo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4206240"/>
          </a:xfrm>
          <a:prstGeom prst="roundRect">
            <a:avLst>
              <a:gd name="adj" fmla="val 2609"/>
            </a:avLst>
          </a:prstGeom>
          <a:solidFill>
            <a:srgbClr val="EFF7F6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03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minutos, en salas de Zoom (equipos de 2-3)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000"/>
              </a:lnSpc>
              <a:buSzPct val="100000"/>
              <a:buChar char="✦"/>
            </a:pPr>
            <a:r>
              <a:rPr lang="en-US" sz="15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Creen un proyecto nuevo: uv init equipo-demo --python 3.11</a:t>
            </a:r>
            <a:endParaRPr lang="en-US" sz="1550" dirty="0"/>
          </a:p>
          <a:p>
            <a:pPr marL="342900" indent="-342900">
              <a:lnSpc>
                <a:spcPts val="3000"/>
              </a:lnSpc>
              <a:buSzPct val="100000"/>
              <a:buChar char="✦"/>
            </a:pPr>
            <a:r>
              <a:rPr lang="en-US" sz="15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Agreguen dos dependencias de producción y una de desarrollo (--group dev)</a:t>
            </a:r>
            <a:endParaRPr lang="en-US" sz="1550" dirty="0"/>
          </a:p>
          <a:p>
            <a:pPr marL="342900" indent="-342900">
              <a:lnSpc>
                <a:spcPts val="3000"/>
              </a:lnSpc>
              <a:buSzPct val="100000"/>
              <a:buChar char="✦"/>
            </a:pPr>
            <a:r>
              <a:rPr lang="en-US" sz="15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Corran un script con uv run, sin activar el entorno a mano</a:t>
            </a:r>
            <a:endParaRPr lang="en-US" sz="1550" dirty="0"/>
          </a:p>
          <a:p>
            <a:pPr marL="342900" indent="-342900">
              <a:lnSpc>
                <a:spcPts val="3000"/>
              </a:lnSpc>
              <a:buSzPct val="100000"/>
              <a:buChar char="✦"/>
            </a:pPr>
            <a:r>
              <a:rPr lang="en-US" sz="1550" dirty="0">
                <a:solidFill>
                  <a:srgbClr val="1B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Borren la carpeta .venv y reconstrúyanla solo con uv sync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14400" y="5394960"/>
            <a:ext cx="10332720" cy="457200"/>
          </a:xfrm>
          <a:prstGeom prst="roundRect">
            <a:avLst>
              <a:gd name="adj" fmla="val 50000"/>
            </a:avLst>
          </a:prstGeom>
          <a:solidFill>
            <a:srgbClr val="0B3D4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Entregable: capturen pantalla del uv sync final y compártanla en la plenaria.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257800" y="685800"/>
            <a:ext cx="1645920" cy="1645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4" name="Image 0" descr="ude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8229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14400" y="26060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Medellín  ·  Ciencia y Libertad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651760" y="4434840"/>
            <a:ext cx="6858000" cy="1234440"/>
          </a:xfrm>
          <a:prstGeom prst="roundRect">
            <a:avLst>
              <a:gd name="adj" fmla="val 7407"/>
            </a:avLst>
          </a:prstGeom>
          <a:solidFill>
            <a:srgbClr val="0F4A5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2880360" y="4572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completa de uv: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4937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clase-entornos-virtuales/README.md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59893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sugerencias: siempre bienvenidas.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2026-09-08T00:36:34Z</dcterms:created>
  <dcterms:modified xsi:type="dcterms:W3CDTF">2026-09-08T00:36:34Z</dcterms:modified>
</cp:coreProperties>
</file>