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3840480" cy="38404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29768"/>
            <a:ext cx="1197864" cy="1197864"/>
          </a:xfrm>
          <a:prstGeom prst="roundRect">
            <a:avLst>
              <a:gd name="adj" fmla="val 106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ude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606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MLOPS  ·  MÓDULO 01  ·  ENTORNOS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971800"/>
            <a:ext cx="10515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 dependencias</a:t>
            </a:r>
            <a:endParaRPr lang="en-US" sz="52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uv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937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 a "en mi máquina sí funciona": un solo comando, el mismo entorno en todas partes.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Especialización en Analítica e Inteligencia Artificial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herramientas para una sola tarea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 rot="-180000">
            <a:off x="594360" y="18288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EFF7F6"/>
          </a:solidFill>
          <a:ln w="15875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 rot="-180000">
            <a:off x="685800" y="2057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 rot="-180000">
            <a:off x="685800" y="260604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paquetes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 rot="180000">
            <a:off x="2743200" y="18288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EFF7F6"/>
          </a:solidFill>
          <a:ln w="15875">
            <a:solidFill>
              <a:srgbClr val="D726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 rot="180000">
            <a:off x="2834640" y="2057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venv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 rot="180000">
            <a:off x="2834640" y="260604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el entorno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rot="-180000">
            <a:off x="4892040" y="18288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EFF7F6"/>
          </a:solidFill>
          <a:ln w="15875">
            <a:solidFill>
              <a:srgbClr val="D726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 rot="-180000">
            <a:off x="4983480" y="2057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pip-tools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 rot="-180000">
            <a:off x="4983480" y="260604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versiones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 rot="180000">
            <a:off x="7040880" y="18288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EFF7F6"/>
          </a:solidFill>
          <a:ln w="15875">
            <a:solidFill>
              <a:srgbClr val="D726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 rot="180000">
            <a:off x="7132320" y="2057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pipx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 rot="180000">
            <a:off x="7132320" y="260604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CLIs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rot="-180000">
            <a:off x="9189720" y="18288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EFF7F6"/>
          </a:solidFill>
          <a:ln w="15875">
            <a:solidFill>
              <a:srgbClr val="D726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 rot="-180000">
            <a:off x="9281160" y="205740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pyenv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 rot="-180000">
            <a:off x="9281160" y="260604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de Python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931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instalaciones distintas, cinco formas de romperse, y ninguna garantiza que tu compañero de equipo tenga exactamente lo mismo que tú.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737360" y="4846320"/>
            <a:ext cx="8686800" cy="1280160"/>
          </a:xfrm>
          <a:prstGeom prst="roundRect">
            <a:avLst>
              <a:gd name="adj" fmla="val 7143"/>
            </a:avLst>
          </a:prstGeom>
          <a:solidFill>
            <a:srgbClr val="02809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011680" y="507492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 reemplaza las cinco, en un solo binario, escrito en Rust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uv: nueva generación, escrito en Rust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 por Astral (el mismo equipo del linter ruff). Lanzado a inicios de 2024, ya estable para producción.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0B3D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10x - 100x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rápido que pip instalando dependencias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23360"/>
            <a:ext cx="4846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PubGrub (el mismo de Cargo/Dart)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Instalaciones en paralelo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Binario compilado: no depende del intérprete de Python para sus operaciones internas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219456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EFF7F6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global inteligente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971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~/.cache/uv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56616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dos proyectos usan la misma versión de un paquete, se descarga UNA sola vez. Muy útil en CI/CD, donde varios jobs instalan conjuntos similares de dependencias.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REPRODUCIBILIDAD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archivos que garantizan "funciona igual en todas partes"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12080" cy="3200400"/>
          </a:xfrm>
          <a:prstGeom prst="roundRect">
            <a:avLst>
              <a:gd name="adj" fmla="val 3429"/>
            </a:avLst>
          </a:prstGeom>
          <a:solidFill>
            <a:srgbClr val="EFF7F6"/>
          </a:solidFill>
          <a:ln w="22225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pyproject.toml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146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dependencias, en qué rangos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a mano. Declara scikit-learn&gt;=1.3, por ejemplo.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212080" cy="3200400"/>
          </a:xfrm>
          <a:prstGeom prst="roundRect">
            <a:avLst>
              <a:gd name="adj" fmla="val 3429"/>
            </a:avLst>
          </a:prstGeom>
          <a:solidFill>
            <a:srgbClr val="EFF7F6"/>
          </a:solidFill>
          <a:ln w="22225">
            <a:solidFill>
              <a:srgbClr val="00A89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9659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uv.lock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5146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y hashes EXACTOS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310896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Universal: funciona igual en Windows, macOS y Linux. No lo edites a mano.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737360" y="5212080"/>
            <a:ext cx="8686800" cy="1097280"/>
          </a:xfrm>
          <a:prstGeom prst="roundRect">
            <a:avLst>
              <a:gd name="adj" fmla="val 8333"/>
            </a:avLst>
          </a:prstGeom>
          <a:solidFill>
            <a:srgbClr val="FFF3CD"/>
          </a:solidFill>
          <a:ln w="15875">
            <a:solidFill>
              <a:srgbClr val="E8B2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011680" y="5394960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ambos archivos se hacen commit en git. Ambos.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COMANDOS DEL DIA A DIA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comandos, tres propósitos distintos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FF7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add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permanente del proyecto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520440"/>
            <a:ext cx="2971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5204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add pandas scikit-learn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modifica pyproject.toml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FF7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9659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pip install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606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temporal, exploratoria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3520440"/>
            <a:ext cx="2971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CFE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35204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pip install jupyter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42062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modifica pyproject.toml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03920" y="196596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2606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reconstruir el entorno del lockfile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03920" y="3520440"/>
            <a:ext cx="2971800" cy="502920"/>
          </a:xfrm>
          <a:prstGeom prst="roundRect">
            <a:avLst>
              <a:gd name="adj" fmla="val 10909"/>
            </a:avLst>
          </a:prstGeom>
          <a:solidFill>
            <a:srgbClr val="0F4A50"/>
          </a:solidFill>
          <a:ln w="12700">
            <a:solidFill>
              <a:srgbClr val="0F4A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95360" y="35204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2062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estándar en CI/CD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COMANDO FAVORITO DE LA PROFE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 run: nunca más "se me olvidó activar el entorno"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03520" cy="4114800"/>
          </a:xfrm>
          <a:prstGeom prst="roundRect">
            <a:avLst>
              <a:gd name="adj" fmla="val 2222"/>
            </a:avLst>
          </a:prstGeom>
          <a:solidFill>
            <a:srgbClr val="20323A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uv run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train.py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ModuleNotFoundError: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module named 'pandas'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ah cierto, faltó: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source .venv/bin/activate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train.py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120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de olvidar en scripts, cron, Airflow...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03520" cy="4114800"/>
          </a:xfrm>
          <a:prstGeom prst="roundRect">
            <a:avLst>
              <a:gd name="adj" fmla="val 2222"/>
            </a:avLst>
          </a:prstGeom>
          <a:solidFill>
            <a:srgbClr val="0F4A5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011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uv run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4688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uv run python train.py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uv resuelve el entorno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correcto automáticamente,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sin activar nada a mano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50292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pipelines de datos, entrenamiento y tareas programadas: el entorno nunca está "activado", pero siempre es el correcto.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MÚLTIPLES VERSIONES DE PYTHON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uv también reemplaza a pyenv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3566160"/>
          </a:xfrm>
          <a:prstGeom prst="roundRect">
            <a:avLst>
              <a:gd name="adj" fmla="val 3077"/>
            </a:avLst>
          </a:prstGeom>
          <a:solidFill>
            <a:srgbClr val="EFF7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4572000" cy="777240"/>
          </a:xfrm>
          <a:prstGeom prst="roundRect">
            <a:avLst>
              <a:gd name="adj" fmla="val 7059"/>
            </a:avLst>
          </a:prstGeom>
          <a:solidFill>
            <a:srgbClr val="0B3D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6596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python install 3.11.5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96596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 una versión específica de Python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063240"/>
            <a:ext cx="4572000" cy="777240"/>
          </a:xfrm>
          <a:prstGeom prst="roundRect">
            <a:avLst>
              <a:gd name="adj" fmla="val 7059"/>
            </a:avLst>
          </a:prstGeom>
          <a:solidFill>
            <a:srgbClr val="0B3D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06324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python list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306324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las versiones instaladas y disponibles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4572000" cy="777240"/>
          </a:xfrm>
          <a:prstGeom prst="roundRect">
            <a:avLst>
              <a:gd name="adj" fmla="val 7059"/>
            </a:avLst>
          </a:prstGeom>
          <a:solidFill>
            <a:srgbClr val="0B3D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4160520"/>
            <a:ext cx="4297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python pin 3.11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416052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la versión para ESTE proyecto (.python-version)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5778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en monorepos: cada proyecto puede tener su propio .python-version. uv entiende el contexto de cada carpeta y usa la versión correcta para cada una, sin conflictos.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CERO A REPRODUCIBLE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flujo de trabajo completo, en 6 pasos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73736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init mi-modelo-ml --python 3.11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9" name="Shape 7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173736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add scikit-learn pandas mlflow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42900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3429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315468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add pytest ruff --group dev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1546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92240" y="342900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92240" y="3429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15468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src/train.py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5720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4846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645920" y="457200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pyproject.toml uv.lock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457200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0F4A50"/>
          </a:solidFill>
          <a:ln/>
        </p:spPr>
      </p:sp>
      <p:sp>
        <p:nvSpPr>
          <p:cNvPr id="25" name="Shape 23"/>
          <p:cNvSpPr/>
          <p:nvPr/>
        </p:nvSpPr>
        <p:spPr>
          <a:xfrm>
            <a:off x="6492240" y="4846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9224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457200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   # en cualquier otra máquina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máquina nueva o en CI: un solo "uv sync" reproduce exactamente el mismo entorno.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RÁPIDA EN CLASE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Ejercicio de equipo: monten su entorno en vivo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4206240"/>
          </a:xfrm>
          <a:prstGeom prst="roundRect">
            <a:avLst>
              <a:gd name="adj" fmla="val 2609"/>
            </a:avLst>
          </a:prstGeom>
          <a:solidFill>
            <a:srgbClr val="EFF7F6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103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minutos, en salas de Zoom (equipos de 2-3)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10332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000"/>
              </a:lnSpc>
              <a:buSzPct val="100000"/>
              <a:buChar char="✦"/>
            </a:pPr>
            <a:r>
              <a:rPr lang="en-US" sz="15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Creen un proyecto nuevo: uv init equipo-demo --python 3.11</a:t>
            </a:r>
            <a:endParaRPr lang="en-US" sz="1550" dirty="0"/>
          </a:p>
          <a:p>
            <a:pPr marL="342900" indent="-342900">
              <a:lnSpc>
                <a:spcPts val="3000"/>
              </a:lnSpc>
              <a:buSzPct val="100000"/>
              <a:buChar char="✦"/>
            </a:pPr>
            <a:r>
              <a:rPr lang="en-US" sz="15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Agreguen dos dependencias de producción y una de desarrollo (--group dev)</a:t>
            </a:r>
            <a:endParaRPr lang="en-US" sz="1550" dirty="0"/>
          </a:p>
          <a:p>
            <a:pPr marL="342900" indent="-342900">
              <a:lnSpc>
                <a:spcPts val="3000"/>
              </a:lnSpc>
              <a:buSzPct val="100000"/>
              <a:buChar char="✦"/>
            </a:pPr>
            <a:r>
              <a:rPr lang="en-US" sz="15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Corran un script con uv run, sin activar el entorno a mano</a:t>
            </a:r>
            <a:endParaRPr lang="en-US" sz="1550" dirty="0"/>
          </a:p>
          <a:p>
            <a:pPr marL="342900" indent="-342900">
              <a:lnSpc>
                <a:spcPts val="3000"/>
              </a:lnSpc>
              <a:buSzPct val="100000"/>
              <a:buChar char="✦"/>
            </a:pPr>
            <a:r>
              <a:rPr lang="en-US" sz="15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Borren la carpeta .venv y reconstrúyanla solo con uv sync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914400" y="5394960"/>
            <a:ext cx="10332720" cy="45720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Entregable: capturen pantalla del uv sync final y compártanla en la plenaria.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EXTRA · SI SOBRA TIEMPO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Intercambien entornos: ¿reconstruyen el ajeno?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real de "uv sync" no es reconstruir tu propio entorno: es reconstruir el de otro equipo, a ciegas.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881360" cy="3246120"/>
          </a:xfrm>
          <a:prstGeom prst="roundRect">
            <a:avLst>
              <a:gd name="adj" fmla="val 3380"/>
            </a:avLst>
          </a:prstGeom>
          <a:solidFill>
            <a:srgbClr val="0F4A5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37744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3774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514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minutos, rotando entre salas de Zoom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10332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✦"/>
            </a:pPr>
            <a:r>
              <a:rPr lang="en-US" sz="15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equipo exporta su pyproject.toml y uv.lock (los archivos, no explicaciones)</a:t>
            </a:r>
            <a:endParaRPr lang="en-US" sz="1500" dirty="0"/>
          </a:p>
          <a:p>
            <a:pPr marL="342900" indent="-342900">
              <a:lnSpc>
                <a:spcPts val="2800"/>
              </a:lnSpc>
              <a:buSzPct val="100000"/>
              <a:buChar char="✦"/>
            </a:pPr>
            <a:r>
              <a:rPr lang="en-US" sz="15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los pasan a otro equipo, rotando de sala</a:t>
            </a:r>
            <a:endParaRPr lang="en-US" sz="1500" dirty="0"/>
          </a:p>
          <a:p>
            <a:pPr marL="342900" indent="-342900">
              <a:lnSpc>
                <a:spcPts val="2800"/>
              </a:lnSpc>
              <a:buSzPct val="100000"/>
              <a:buChar char="✦"/>
            </a:pPr>
            <a:r>
              <a:rPr lang="en-US" sz="15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receptor reconstruye ese entorno solo con uv sync, sin preguntas ni ver el código</a:t>
            </a:r>
            <a:endParaRPr lang="en-US" sz="1500" dirty="0"/>
          </a:p>
          <a:p>
            <a:pPr marL="342900" indent="-342900">
              <a:lnSpc>
                <a:spcPts val="2800"/>
              </a:lnSpc>
              <a:buSzPct val="100000"/>
              <a:buChar char="✦"/>
            </a:pPr>
            <a:r>
              <a:rPr lang="en-US" sz="15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el primer equipo que muestre la captura del entorno ajeno funcionando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5074920"/>
            <a:ext cx="1033272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otro equipo lo reconstruye igual a como tú lo veías, esa es la promesa de uv cumplida.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5486400" cy="54864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257800" y="685800"/>
            <a:ext cx="164592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4" name="Image 0" descr="ude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82296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0604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Ciencia y Libertad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651760" y="4434840"/>
            <a:ext cx="6858000" cy="1234440"/>
          </a:xfrm>
          <a:prstGeom prst="roundRect">
            <a:avLst>
              <a:gd name="adj" fmla="val 7407"/>
            </a:avLst>
          </a:prstGeom>
          <a:solidFill>
            <a:srgbClr val="0F4A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880360" y="4572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completa de uv: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4937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clase-entornos-virtuales/README.md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989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sugerencias: siempre bienvenidas.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2026-09-08T01:03:16Z</dcterms:created>
  <dcterms:modified xsi:type="dcterms:W3CDTF">2026-09-08T01:03:16Z</dcterms:modified>
</cp:coreProperties>
</file>