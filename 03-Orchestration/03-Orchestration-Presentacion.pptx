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206240"/>
            <a:ext cx="3840480" cy="3840480"/>
          </a:xfrm>
          <a:prstGeom prst="ellipse">
            <a:avLst/>
          </a:prstGeom>
          <a:solidFill>
            <a:srgbClr val="02C39A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29768"/>
            <a:ext cx="1197864" cy="1197864"/>
          </a:xfrm>
          <a:prstGeom prst="roundRect">
            <a:avLst>
              <a:gd name="adj" fmla="val 106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pic>
        <p:nvPicPr>
          <p:cNvPr id="5" name="Image 0" descr="ude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051560" cy="1051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514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MLOPS  ·  MÓDULO 03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880360"/>
            <a:ext cx="105156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Orquestación de Pipelines</a:t>
            </a:r>
            <a:endParaRPr lang="en-US" sz="50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Prefect</a:t>
            </a:r>
            <a:endParaRPr lang="en-US" sz="50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892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correr notebooks a mano a un pipeline que se ejecuta, reintenta y se documenta solo.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1722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Medellín  ·  Especialización en Analítica e Inteligencia Artificial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Así se ve un pipeline sin orquestación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 rot="-300000">
            <a:off x="822960" y="1965960"/>
            <a:ext cx="2286000" cy="1554480"/>
          </a:xfrm>
          <a:prstGeom prst="roundRect">
            <a:avLst>
              <a:gd name="adj" fmla="val 7059"/>
            </a:avLst>
          </a:prstGeom>
          <a:solidFill>
            <a:srgbClr val="EFF7F6"/>
          </a:solidFill>
          <a:ln w="15875">
            <a:solidFill>
              <a:srgbClr val="CFE3E1"/>
            </a:solidFill>
            <a:prstDash val="solid"/>
          </a:ln>
          <a:effectLst>
            <a:outerShdw sx="100000" sy="100000" kx="0" ky="0" algn="bl" rotWithShape="0" blurRad="76200" dist="38100" dir="5400000">
              <a:srgbClr val="1B2B2E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 rot="-300000">
            <a:off x="914400" y="233172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descargar_datos.py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 rot="180000">
            <a:off x="3429000" y="1965960"/>
            <a:ext cx="2286000" cy="1554480"/>
          </a:xfrm>
          <a:prstGeom prst="roundRect">
            <a:avLst>
              <a:gd name="adj" fmla="val 7059"/>
            </a:avLst>
          </a:prstGeom>
          <a:solidFill>
            <a:srgbClr val="EFF7F6"/>
          </a:solidFill>
          <a:ln w="15875">
            <a:solidFill>
              <a:srgbClr val="CFE3E1"/>
            </a:solidFill>
            <a:prstDash val="solid"/>
          </a:ln>
          <a:effectLst>
            <a:outerShdw sx="100000" sy="100000" kx="0" ky="0" algn="bl" rotWithShape="0" blurRad="76200" dist="38100" dir="5400000">
              <a:srgbClr val="1B2B2E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 rot="180000">
            <a:off x="3520440" y="233172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entrenar_modelo.py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 rot="-180000">
            <a:off x="6035040" y="1965960"/>
            <a:ext cx="2286000" cy="1554480"/>
          </a:xfrm>
          <a:prstGeom prst="roundRect">
            <a:avLst>
              <a:gd name="adj" fmla="val 7059"/>
            </a:avLst>
          </a:prstGeom>
          <a:solidFill>
            <a:srgbClr val="EFF7F6"/>
          </a:solidFill>
          <a:ln w="15875">
            <a:solidFill>
              <a:srgbClr val="CFE3E1"/>
            </a:solidFill>
            <a:prstDash val="solid"/>
          </a:ln>
          <a:effectLst>
            <a:outerShdw sx="100000" sy="100000" kx="0" ky="0" algn="bl" rotWithShape="0" blurRad="76200" dist="38100" dir="5400000">
              <a:srgbClr val="1B2B2E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 rot="-180000">
            <a:off x="6126480" y="233172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registrar_modelo.py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 rot="360000">
            <a:off x="8641080" y="1965960"/>
            <a:ext cx="2286000" cy="1554480"/>
          </a:xfrm>
          <a:prstGeom prst="roundRect">
            <a:avLst>
              <a:gd name="adj" fmla="val 7059"/>
            </a:avLst>
          </a:prstGeom>
          <a:solidFill>
            <a:srgbClr val="FFF3CD"/>
          </a:solidFill>
          <a:ln w="15875">
            <a:solidFill>
              <a:srgbClr val="E8B200"/>
            </a:solidFill>
            <a:prstDash val="solid"/>
          </a:ln>
          <a:effectLst>
            <a:outerShdw sx="100000" sy="100000" kx="0" ky="0" algn="bl" rotWithShape="0" blurRad="76200" dist="38100" dir="5400000">
              <a:srgbClr val="1B2B2E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 rot="360000">
            <a:off x="8732520" y="233172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??? algo fallo ???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88620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scripts sueltos, ejecutados a mano, en orden, cruzando los dedos para que ninguno falle a mitad de camino.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4709160"/>
            <a:ext cx="3291840" cy="1417320"/>
          </a:xfrm>
          <a:prstGeom prst="roundRect">
            <a:avLst>
              <a:gd name="adj" fmla="val 6452"/>
            </a:avLst>
          </a:prstGeom>
          <a:solidFill>
            <a:srgbClr val="02809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" y="48463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Reintentos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5193792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algo falla, todo se corre de nuevo desde cero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89120" y="4709160"/>
            <a:ext cx="3291840" cy="1417320"/>
          </a:xfrm>
          <a:prstGeom prst="roundRect">
            <a:avLst>
              <a:gd name="adj" fmla="val 6452"/>
            </a:avLst>
          </a:prstGeom>
          <a:solidFill>
            <a:srgbClr val="02809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617720" y="48463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Visibilidad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617720" y="5193792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nadie ve el historial de ejecuciones ni cuánto tardó cada paso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55280" y="4709160"/>
            <a:ext cx="3291840" cy="1417320"/>
          </a:xfrm>
          <a:prstGeom prst="roundRect">
            <a:avLst>
              <a:gd name="adj" fmla="val 6452"/>
            </a:avLst>
          </a:prstGeom>
          <a:solidFill>
            <a:srgbClr val="02809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83880" y="48463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183880" y="5193792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correrlo cada día significa acordarse de hacerlo a mano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CONCEPTO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Prefect: dos decoradores, un pipeline confiable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Prefect convierte funciones normales de Python en piezas orquestables, con reintentos, logs y monitoreo, sin reescribir la lógica.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5212080" cy="3794760"/>
          </a:xfrm>
          <a:prstGeom prst="roundRect">
            <a:avLst>
              <a:gd name="adj" fmla="val 2892"/>
            </a:avLst>
          </a:prstGeom>
          <a:solidFill>
            <a:srgbClr val="EFF7F6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6060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@task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089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unidad de trabajo más pequeña: un paso.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657600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B2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@task(retries=3, retry_delay_seconds=2)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B2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read_dataframe(year, month):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B2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B2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df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074920"/>
            <a:ext cx="4663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buSzPct val="100000"/>
              <a:buChar char="✦"/>
            </a:pPr>
            <a:r>
              <a:rPr lang="en-US" sz="125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Reintentos automáticos si falla</a:t>
            </a:r>
            <a:endParaRPr lang="en-US" sz="1250" dirty="0"/>
          </a:p>
          <a:p>
            <a:pPr marL="342900" indent="-342900">
              <a:lnSpc>
                <a:spcPts val="2200"/>
              </a:lnSpc>
              <a:buSzPct val="100000"/>
              <a:buChar char="✦"/>
            </a:pPr>
            <a:r>
              <a:rPr lang="en-US" sz="125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de resultados (cache_key_fn)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80760" y="2377440"/>
            <a:ext cx="5212080" cy="3794760"/>
          </a:xfrm>
          <a:prstGeom prst="roundRect">
            <a:avLst>
              <a:gd name="adj" fmla="val 2892"/>
            </a:avLst>
          </a:prstGeom>
          <a:solidFill>
            <a:srgbClr val="0B3D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55080" y="26060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@flow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31089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pipeline completo: orquesta varias tasks.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3657600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@flow(log_prints=True)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duration_prediction_flow(year, month):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 = read_dataframe(year, month)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train_model(df)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5074920"/>
            <a:ext cx="4663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buSzPct val="100000"/>
              <a:buChar char="✦"/>
            </a:pPr>
            <a:r>
              <a:rPr lang="en-US" sz="125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log_prints=True: tus print() van al log</a:t>
            </a:r>
            <a:endParaRPr lang="en-US" sz="1250" dirty="0"/>
          </a:p>
          <a:p>
            <a:pPr marL="342900" indent="-342900">
              <a:lnSpc>
                <a:spcPts val="2200"/>
              </a:lnSpc>
              <a:buSzPct val="100000"/>
              <a:buChar char="✦"/>
            </a:pPr>
            <a:r>
              <a:rPr lang="en-US" sz="125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puede desplegar (.serve() / .deploy())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DESPLEGAR UN FLOW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formas de poner un flow a correr solo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EFF7F6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2024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4320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.serve()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47472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Rápido, para desarrollo local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06908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buSzPct val="100000"/>
              <a:buChar char="✦"/>
            </a:pPr>
            <a:r>
              <a:rPr lang="en-US" sz="130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proceso mantiene vivo el flow</a:t>
            </a:r>
            <a:endParaRPr lang="en-US" sz="1300" dirty="0"/>
          </a:p>
          <a:p>
            <a:pPr marL="342900" indent="-342900">
              <a:lnSpc>
                <a:spcPts val="2200"/>
              </a:lnSpc>
              <a:buSzPct val="100000"/>
              <a:buChar char="✦"/>
            </a:pPr>
            <a:r>
              <a:rPr lang="en-US" sz="130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para probar horarios</a:t>
            </a:r>
            <a:endParaRPr lang="en-US" sz="1300" dirty="0"/>
          </a:p>
          <a:p>
            <a:pPr marL="342900" indent="-342900">
              <a:lnSpc>
                <a:spcPts val="2200"/>
              </a:lnSpc>
              <a:buSzPct val="100000"/>
              <a:buChar char="✦"/>
            </a:pPr>
            <a:r>
              <a:rPr lang="en-US" sz="130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sobrevive un reinicio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160020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EFF7F6"/>
          </a:solidFill>
          <a:ln/>
        </p:spPr>
      </p:sp>
      <p:sp>
        <p:nvSpPr>
          <p:cNvPr id="11" name="Shape 9"/>
          <p:cNvSpPr/>
          <p:nvPr/>
        </p:nvSpPr>
        <p:spPr>
          <a:xfrm>
            <a:off x="4663440" y="192024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6344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74320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.deploy()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47472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infraestructura (work pool)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406908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buSzPct val="100000"/>
              <a:buChar char="✦"/>
            </a:pPr>
            <a:r>
              <a:rPr lang="en-US" sz="130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ejecuta en un worker separado</a:t>
            </a:r>
            <a:endParaRPr lang="en-US" sz="1300" dirty="0"/>
          </a:p>
          <a:p>
            <a:pPr marL="342900" indent="-342900">
              <a:lnSpc>
                <a:spcPts val="2200"/>
              </a:lnSpc>
              <a:buSzPct val="100000"/>
              <a:buChar char="✦"/>
            </a:pPr>
            <a:r>
              <a:rPr lang="en-US" sz="130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escalar y aislar</a:t>
            </a:r>
            <a:endParaRPr lang="en-US" sz="1300" dirty="0"/>
          </a:p>
          <a:p>
            <a:pPr marL="342900" indent="-342900">
              <a:lnSpc>
                <a:spcPts val="2200"/>
              </a:lnSpc>
              <a:buSzPct val="100000"/>
              <a:buChar char="✦"/>
            </a:pPr>
            <a:r>
              <a:rPr lang="en-US" sz="130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Requiere un work pool activo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29600" y="160020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0B3D42"/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1920240"/>
            <a:ext cx="640080" cy="640080"/>
          </a:xfrm>
          <a:prstGeom prst="ellipse">
            <a:avLst/>
          </a:prstGeom>
          <a:solidFill>
            <a:srgbClr val="0B3D4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0392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8503920" y="274320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prefect.yaml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503920" y="347472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Declarativo, para varios deployments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503920" y="406908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buSzPct val="100000"/>
              <a:buChar char="✦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varios flows a la vez</a:t>
            </a:r>
            <a:endParaRPr lang="en-US" sz="1300" dirty="0"/>
          </a:p>
          <a:p>
            <a:pPr marL="342900" indent="-342900">
              <a:lnSpc>
                <a:spcPts val="2200"/>
              </a:lnSpc>
              <a:buSzPct val="100000"/>
              <a:buChar char="✦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de entorno con Jinja</a:t>
            </a:r>
            <a:endParaRPr lang="en-US" sz="1300" dirty="0"/>
          </a:p>
          <a:p>
            <a:pPr marL="342900" indent="-342900">
              <a:lnSpc>
                <a:spcPts val="2200"/>
              </a:lnSpc>
              <a:buSzPct val="100000"/>
              <a:buChar char="✦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que usamos en producción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REINTENTOS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Cuando algo falla, Prefect insiste por ti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03520" cy="4434840"/>
          </a:xfrm>
          <a:prstGeom prst="roundRect">
            <a:avLst>
              <a:gd name="adj" fmla="val 2062"/>
            </a:avLst>
          </a:prstGeom>
          <a:solidFill>
            <a:srgbClr val="20323A"/>
          </a:solidFill>
          <a:ln w="19050">
            <a:solidFill>
              <a:srgbClr val="D726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94560"/>
            <a:ext cx="4754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4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ejercicio original llamaba a un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4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 externo desconocido para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4C7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simular fallos aleatorios.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49040"/>
            <a:ext cx="47548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✖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de internet y de un tercero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✖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reproducible en clase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✖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servicio cae, el ejemplo no sirve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600200"/>
            <a:ext cx="5303520" cy="4434840"/>
          </a:xfrm>
          <a:prstGeom prst="roundRect">
            <a:avLst>
              <a:gd name="adj" fmla="val 2062"/>
            </a:avLst>
          </a:prstGeom>
          <a:solidFill>
            <a:srgbClr val="0F4A50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1783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19456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C9F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@task(retries=4, retry_delay_seconds=2)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C9F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fetch_random_code():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C9F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status = random.choice([200, 500])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C9F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status &gt;= 400: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C9F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raise Exception("fallo simulado")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416052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✔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fallo se simula localmente, sin red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✔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reproducible, siempre funciona en clase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✔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ve el mismo mecanismo de retries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SEGURA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Secrets y Variables: nada de contraseñas en el código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EFF7F6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Secret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valores sensibles: API keys, contraseñas, tokens.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63240"/>
            <a:ext cx="4846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B2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prefect.blocks.system import Secret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B2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api_key = Secret.load("openai-key")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B2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 = OpenAI(api_key=api_key.get())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22960" y="4663440"/>
            <a:ext cx="4663440" cy="1097280"/>
          </a:xfrm>
          <a:prstGeom prst="roundRect">
            <a:avLst>
              <a:gd name="adj" fmla="val 6667"/>
            </a:avLst>
          </a:prstGeom>
          <a:solidFill>
            <a:srgbClr val="FCE8EA"/>
          </a:solidFill>
          <a:ln w="12700">
            <a:solidFill>
              <a:srgbClr val="D726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4800600"/>
            <a:ext cx="4297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D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valor queda cifrado en el servidor de Prefect. Nunca se escribe en un archivo del repositorio.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349240" cy="4297680"/>
          </a:xfrm>
          <a:prstGeom prst="roundRect">
            <a:avLst>
              <a:gd name="adj" fmla="val 2553"/>
            </a:avLst>
          </a:prstGeom>
          <a:solidFill>
            <a:srgbClr val="EFF7F6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19202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423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configuración no sensible que cambia entre entornos.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3063240"/>
            <a:ext cx="4846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B2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prefect.variables import Variable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B2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= Variable.get("answer", default=None)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B2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var is None: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B2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print("Créala primero en la UI")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37960" y="4663440"/>
            <a:ext cx="4663440" cy="1097280"/>
          </a:xfrm>
          <a:prstGeom prst="roundRect">
            <a:avLst>
              <a:gd name="adj" fmla="val 6667"/>
            </a:avLst>
          </a:prstGeom>
          <a:solidFill>
            <a:srgbClr val="E4F8F1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20840" y="4800600"/>
            <a:ext cx="4297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F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 valida si la variable existe antes de usarla: la primera corrida en una máquina nueva no la tendrá creada.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corrida se documenta sola, con Artifacts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Artifact es un reporte que el propio flow deja en la UI de Prefect: no hay que ir a buscar logs sueltos para saber qué pasó.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3429000" cy="2651760"/>
          </a:xfrm>
          <a:prstGeom prst="roundRect">
            <a:avLst>
              <a:gd name="adj" fmla="val 3448"/>
            </a:avLst>
          </a:prstGeom>
          <a:solidFill>
            <a:srgbClr val="EFF7F6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56032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create_markdown_artifact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52044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de texto: métricas, decisiones, comparaciones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51960" y="2331720"/>
            <a:ext cx="3429000" cy="2651760"/>
          </a:xfrm>
          <a:prstGeom prst="roundRect">
            <a:avLst>
              <a:gd name="adj" fmla="val 3448"/>
            </a:avLst>
          </a:prstGeom>
          <a:solidFill>
            <a:srgbClr val="EFF7F6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256032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create_table_artifact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352044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resultados, lista de filas y columnas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955280" y="2331720"/>
            <a:ext cx="3429000" cy="2651760"/>
          </a:xfrm>
          <a:prstGeom prst="roundRect">
            <a:avLst>
              <a:gd name="adj" fmla="val 3448"/>
            </a:avLst>
          </a:prstGeom>
          <a:solidFill>
            <a:srgbClr val="EFF7F6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256032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create_link_artifact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352044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Enlace directo a la corrida en MLflow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5257800"/>
            <a:ext cx="10972800" cy="1051560"/>
          </a:xfrm>
          <a:prstGeom prst="roundRect">
            <a:avLst>
              <a:gd name="adj" fmla="val 8696"/>
            </a:avLst>
          </a:prstGeom>
          <a:solidFill>
            <a:srgbClr val="0B3D4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48640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verlos: Flow Runs -&gt; [tu run] -&gt; pestaña Artifacts, en la UI de Prefect.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MODEL_REGISTRY.PY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todo modelo nuevo merece reemplazar al mejor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03520" cy="4434840"/>
          </a:xfrm>
          <a:prstGeom prst="roundRect">
            <a:avLst>
              <a:gd name="adj" fmla="val 2062"/>
            </a:avLst>
          </a:prstGeom>
          <a:solidFill>
            <a:srgbClr val="20323A"/>
          </a:solidFill>
          <a:ln w="19050">
            <a:solidFill>
              <a:srgbClr val="D726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94560"/>
            <a:ext cx="47548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4C7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client.transition_model_version_stage(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4C7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name=model_name,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4C7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version=version,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4C7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stage="Production",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4C7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archive_existing_versions=True,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4C7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160520"/>
            <a:ext cx="47548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buSzPct val="100000"/>
              <a:buChar char="✖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ejecuta en TODA corrida, sin comparar</a:t>
            </a:r>
            <a:endParaRPr lang="en-US" sz="1300" dirty="0"/>
          </a:p>
          <a:p>
            <a:pPr marL="342900" indent="-342900">
              <a:lnSpc>
                <a:spcPts val="2200"/>
              </a:lnSpc>
              <a:buSzPct val="100000"/>
              <a:buChar char="✖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modelo peor puede reemplazar al mejor</a:t>
            </a:r>
            <a:endParaRPr lang="en-US" sz="1300" dirty="0"/>
          </a:p>
          <a:p>
            <a:pPr marL="342900" indent="-342900">
              <a:lnSpc>
                <a:spcPts val="2200"/>
              </a:lnSpc>
              <a:buSzPct val="100000"/>
              <a:buChar char="✖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de stages está deprecado en MLflow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600200"/>
            <a:ext cx="5303520" cy="4434840"/>
          </a:xfrm>
          <a:prstGeom prst="roundRect">
            <a:avLst>
              <a:gd name="adj" fmla="val 2062"/>
            </a:avLst>
          </a:prstGeom>
          <a:solidFill>
            <a:srgbClr val="0F4A50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1783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194560"/>
            <a:ext cx="48463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C9F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client.set_registered_model_alias(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C9F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model_name, "candidate", version)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C9F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champion_rmse = _get_champion_rmse(...)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C9F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champion_rmse is None or rmse &lt; champion_rmse: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C9F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client.set_registered_model_alias(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C9F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model_name, "champion", version)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44805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buSzPct val="100000"/>
              <a:buChar char="✔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 queda como candidate</a:t>
            </a:r>
            <a:endParaRPr lang="en-US" sz="1300" dirty="0"/>
          </a:p>
          <a:p>
            <a:pPr marL="342900" indent="-342900">
              <a:lnSpc>
                <a:spcPts val="2200"/>
              </a:lnSpc>
              <a:buSzPct val="100000"/>
              <a:buChar char="✔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sube a champion si mejora el RMSE actual</a:t>
            </a:r>
            <a:endParaRPr lang="en-US" sz="1300" dirty="0"/>
          </a:p>
          <a:p>
            <a:pPr marL="342900" indent="-342900">
              <a:lnSpc>
                <a:spcPts val="2200"/>
              </a:lnSpc>
              <a:buSzPct val="100000"/>
              <a:buChar char="✔"/>
            </a:pPr>
            <a:r>
              <a:rPr lang="en-US" sz="13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primer modelo siempre es champion (bootstrap)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 DE PROMOCIÓN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corridas, tres decisiones distintas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EFF7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 corrida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RMSE 8.0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822960" y="3063240"/>
            <a:ext cx="2971800" cy="594360"/>
          </a:xfrm>
          <a:prstGeom prst="roundRect">
            <a:avLst>
              <a:gd name="adj" fmla="val 49231"/>
            </a:avLst>
          </a:prstGeom>
          <a:solidFill>
            <a:srgbClr val="02C39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306324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886200"/>
            <a:ext cx="29718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champion todavía: se convierte en el primero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169164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EFF7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192024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corrida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2286000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RMSE 9.0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4663440" y="3063240"/>
            <a:ext cx="2971800" cy="594360"/>
          </a:xfrm>
          <a:prstGeom prst="roundRect">
            <a:avLst>
              <a:gd name="adj" fmla="val 49231"/>
            </a:avLst>
          </a:prstGeom>
          <a:solidFill>
            <a:srgbClr val="D726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63440" y="306324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candidate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3886200"/>
            <a:ext cx="29718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peor que el champion actual (8.0): no lo reemplaza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29600" y="169164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EFF7F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03920" y="192024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Tercera corrida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503920" y="2286000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RMSE 5.0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8503920" y="3063240"/>
            <a:ext cx="2971800" cy="594360"/>
          </a:xfrm>
          <a:prstGeom prst="roundRect">
            <a:avLst>
              <a:gd name="adj" fmla="val 49231"/>
            </a:avLst>
          </a:prstGeom>
          <a:solidFill>
            <a:srgbClr val="02C39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503920" y="306324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503920" y="3886200"/>
            <a:ext cx="29718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el champion actual (8.0): toma su lugar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Verificado con una simulación (stubs de MLflow y Prefect): las tres transiciones de alias ocurrieron exactamente así.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 DEL CURSO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Así escribimos código en este curso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03520" cy="4434840"/>
          </a:xfrm>
          <a:prstGeom prst="roundRect">
            <a:avLst>
              <a:gd name="adj" fmla="val 2062"/>
            </a:avLst>
          </a:prstGeom>
          <a:solidFill>
            <a:srgbClr val="FCE8EA"/>
          </a:solidFill>
          <a:ln w="19050">
            <a:solidFill>
              <a:srgbClr val="D726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94560"/>
            <a:ext cx="47548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D726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logger.info("🎯 Best RMSE: %.3f", rmse)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D726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mlflow.set_tag("best_of_optimization",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D726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"⭐ BEST TRIAL")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D726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print("🚀 View executions at:")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160520"/>
            <a:ext cx="47548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✖"/>
            </a:pPr>
            <a:r>
              <a:rPr lang="en-US" sz="130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Emojis dentro del código y de los logs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✖"/>
            </a:pPr>
            <a:r>
              <a:rPr lang="en-US" sz="130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Rutas absolutas de una máquina específica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✖"/>
            </a:pPr>
            <a:r>
              <a:rPr lang="en-US" sz="130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Comparaciones muertas que nunca se ejecutan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600200"/>
            <a:ext cx="5303520" cy="4434840"/>
          </a:xfrm>
          <a:prstGeom prst="roundRect">
            <a:avLst>
              <a:gd name="adj" fmla="val 2062"/>
            </a:avLst>
          </a:prstGeom>
          <a:solidFill>
            <a:srgbClr val="E4F8F1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1783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4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19456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0F4A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logger.info("Best RMSE: %.3f", rmse)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0F4A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mlflow.set_tag("best_of_optimization",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0F4A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"BEST_TRIAL")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0F4A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logger.info("View executions at:")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416052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✔"/>
            </a:pPr>
            <a:r>
              <a:rPr lang="en-US" sz="130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emojis, en código ni en logs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✔"/>
            </a:pPr>
            <a:r>
              <a:rPr lang="en-US" sz="130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Rutas configurables por variable de entorno</a:t>
            </a:r>
            <a:endParaRPr lang="en-US" sz="1300" dirty="0"/>
          </a:p>
          <a:p>
            <a:pPr marL="342900" indent="-342900">
              <a:lnSpc>
                <a:spcPts val="2400"/>
              </a:lnSpc>
              <a:buSzPct val="100000"/>
              <a:buChar char="✔"/>
            </a:pPr>
            <a:r>
              <a:rPr lang="en-US" sz="130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 en vez de print, con nivel y formato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EN CLASE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ejercicios, en salas de Zoom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2606040" cy="4206240"/>
          </a:xfrm>
          <a:prstGeom prst="roundRect">
            <a:avLst>
              <a:gd name="adj" fmla="val 4211"/>
            </a:avLst>
          </a:prstGeom>
          <a:solidFill>
            <a:srgbClr val="EFF7F6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6596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659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4320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Retries y logging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2960" y="3401568"/>
            <a:ext cx="1143000" cy="365760"/>
          </a:xfrm>
          <a:prstGeom prst="roundRect">
            <a:avLst>
              <a:gd name="adj" fmla="val 50000"/>
            </a:avLst>
          </a:prstGeom>
          <a:solidFill>
            <a:srgbClr val="0B3D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3401568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931920"/>
            <a:ext cx="2148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Agreguen retries a una task nueva y logueen cada intento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29000" y="1691640"/>
            <a:ext cx="2606040" cy="4206240"/>
          </a:xfrm>
          <a:prstGeom prst="roundRect">
            <a:avLst>
              <a:gd name="adj" fmla="val 4211"/>
            </a:avLst>
          </a:prstGeom>
          <a:solidFill>
            <a:srgbClr val="EFF7F6"/>
          </a:solidFill>
          <a:ln/>
        </p:spPr>
      </p:sp>
      <p:sp>
        <p:nvSpPr>
          <p:cNvPr id="12" name="Shape 10"/>
          <p:cNvSpPr/>
          <p:nvPr/>
        </p:nvSpPr>
        <p:spPr>
          <a:xfrm>
            <a:off x="3657600" y="1965960"/>
            <a:ext cx="594360" cy="5943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57600" y="19659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274320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Secrets y Variables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0" y="3401568"/>
            <a:ext cx="1143000" cy="365760"/>
          </a:xfrm>
          <a:prstGeom prst="roundRect">
            <a:avLst>
              <a:gd name="adj" fmla="val 50000"/>
            </a:avLst>
          </a:prstGeom>
          <a:solidFill>
            <a:srgbClr val="0B3D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7600" y="3401568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3931920"/>
            <a:ext cx="2148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Creen un Secret y una Variable propios, y léanlos en un flow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63640" y="1691640"/>
            <a:ext cx="2606040" cy="4206240"/>
          </a:xfrm>
          <a:prstGeom prst="roundRect">
            <a:avLst>
              <a:gd name="adj" fmla="val 4211"/>
            </a:avLst>
          </a:prstGeom>
          <a:solidFill>
            <a:srgbClr val="EFF7F6"/>
          </a:solidFill>
          <a:ln/>
        </p:spPr>
      </p:sp>
      <p:sp>
        <p:nvSpPr>
          <p:cNvPr id="19" name="Shape 17"/>
          <p:cNvSpPr/>
          <p:nvPr/>
        </p:nvSpPr>
        <p:spPr>
          <a:xfrm>
            <a:off x="6492240" y="1965960"/>
            <a:ext cx="594360" cy="5943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92240" y="19659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74320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Artifacts a la medida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492240" y="3401568"/>
            <a:ext cx="1143000" cy="365760"/>
          </a:xfrm>
          <a:prstGeom prst="roundRect">
            <a:avLst>
              <a:gd name="adj" fmla="val 50000"/>
            </a:avLst>
          </a:prstGeom>
          <a:solidFill>
            <a:srgbClr val="0B3D4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92240" y="3401568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3931920"/>
            <a:ext cx="2148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Diseñen una tabla de artifact para un resumen de predicciones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098280" y="1691640"/>
            <a:ext cx="2606040" cy="4206240"/>
          </a:xfrm>
          <a:prstGeom prst="roundRect">
            <a:avLst>
              <a:gd name="adj" fmla="val 4211"/>
            </a:avLst>
          </a:prstGeom>
          <a:solidFill>
            <a:srgbClr val="EFF7F6"/>
          </a:solidFill>
          <a:ln/>
        </p:spPr>
      </p:sp>
      <p:sp>
        <p:nvSpPr>
          <p:cNvPr id="26" name="Shape 24"/>
          <p:cNvSpPr/>
          <p:nvPr/>
        </p:nvSpPr>
        <p:spPr>
          <a:xfrm>
            <a:off x="9326880" y="196596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326880" y="19659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9326880" y="274320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Trazar champion/candidate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9326880" y="3401568"/>
            <a:ext cx="1143000" cy="365760"/>
          </a:xfrm>
          <a:prstGeom prst="roundRect">
            <a:avLst>
              <a:gd name="adj" fmla="val 50000"/>
            </a:avLst>
          </a:prstGeom>
          <a:solidFill>
            <a:srgbClr val="0B3D4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326880" y="3401568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326880" y="3931920"/>
            <a:ext cx="2148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Sigan a mano la lógica de alias en tres corridas hipotéticas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6080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ejercicio cierra con un entregable corto para compartir en la plenaria.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RECORDAR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mismo pipeline, dos madrugadas distintas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212080" cy="4480560"/>
          </a:xfrm>
          <a:prstGeom prst="roundRect">
            <a:avLst>
              <a:gd name="adj" fmla="val 2449"/>
            </a:avLst>
          </a:prstGeom>
          <a:solidFill>
            <a:srgbClr val="FCE8EA"/>
          </a:solidFill>
          <a:ln w="19050">
            <a:solidFill>
              <a:srgbClr val="D726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1051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726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Prefect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60120" y="2423160"/>
            <a:ext cx="457200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D7263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42316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cron falló a las 3am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3081528"/>
            <a:ext cx="4206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Nadie se enteró hasta la reunión de las 9am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60120" y="3995928"/>
            <a:ext cx="457200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D726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43000" y="3995928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falló?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4654296"/>
            <a:ext cx="4206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7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Toca revisar logs sueltos en el servidor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72200" y="1600200"/>
            <a:ext cx="5212080" cy="4480560"/>
          </a:xfrm>
          <a:prstGeom prst="roundRect">
            <a:avLst>
              <a:gd name="adj" fmla="val 2449"/>
            </a:avLst>
          </a:prstGeom>
          <a:solidFill>
            <a:srgbClr val="E4F8F1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181051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Prefect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492240" y="2423160"/>
            <a:ext cx="457200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75120" y="242316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cron falló a las 3am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3081528"/>
            <a:ext cx="4206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Reintentó solo 3 veces y se recuperó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92240" y="3995928"/>
            <a:ext cx="457200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75120" y="3995928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falló?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4654296"/>
            <a:ext cx="4206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Artifact del run lo dice, con hora y detalle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200400"/>
            <a:ext cx="5486400" cy="54864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257800" y="685800"/>
            <a:ext cx="164592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pic>
        <p:nvPicPr>
          <p:cNvPr id="4" name="Image 0" descr="ude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82296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2606040"/>
            <a:ext cx="10332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5661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Medellín  ·  Ciencia y Libertad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651760" y="4434840"/>
            <a:ext cx="6858000" cy="1234440"/>
          </a:xfrm>
          <a:prstGeom prst="roundRect">
            <a:avLst>
              <a:gd name="adj" fmla="val 7407"/>
            </a:avLst>
          </a:prstGeom>
          <a:solidFill>
            <a:srgbClr val="0F4A5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880360" y="45720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4F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 con las mejoras de este módulo: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880360" y="493776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03-Orchestration/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9893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7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y sugerencias: siempre bienvenidas.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2026-09-08T00:36:34Z</dcterms:created>
  <dcterms:modified xsi:type="dcterms:W3CDTF">2026-09-08T00:36:34Z</dcterms:modified>
</cp:coreProperties>
</file>